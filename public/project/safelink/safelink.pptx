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6" r:id="rId2"/>
    <p:sldId id="257" r:id="rId3"/>
    <p:sldId id="258" r:id="rId4"/>
    <p:sldId id="317" r:id="rId5"/>
    <p:sldId id="318" r:id="rId6"/>
    <p:sldId id="290" r:id="rId7"/>
    <p:sldId id="291" r:id="rId8"/>
    <p:sldId id="295" r:id="rId9"/>
    <p:sldId id="281" r:id="rId10"/>
    <p:sldId id="297" r:id="rId11"/>
    <p:sldId id="298" r:id="rId12"/>
    <p:sldId id="299" r:id="rId13"/>
    <p:sldId id="319" r:id="rId14"/>
    <p:sldId id="320" r:id="rId15"/>
    <p:sldId id="321" r:id="rId16"/>
    <p:sldId id="301" r:id="rId17"/>
    <p:sldId id="303" r:id="rId18"/>
    <p:sldId id="293" r:id="rId19"/>
    <p:sldId id="292" r:id="rId20"/>
    <p:sldId id="312" r:id="rId21"/>
    <p:sldId id="286" r:id="rId22"/>
    <p:sldId id="304" r:id="rId23"/>
    <p:sldId id="313" r:id="rId24"/>
    <p:sldId id="305" r:id="rId25"/>
    <p:sldId id="306" r:id="rId26"/>
    <p:sldId id="314" r:id="rId27"/>
    <p:sldId id="307" r:id="rId28"/>
    <p:sldId id="308" r:id="rId29"/>
    <p:sldId id="315" r:id="rId30"/>
    <p:sldId id="309" r:id="rId31"/>
    <p:sldId id="310" r:id="rId32"/>
    <p:sldId id="316" r:id="rId33"/>
    <p:sldId id="300" r:id="rId34"/>
    <p:sldId id="287" r:id="rId35"/>
  </p:sldIdLst>
  <p:sldSz cx="18288000" cy="10287000"/>
  <p:notesSz cx="6858000" cy="9144000"/>
  <p:embeddedFontLst>
    <p:embeddedFont>
      <p:font typeface="Aptos Black" panose="020B0604020202020204" charset="0"/>
      <p:bold r:id="rId37"/>
      <p:boldItalic r:id="rId38"/>
    </p:embeddedFont>
    <p:embeddedFont>
      <p:font typeface="Arial Rounded MT Bold" panose="020B0604020202020204" pitchFamily="34" charset="0"/>
      <p:regular r:id="rId39"/>
    </p:embeddedFont>
    <p:embeddedFont>
      <p:font typeface="Calibri" panose="020F0502020204030204" pitchFamily="34" charset="0"/>
      <p:regular r:id="rId40"/>
      <p:bold r:id="rId41"/>
      <p:italic r:id="rId42"/>
      <p:boldItalic r:id="rId43"/>
    </p:embeddedFont>
    <p:embeddedFont>
      <p:font typeface="Cambria" panose="02040503050406030204" pitchFamily="18" charset="0"/>
      <p:regular r:id="rId44"/>
      <p:bold r:id="rId45"/>
      <p:italic r:id="rId46"/>
      <p:boldItalic r:id="rId47"/>
    </p:embeddedFont>
    <p:embeddedFont>
      <p:font typeface="Open Sans" panose="020B0604020202020204" pitchFamily="34" charset="0"/>
      <p:regular r:id="rId48"/>
      <p:bold r:id="rId49"/>
      <p:italic r:id="rId50"/>
      <p:boldItalic r:id="rId51"/>
    </p:embeddedFont>
    <p:embeddedFont>
      <p:font typeface="Poppins" panose="00000500000000000000" pitchFamily="2" charset="0"/>
      <p:regular r:id="rId52"/>
      <p:bold r:id="rId53"/>
      <p:italic r:id="rId54"/>
      <p:boldItalic r:id="rId55"/>
    </p:embeddedFont>
    <p:embeddedFont>
      <p:font typeface="Poppins Bold" panose="020B0604020202020204" charset="0"/>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p:scale>
          <a:sx n="50" d="100"/>
          <a:sy n="50" d="100"/>
        </p:scale>
        <p:origin x="725"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font" Target="fonts/font1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badi"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badi" panose="020B0604020202020204" pitchFamily="34" charset="0"/>
              </a:defRPr>
            </a:lvl1pPr>
          </a:lstStyle>
          <a:p>
            <a:fld id="{AF42B6F9-8A44-40D5-8BEF-36A44B8E5635}" type="datetimeFigureOut">
              <a:rPr lang="en-US" smtClean="0"/>
              <a:pPr/>
              <a:t>7/23/2024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badi"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badi" panose="020B0604020202020204" pitchFamily="34" charset="0"/>
              </a:defRPr>
            </a:lvl1pPr>
          </a:lstStyle>
          <a:p>
            <a:fld id="{57DAD0A7-94C9-47A1-8C95-21F7C8987B14}" type="slidenum">
              <a:rPr lang="en-US" smtClean="0"/>
              <a:pPr/>
              <a:t>‹#›</a:t>
            </a:fld>
            <a:endParaRPr lang="en-US" dirty="0"/>
          </a:p>
        </p:txBody>
      </p:sp>
    </p:spTree>
    <p:extLst>
      <p:ext uri="{BB962C8B-B14F-4D97-AF65-F5344CB8AC3E}">
        <p14:creationId xmlns:p14="http://schemas.microsoft.com/office/powerpoint/2010/main" val="4242503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badi" panose="020B0604020202020204" pitchFamily="34" charset="0"/>
        <a:ea typeface="+mn-ea"/>
        <a:cs typeface="+mn-cs"/>
      </a:defRPr>
    </a:lvl1pPr>
    <a:lvl2pPr marL="457200" algn="l" defTabSz="914400" rtl="0" eaLnBrk="1" latinLnBrk="0" hangingPunct="1">
      <a:defRPr sz="1200" kern="1200">
        <a:solidFill>
          <a:schemeClr val="tx1"/>
        </a:solidFill>
        <a:latin typeface="Abadi" panose="020B0604020202020204" pitchFamily="34" charset="0"/>
        <a:ea typeface="+mn-ea"/>
        <a:cs typeface="+mn-cs"/>
      </a:defRPr>
    </a:lvl2pPr>
    <a:lvl3pPr marL="914400" algn="l" defTabSz="914400" rtl="0" eaLnBrk="1" latinLnBrk="0" hangingPunct="1">
      <a:defRPr sz="1200" kern="1200">
        <a:solidFill>
          <a:schemeClr val="tx1"/>
        </a:solidFill>
        <a:latin typeface="Abadi" panose="020B0604020202020204" pitchFamily="34" charset="0"/>
        <a:ea typeface="+mn-ea"/>
        <a:cs typeface="+mn-cs"/>
      </a:defRPr>
    </a:lvl3pPr>
    <a:lvl4pPr marL="1371600" algn="l" defTabSz="914400" rtl="0" eaLnBrk="1" latinLnBrk="0" hangingPunct="1">
      <a:defRPr sz="1200" kern="1200">
        <a:solidFill>
          <a:schemeClr val="tx1"/>
        </a:solidFill>
        <a:latin typeface="Abadi" panose="020B0604020202020204" pitchFamily="34" charset="0"/>
        <a:ea typeface="+mn-ea"/>
        <a:cs typeface="+mn-cs"/>
      </a:defRPr>
    </a:lvl4pPr>
    <a:lvl5pPr marL="1828800" algn="l" defTabSz="914400" rtl="0" eaLnBrk="1" latinLnBrk="0" hangingPunct="1">
      <a:defRPr sz="1200" kern="1200">
        <a:solidFill>
          <a:schemeClr val="tx1"/>
        </a:solidFill>
        <a:latin typeface="Abadi"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DAD0A7-94C9-47A1-8C95-21F7C8987B14}" type="slidenum">
              <a:rPr lang="en-US" smtClean="0"/>
              <a:t>6</a:t>
            </a:fld>
            <a:endParaRPr lang="en-US" dirty="0"/>
          </a:p>
        </p:txBody>
      </p:sp>
    </p:spTree>
    <p:extLst>
      <p:ext uri="{BB962C8B-B14F-4D97-AF65-F5344CB8AC3E}">
        <p14:creationId xmlns:p14="http://schemas.microsoft.com/office/powerpoint/2010/main" val="3535004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DAD0A7-94C9-47A1-8C95-21F7C8987B14}" type="slidenum">
              <a:rPr lang="en-US" smtClean="0"/>
              <a:t>7</a:t>
            </a:fld>
            <a:endParaRPr lang="en-US" dirty="0"/>
          </a:p>
        </p:txBody>
      </p:sp>
    </p:spTree>
    <p:extLst>
      <p:ext uri="{BB962C8B-B14F-4D97-AF65-F5344CB8AC3E}">
        <p14:creationId xmlns:p14="http://schemas.microsoft.com/office/powerpoint/2010/main" val="1533890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1">
                <a:lumMod val="50000"/>
                <a:lumOff val="50000"/>
              </a:schemeClr>
            </a:gs>
            <a:gs pos="100000">
              <a:srgbClr val="0C0822">
                <a:alpha val="100000"/>
              </a:srgbClr>
            </a:gs>
          </a:gsLst>
          <a:lin ang="27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6.jpg"/><Relationship Id="rId7"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jpg"/><Relationship Id="rId5" Type="http://schemas.openxmlformats.org/officeDocument/2006/relationships/image" Target="../media/image8.jpg"/><Relationship Id="rId10" Type="http://schemas.openxmlformats.org/officeDocument/2006/relationships/image" Target="../media/image12.jpg"/><Relationship Id="rId4" Type="http://schemas.openxmlformats.org/officeDocument/2006/relationships/image" Target="../media/image7.jpg"/><Relationship Id="rId9" Type="http://schemas.openxmlformats.org/officeDocument/2006/relationships/image" Target="../media/image11.jpg"/></Relationships>
</file>

<file path=ppt/slides/_rels/slide7.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9.jpg"/><Relationship Id="rId7"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10" Type="http://schemas.openxmlformats.org/officeDocument/2006/relationships/image" Target="../media/image8.jpg"/><Relationship Id="rId4" Type="http://schemas.openxmlformats.org/officeDocument/2006/relationships/image" Target="../media/image10.jpg"/><Relationship Id="rId9"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6.jpg"/><Relationship Id="rId1" Type="http://schemas.openxmlformats.org/officeDocument/2006/relationships/slideLayout" Target="../slideLayouts/slideLayout7.xml"/><Relationship Id="rId6" Type="http://schemas.openxmlformats.org/officeDocument/2006/relationships/image" Target="../media/image2.jpg"/><Relationship Id="rId5" Type="http://schemas.openxmlformats.org/officeDocument/2006/relationships/image" Target="../media/image8.jpg"/><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8.jpg"/></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5" Type="http://schemas.openxmlformats.org/officeDocument/2006/relationships/image" Target="../media/image2.jpg"/><Relationship Id="rId4" Type="http://schemas.openxmlformats.org/officeDocument/2006/relationships/image" Target="../media/image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A6820724-F89D-A6A6-5947-E11099456A11}"/>
              </a:ext>
            </a:extLst>
          </p:cNvPr>
          <p:cNvSpPr/>
          <p:nvPr/>
        </p:nvSpPr>
        <p:spPr>
          <a:xfrm>
            <a:off x="11373" y="18172"/>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4E749429-0647-4FB3-1A3E-5E7376187E92}"/>
              </a:ext>
            </a:extLst>
          </p:cNvPr>
          <p:cNvGrpSpPr/>
          <p:nvPr/>
        </p:nvGrpSpPr>
        <p:grpSpPr>
          <a:xfrm>
            <a:off x="5010184" y="266700"/>
            <a:ext cx="8290377" cy="8464407"/>
            <a:chOff x="10378588" y="1028700"/>
            <a:chExt cx="6841259" cy="6984869"/>
          </a:xfrm>
        </p:grpSpPr>
        <p:grpSp>
          <p:nvGrpSpPr>
            <p:cNvPr id="17" name="Group 17"/>
            <p:cNvGrpSpPr>
              <a:grpSpLocks noChangeAspect="1"/>
            </p:cNvGrpSpPr>
            <p:nvPr/>
          </p:nvGrpSpPr>
          <p:grpSpPr>
            <a:xfrm>
              <a:off x="11887200" y="1028700"/>
              <a:ext cx="3530079" cy="6984868"/>
              <a:chOff x="0" y="0"/>
              <a:chExt cx="2620010" cy="5184140"/>
            </a:xfrm>
          </p:grpSpPr>
          <p:sp>
            <p:nvSpPr>
              <p:cNvPr id="18" name="Freeform 1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9" name="Freeform 1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20" name="Freeform 2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1" name="Freeform 2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22" name="Freeform 2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3" name="Freeform 2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5" name="Freeform 2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6" name="Freeform 2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27" name="Group 27"/>
            <p:cNvGrpSpPr>
              <a:grpSpLocks noChangeAspect="1"/>
            </p:cNvGrpSpPr>
            <p:nvPr/>
          </p:nvGrpSpPr>
          <p:grpSpPr>
            <a:xfrm>
              <a:off x="14592500" y="2814912"/>
              <a:ext cx="2627347" cy="5198657"/>
              <a:chOff x="0" y="0"/>
              <a:chExt cx="2620010" cy="5184140"/>
            </a:xfrm>
          </p:grpSpPr>
          <p:sp>
            <p:nvSpPr>
              <p:cNvPr id="28" name="Freeform 2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9" name="Freeform 2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30" name="Freeform 3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1" name="Freeform 3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2" name="Freeform 3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3" name="Freeform 3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4" name="Freeform 3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5" name="Freeform 3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6" name="Freeform 3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nvGrpSpPr>
            <p:cNvPr id="37" name="Group 37"/>
            <p:cNvGrpSpPr>
              <a:grpSpLocks noChangeAspect="1"/>
            </p:cNvGrpSpPr>
            <p:nvPr/>
          </p:nvGrpSpPr>
          <p:grpSpPr>
            <a:xfrm>
              <a:off x="10378588" y="3676375"/>
              <a:ext cx="2191972" cy="4336130"/>
              <a:chOff x="0" y="0"/>
              <a:chExt cx="2620010" cy="5182870"/>
            </a:xfrm>
          </p:grpSpPr>
          <p:sp>
            <p:nvSpPr>
              <p:cNvPr id="38" name="Freeform 3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9" name="Freeform 39"/>
              <p:cNvSpPr/>
              <p:nvPr/>
            </p:nvSpPr>
            <p:spPr>
              <a:xfrm>
                <a:off x="175295" y="114179"/>
                <a:ext cx="2322768" cy="5030699"/>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40" name="Freeform 4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1" name="Freeform 4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2" name="Freeform 4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43" name="Freeform 4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44" name="Freeform 4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45" name="Freeform 4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46" name="Freeform 4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grpSp>
      <p:sp>
        <p:nvSpPr>
          <p:cNvPr id="2" name="Rectangle 1">
            <a:extLst>
              <a:ext uri="{FF2B5EF4-FFF2-40B4-BE49-F238E27FC236}">
                <a16:creationId xmlns:a16="http://schemas.microsoft.com/office/drawing/2014/main" id="{30811730-529E-B6D1-8E33-8431A2833BC4}"/>
              </a:ext>
            </a:extLst>
          </p:cNvPr>
          <p:cNvSpPr/>
          <p:nvPr/>
        </p:nvSpPr>
        <p:spPr>
          <a:xfrm>
            <a:off x="0" y="0"/>
            <a:ext cx="18299373" cy="10305172"/>
          </a:xfrm>
          <a:prstGeom prst="rect">
            <a:avLst/>
          </a:prstGeom>
          <a:gradFill>
            <a:gsLst>
              <a:gs pos="0">
                <a:schemeClr val="bg1">
                  <a:lumMod val="50000"/>
                  <a:alpha val="65000"/>
                </a:schemeClr>
              </a:gs>
              <a:gs pos="69000">
                <a:schemeClr val="tx1">
                  <a:alpha val="85000"/>
                </a:schemeClr>
              </a:gs>
              <a:gs pos="83000">
                <a:schemeClr val="tx1"/>
              </a:gs>
              <a:gs pos="10000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4" name="Group 53">
            <a:extLst>
              <a:ext uri="{FF2B5EF4-FFF2-40B4-BE49-F238E27FC236}">
                <a16:creationId xmlns:a16="http://schemas.microsoft.com/office/drawing/2014/main" id="{E8693C69-825B-827F-956D-01DBA44090D1}"/>
              </a:ext>
            </a:extLst>
          </p:cNvPr>
          <p:cNvGrpSpPr/>
          <p:nvPr/>
        </p:nvGrpSpPr>
        <p:grpSpPr>
          <a:xfrm>
            <a:off x="4176030" y="3611416"/>
            <a:ext cx="9657287" cy="2522165"/>
            <a:chOff x="-71543" y="3238939"/>
            <a:chExt cx="9657287" cy="2522165"/>
          </a:xfrm>
        </p:grpSpPr>
        <p:sp>
          <p:nvSpPr>
            <p:cNvPr id="47" name="TextBox 47"/>
            <p:cNvSpPr txBox="1"/>
            <p:nvPr/>
          </p:nvSpPr>
          <p:spPr>
            <a:xfrm>
              <a:off x="-71543" y="3238939"/>
              <a:ext cx="9657287" cy="2522165"/>
            </a:xfrm>
            <a:prstGeom prst="rect">
              <a:avLst/>
            </a:prstGeom>
          </p:spPr>
          <p:txBody>
            <a:bodyPr wrap="square" lIns="0" tIns="0" rIns="0" bIns="0" rtlCol="0" anchor="t">
              <a:spAutoFit/>
            </a:bodyPr>
            <a:lstStyle/>
            <a:p>
              <a:pPr algn="ctr">
                <a:lnSpc>
                  <a:spcPts val="20711"/>
                </a:lnSpc>
                <a:spcBef>
                  <a:spcPct val="0"/>
                </a:spcBef>
              </a:pPr>
              <a:r>
                <a:rPr lang="en-US" sz="14794" b="1" dirty="0">
                  <a:solidFill>
                    <a:schemeClr val="bg1"/>
                  </a:solidFill>
                  <a:latin typeface="Poppins"/>
                  <a:ea typeface="Poppins"/>
                  <a:cs typeface="Poppins"/>
                  <a:sym typeface="Poppins"/>
                </a:rPr>
                <a:t>Safe </a:t>
              </a:r>
              <a:r>
                <a:rPr lang="en-US" sz="14794" b="1" dirty="0">
                  <a:solidFill>
                    <a:srgbClr val="C00000"/>
                  </a:solidFill>
                  <a:latin typeface="Poppins"/>
                  <a:ea typeface="Poppins"/>
                  <a:cs typeface="Poppins"/>
                  <a:sym typeface="Poppins"/>
                </a:rPr>
                <a:t>Link</a:t>
              </a:r>
            </a:p>
          </p:txBody>
        </p:sp>
        <p:sp>
          <p:nvSpPr>
            <p:cNvPr id="53" name="TextBox 52">
              <a:extLst>
                <a:ext uri="{FF2B5EF4-FFF2-40B4-BE49-F238E27FC236}">
                  <a16:creationId xmlns:a16="http://schemas.microsoft.com/office/drawing/2014/main" id="{5D868E0A-15DF-6A66-A75E-1E0F6A10FC1A}"/>
                </a:ext>
              </a:extLst>
            </p:cNvPr>
            <p:cNvSpPr txBox="1"/>
            <p:nvPr/>
          </p:nvSpPr>
          <p:spPr>
            <a:xfrm>
              <a:off x="253750" y="5249893"/>
              <a:ext cx="9194784" cy="461665"/>
            </a:xfrm>
            <a:prstGeom prst="rect">
              <a:avLst/>
            </a:prstGeom>
            <a:noFill/>
          </p:spPr>
          <p:txBody>
            <a:bodyPr wrap="square" rtlCol="0">
              <a:spAutoFit/>
            </a:bodyPr>
            <a:lstStyle/>
            <a:p>
              <a:pPr algn="ctr"/>
              <a:r>
                <a:rPr lang="en-US" sz="2400" b="1" spc="800" dirty="0">
                  <a:solidFill>
                    <a:schemeClr val="bg1">
                      <a:lumMod val="65000"/>
                    </a:schemeClr>
                  </a:solidFill>
                  <a:latin typeface="Arial" panose="020B0604020202020204" pitchFamily="34" charset="0"/>
                  <a:cs typeface="Arial" panose="020B0604020202020204" pitchFamily="34" charset="0"/>
                </a:rPr>
                <a:t>TAKE STEPS TO PREVENT FALLBACK</a:t>
              </a:r>
            </a:p>
          </p:txBody>
        </p:sp>
      </p:grpSp>
      <p:sp>
        <p:nvSpPr>
          <p:cNvPr id="13" name="Rectangle 12">
            <a:extLst>
              <a:ext uri="{FF2B5EF4-FFF2-40B4-BE49-F238E27FC236}">
                <a16:creationId xmlns:a16="http://schemas.microsoft.com/office/drawing/2014/main" id="{AA7FB318-7CCC-D850-EB2D-AE16147860CF}"/>
              </a:ext>
            </a:extLst>
          </p:cNvPr>
          <p:cNvSpPr/>
          <p:nvPr/>
        </p:nvSpPr>
        <p:spPr>
          <a:xfrm>
            <a:off x="-1247981" y="4488650"/>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15">
            <a:extLst>
              <a:ext uri="{FF2B5EF4-FFF2-40B4-BE49-F238E27FC236}">
                <a16:creationId xmlns:a16="http://schemas.microsoft.com/office/drawing/2014/main" id="{2E79D9BF-6195-C440-17D6-A02DD2516A4B}"/>
              </a:ext>
            </a:extLst>
          </p:cNvPr>
          <p:cNvGrpSpPr>
            <a:grpSpLocks noChangeAspect="1"/>
          </p:cNvGrpSpPr>
          <p:nvPr/>
        </p:nvGrpSpPr>
        <p:grpSpPr>
          <a:xfrm>
            <a:off x="-5257800" y="134553"/>
            <a:ext cx="5035897" cy="9961947"/>
            <a:chOff x="0" y="0"/>
            <a:chExt cx="2620010" cy="5182870"/>
          </a:xfrm>
        </p:grpSpPr>
        <p:sp>
          <p:nvSpPr>
            <p:cNvPr id="4" name="Freeform 16">
              <a:extLst>
                <a:ext uri="{FF2B5EF4-FFF2-40B4-BE49-F238E27FC236}">
                  <a16:creationId xmlns:a16="http://schemas.microsoft.com/office/drawing/2014/main" id="{F22A37AF-416A-ECD8-229A-D410A1EF8DF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 name="Freeform 17">
              <a:extLst>
                <a:ext uri="{FF2B5EF4-FFF2-40B4-BE49-F238E27FC236}">
                  <a16:creationId xmlns:a16="http://schemas.microsoft.com/office/drawing/2014/main" id="{466D6DFF-94BD-1872-579E-07C731C423C0}"/>
                </a:ext>
              </a:extLst>
            </p:cNvPr>
            <p:cNvSpPr/>
            <p:nvPr/>
          </p:nvSpPr>
          <p:spPr>
            <a:xfrm>
              <a:off x="182511" y="102780"/>
              <a:ext cx="2251710" cy="4964462"/>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dirty="0"/>
            </a:p>
          </p:txBody>
        </p:sp>
        <p:sp>
          <p:nvSpPr>
            <p:cNvPr id="6" name="Freeform 18">
              <a:extLst>
                <a:ext uri="{FF2B5EF4-FFF2-40B4-BE49-F238E27FC236}">
                  <a16:creationId xmlns:a16="http://schemas.microsoft.com/office/drawing/2014/main" id="{546EC67B-B233-DC8A-C4AF-E0318EBE57BA}"/>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 name="Freeform 19">
              <a:extLst>
                <a:ext uri="{FF2B5EF4-FFF2-40B4-BE49-F238E27FC236}">
                  <a16:creationId xmlns:a16="http://schemas.microsoft.com/office/drawing/2014/main" id="{74748409-835E-8A6F-6E27-6F0267E3BB3F}"/>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8" name="Freeform 20">
              <a:extLst>
                <a:ext uri="{FF2B5EF4-FFF2-40B4-BE49-F238E27FC236}">
                  <a16:creationId xmlns:a16="http://schemas.microsoft.com/office/drawing/2014/main" id="{E95B2F1D-02F2-602F-9C18-B8B555870E7A}"/>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9" name="Freeform 21">
              <a:extLst>
                <a:ext uri="{FF2B5EF4-FFF2-40B4-BE49-F238E27FC236}">
                  <a16:creationId xmlns:a16="http://schemas.microsoft.com/office/drawing/2014/main" id="{4C505616-1825-5345-BFAA-ADBAD14E6C79}"/>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0" name="Freeform 22">
              <a:extLst>
                <a:ext uri="{FF2B5EF4-FFF2-40B4-BE49-F238E27FC236}">
                  <a16:creationId xmlns:a16="http://schemas.microsoft.com/office/drawing/2014/main" id="{D39440E2-368F-B55C-9087-D999CDB382FA}"/>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1" name="Freeform 23">
              <a:extLst>
                <a:ext uri="{FF2B5EF4-FFF2-40B4-BE49-F238E27FC236}">
                  <a16:creationId xmlns:a16="http://schemas.microsoft.com/office/drawing/2014/main" id="{B4856A9F-69F2-2775-7BB3-2F1568E961FD}"/>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2" name="Freeform 24">
              <a:extLst>
                <a:ext uri="{FF2B5EF4-FFF2-40B4-BE49-F238E27FC236}">
                  <a16:creationId xmlns:a16="http://schemas.microsoft.com/office/drawing/2014/main" id="{05218873-E66C-CAF6-1826-6C2038C85B42}"/>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5"/>
          <p:cNvGrpSpPr>
            <a:grpSpLocks noChangeAspect="1"/>
          </p:cNvGrpSpPr>
          <p:nvPr/>
        </p:nvGrpSpPr>
        <p:grpSpPr>
          <a:xfrm>
            <a:off x="-457200" y="134553"/>
            <a:ext cx="5035897" cy="9961947"/>
            <a:chOff x="0" y="0"/>
            <a:chExt cx="2620010" cy="518287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7" name="Freeform 17"/>
            <p:cNvSpPr/>
            <p:nvPr/>
          </p:nvSpPr>
          <p:spPr>
            <a:xfrm>
              <a:off x="182511" y="102780"/>
              <a:ext cx="2251710" cy="4964462"/>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dirty="0"/>
            </a:p>
          </p:txBody>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1" name="TextBox 41"/>
          <p:cNvSpPr txBox="1"/>
          <p:nvPr/>
        </p:nvSpPr>
        <p:spPr>
          <a:xfrm>
            <a:off x="5366492" y="3151369"/>
            <a:ext cx="6635684"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Introduction for </a:t>
            </a:r>
          </a:p>
          <a:p>
            <a:pPr algn="l">
              <a:lnSpc>
                <a:spcPts val="5336"/>
              </a:lnSpc>
            </a:pPr>
            <a:r>
              <a:rPr lang="en-US" sz="4560" dirty="0">
                <a:solidFill>
                  <a:srgbClr val="FF0000"/>
                </a:solidFill>
                <a:latin typeface="Poppins Bold"/>
                <a:ea typeface="Poppins Bold"/>
                <a:cs typeface="Poppins Bold"/>
                <a:sym typeface="Poppins Bold"/>
              </a:rPr>
              <a:t>SAFE LINK </a:t>
            </a:r>
            <a:r>
              <a:rPr lang="en-US" sz="4560" dirty="0">
                <a:solidFill>
                  <a:srgbClr val="FFFFFF"/>
                </a:solidFill>
                <a:latin typeface="Poppins Bold"/>
                <a:ea typeface="Poppins Bold"/>
                <a:cs typeface="Poppins Bold"/>
                <a:sym typeface="Poppins Bold"/>
              </a:rPr>
              <a:t>Application</a:t>
            </a:r>
          </a:p>
        </p:txBody>
      </p:sp>
      <p:sp>
        <p:nvSpPr>
          <p:cNvPr id="44" name="Rectangle 43">
            <a:extLst>
              <a:ext uri="{FF2B5EF4-FFF2-40B4-BE49-F238E27FC236}">
                <a16:creationId xmlns:a16="http://schemas.microsoft.com/office/drawing/2014/main" id="{7A70A5ED-1BB4-710D-D4A9-602BAF2C13FE}"/>
              </a:ext>
            </a:extLst>
          </p:cNvPr>
          <p:cNvSpPr/>
          <p:nvPr/>
        </p:nvSpPr>
        <p:spPr>
          <a:xfrm>
            <a:off x="5381732" y="4488650"/>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2"/>
          <p:cNvSpPr txBox="1"/>
          <p:nvPr/>
        </p:nvSpPr>
        <p:spPr>
          <a:xfrm>
            <a:off x="5375448" y="5143500"/>
            <a:ext cx="12106844" cy="3212290"/>
          </a:xfrm>
          <a:prstGeom prst="rect">
            <a:avLst/>
          </a:prstGeom>
        </p:spPr>
        <p:txBody>
          <a:bodyPr wrap="square" lIns="0" tIns="0" rIns="0" bIns="0" rtlCol="0" anchor="t">
            <a:spAutoFit/>
          </a:bodyPr>
          <a:lstStyle/>
          <a:p>
            <a:pPr algn="just">
              <a:lnSpc>
                <a:spcPts val="3248"/>
              </a:lnSpc>
            </a:pPr>
            <a:r>
              <a:rPr lang="en-US" sz="2320" dirty="0">
                <a:solidFill>
                  <a:srgbClr val="FFFFFF"/>
                </a:solidFill>
                <a:latin typeface="Open Sans"/>
                <a:ea typeface="Open Sans"/>
                <a:cs typeface="Open Sans"/>
                <a:sym typeface="Open Sans"/>
              </a:rPr>
              <a:t>SAFE LINK is an emergency app designed for comprehensive support in critical situations. It enables users to contact vehicle emergency services, medical help, police, and fire departments easily. The app automatically detects accidents and notifies relevant parties. For areas without cellular coverage, it connects to a small satellite communication device, ensuring constant connectivity. This device provides reliable emergency communication through satellite technology.</a:t>
            </a:r>
          </a:p>
          <a:p>
            <a:pPr algn="just">
              <a:lnSpc>
                <a:spcPts val="7028"/>
              </a:lnSpc>
              <a:spcBef>
                <a:spcPct val="0"/>
              </a:spcBef>
            </a:pPr>
            <a:endParaRPr lang="en-US" sz="2320" dirty="0">
              <a:solidFill>
                <a:srgbClr val="FFFFFF"/>
              </a:solidFill>
              <a:latin typeface="Open Sans"/>
              <a:ea typeface="Open Sans"/>
              <a:cs typeface="Open Sans"/>
              <a:sym typeface="Open Sans"/>
            </a:endParaRPr>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3">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DBD6E5F-9F88-ABF4-53D9-5720BC34EA0E}"/>
              </a:ext>
            </a:extLst>
          </p:cNvPr>
          <p:cNvSpPr/>
          <p:nvPr/>
        </p:nvSpPr>
        <p:spPr>
          <a:xfrm>
            <a:off x="0" y="0"/>
            <a:ext cx="18299373" cy="10305172"/>
          </a:xfrm>
          <a:prstGeom prst="rect">
            <a:avLst/>
          </a:prstGeom>
          <a:gradFill flip="none" rotWithShape="1">
            <a:gsLst>
              <a:gs pos="0">
                <a:schemeClr val="bg1">
                  <a:alpha val="40000"/>
                </a:schemeClr>
              </a:gs>
              <a:gs pos="46000">
                <a:schemeClr val="bg1">
                  <a:alpha val="65000"/>
                </a:schemeClr>
              </a:gs>
              <a:gs pos="69000">
                <a:schemeClr val="bg1"/>
              </a:gs>
              <a:gs pos="100000">
                <a:schemeClr val="bg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descr="A black background with red text&#10;&#10;Description automatically generated">
            <a:extLst>
              <a:ext uri="{FF2B5EF4-FFF2-40B4-BE49-F238E27FC236}">
                <a16:creationId xmlns:a16="http://schemas.microsoft.com/office/drawing/2014/main" id="{A1C40175-9395-8BCF-DB1A-90830F7588BC}"/>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val="0"/>
              </a:ext>
            </a:extLst>
          </a:blip>
          <a:srcRect r="8715" b="28691"/>
          <a:stretch/>
        </p:blipFill>
        <p:spPr>
          <a:xfrm>
            <a:off x="6515100" y="198366"/>
            <a:ext cx="5257800" cy="1853460"/>
          </a:xfrm>
          <a:prstGeom prst="rect">
            <a:avLst/>
          </a:prstGeom>
        </p:spPr>
      </p:pic>
      <p:pic>
        <p:nvPicPr>
          <p:cNvPr id="3" name="Picture 2" descr="A solar panel with a cord&#10;&#10;Description automatically generated">
            <a:extLst>
              <a:ext uri="{FF2B5EF4-FFF2-40B4-BE49-F238E27FC236}">
                <a16:creationId xmlns:a16="http://schemas.microsoft.com/office/drawing/2014/main" id="{EED1C715-172D-C101-43B3-158187BF3DEC}"/>
              </a:ext>
            </a:extLst>
          </p:cNvPr>
          <p:cNvPicPr>
            <a:picLocks noChangeAspect="1"/>
          </p:cNvPicPr>
          <p:nvPr/>
        </p:nvPicPr>
        <p:blipFill rotWithShape="1">
          <a:blip r:embed="rId4">
            <a:extLst>
              <a:ext uri="{28A0092B-C50C-407E-A947-70E740481C1C}">
                <a14:useLocalDpi xmlns:a14="http://schemas.microsoft.com/office/drawing/2010/main" val="0"/>
              </a:ext>
            </a:extLst>
          </a:blip>
          <a:srcRect l="21537" t="22087" r="16803" b="22895"/>
          <a:stretch/>
        </p:blipFill>
        <p:spPr>
          <a:xfrm>
            <a:off x="2895600" y="2760802"/>
            <a:ext cx="6172200" cy="5507330"/>
          </a:xfrm>
          <a:prstGeom prst="rect">
            <a:avLst/>
          </a:prstGeom>
        </p:spPr>
      </p:pic>
      <p:sp>
        <p:nvSpPr>
          <p:cNvPr id="12" name="TextBox 11">
            <a:extLst>
              <a:ext uri="{FF2B5EF4-FFF2-40B4-BE49-F238E27FC236}">
                <a16:creationId xmlns:a16="http://schemas.microsoft.com/office/drawing/2014/main" id="{1B1BCD3E-D38B-1142-CB79-5EE638EB007B}"/>
              </a:ext>
            </a:extLst>
          </p:cNvPr>
          <p:cNvSpPr txBox="1"/>
          <p:nvPr/>
        </p:nvSpPr>
        <p:spPr>
          <a:xfrm>
            <a:off x="9410700" y="4451002"/>
            <a:ext cx="7800346" cy="1384995"/>
          </a:xfrm>
          <a:prstGeom prst="rect">
            <a:avLst/>
          </a:prstGeom>
          <a:noFill/>
        </p:spPr>
        <p:txBody>
          <a:bodyPr wrap="square">
            <a:spAutoFit/>
          </a:bodyPr>
          <a:lstStyle/>
          <a:p>
            <a:r>
              <a:rPr lang="en-US" sz="2800" dirty="0">
                <a:solidFill>
                  <a:srgbClr val="760000"/>
                </a:solidFill>
                <a:latin typeface="Arial Rounded MT Bold" panose="020F0704030504030204" pitchFamily="34" charset="0"/>
              </a:rPr>
              <a:t>SAFE LINK Beacon </a:t>
            </a:r>
            <a:r>
              <a:rPr lang="en-US" sz="2800" dirty="0">
                <a:latin typeface="Arial Rounded MT Bold" panose="020F0704030504030204" pitchFamily="34" charset="0"/>
              </a:rPr>
              <a:t>is the device that connects your mobile phone to the satellite for reliable emergency communication.</a:t>
            </a:r>
          </a:p>
        </p:txBody>
      </p:sp>
      <p:sp>
        <p:nvSpPr>
          <p:cNvPr id="14" name="Rectangle 13">
            <a:extLst>
              <a:ext uri="{FF2B5EF4-FFF2-40B4-BE49-F238E27FC236}">
                <a16:creationId xmlns:a16="http://schemas.microsoft.com/office/drawing/2014/main" id="{F18DB3DA-047C-1F47-DBEE-0002C09798CF}"/>
              </a:ext>
            </a:extLst>
          </p:cNvPr>
          <p:cNvSpPr/>
          <p:nvPr/>
        </p:nvSpPr>
        <p:spPr>
          <a:xfrm>
            <a:off x="9105900" y="4358509"/>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AA34EF5-BFAD-4E2A-CBE9-8781B61DDE8B}"/>
              </a:ext>
            </a:extLst>
          </p:cNvPr>
          <p:cNvGrpSpPr>
            <a:grpSpLocks noChangeAspect="1"/>
          </p:cNvGrpSpPr>
          <p:nvPr/>
        </p:nvGrpSpPr>
        <p:grpSpPr>
          <a:xfrm>
            <a:off x="-4572000" y="1073577"/>
            <a:ext cx="4114800" cy="8139845"/>
            <a:chOff x="0" y="0"/>
            <a:chExt cx="2620010" cy="5182870"/>
          </a:xfrm>
        </p:grpSpPr>
        <p:sp>
          <p:nvSpPr>
            <p:cNvPr id="27" name="Freeform 16">
              <a:extLst>
                <a:ext uri="{FF2B5EF4-FFF2-40B4-BE49-F238E27FC236}">
                  <a16:creationId xmlns:a16="http://schemas.microsoft.com/office/drawing/2014/main" id="{E05469BA-3CA2-59E8-AAB2-0D55A8420D05}"/>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8" name="Freeform 17">
              <a:extLst>
                <a:ext uri="{FF2B5EF4-FFF2-40B4-BE49-F238E27FC236}">
                  <a16:creationId xmlns:a16="http://schemas.microsoft.com/office/drawing/2014/main" id="{3CDCD321-EF3D-FC6C-0E00-1DC13C0F831A}"/>
                </a:ext>
              </a:extLst>
            </p:cNvPr>
            <p:cNvSpPr/>
            <p:nvPr/>
          </p:nvSpPr>
          <p:spPr>
            <a:xfrm>
              <a:off x="182511" y="102780"/>
              <a:ext cx="2251710" cy="4964462"/>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dirty="0"/>
            </a:p>
          </p:txBody>
        </p:sp>
        <p:sp>
          <p:nvSpPr>
            <p:cNvPr id="29" name="Freeform 18">
              <a:extLst>
                <a:ext uri="{FF2B5EF4-FFF2-40B4-BE49-F238E27FC236}">
                  <a16:creationId xmlns:a16="http://schemas.microsoft.com/office/drawing/2014/main" id="{9B033021-75DD-D8C8-74C5-6F91C5F362C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0" name="Freeform 19">
              <a:extLst>
                <a:ext uri="{FF2B5EF4-FFF2-40B4-BE49-F238E27FC236}">
                  <a16:creationId xmlns:a16="http://schemas.microsoft.com/office/drawing/2014/main" id="{1DE64C5C-623A-C5BF-2816-E90943BF349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1" name="Freeform 20">
              <a:extLst>
                <a:ext uri="{FF2B5EF4-FFF2-40B4-BE49-F238E27FC236}">
                  <a16:creationId xmlns:a16="http://schemas.microsoft.com/office/drawing/2014/main" id="{9A196C05-7367-2EFC-2C62-238D44F3039E}"/>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2" name="Freeform 21">
              <a:extLst>
                <a:ext uri="{FF2B5EF4-FFF2-40B4-BE49-F238E27FC236}">
                  <a16:creationId xmlns:a16="http://schemas.microsoft.com/office/drawing/2014/main" id="{8ABB7FD7-6905-9829-070B-ACBCF1BDFE0B}"/>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3" name="Freeform 22">
              <a:extLst>
                <a:ext uri="{FF2B5EF4-FFF2-40B4-BE49-F238E27FC236}">
                  <a16:creationId xmlns:a16="http://schemas.microsoft.com/office/drawing/2014/main" id="{4EA16059-356C-255E-CBF9-3308050C5252}"/>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4" name="Freeform 23">
              <a:extLst>
                <a:ext uri="{FF2B5EF4-FFF2-40B4-BE49-F238E27FC236}">
                  <a16:creationId xmlns:a16="http://schemas.microsoft.com/office/drawing/2014/main" id="{7E9842EA-B456-9FB0-DA90-AB4C675BD1C9}"/>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5" name="Freeform 24">
              <a:extLst>
                <a:ext uri="{FF2B5EF4-FFF2-40B4-BE49-F238E27FC236}">
                  <a16:creationId xmlns:a16="http://schemas.microsoft.com/office/drawing/2014/main" id="{7CFECE4B-A20C-2153-4C08-02FD23A55B86}"/>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7"/>
          <p:cNvGrpSpPr/>
          <p:nvPr/>
        </p:nvGrpSpPr>
        <p:grpSpPr>
          <a:xfrm>
            <a:off x="9906000" y="8330082"/>
            <a:ext cx="1460544" cy="138657"/>
            <a:chOff x="0" y="0"/>
            <a:chExt cx="384670" cy="36519"/>
          </a:xfrm>
        </p:grpSpPr>
        <p:sp>
          <p:nvSpPr>
            <p:cNvPr id="38" name="Freeform 38"/>
            <p:cNvSpPr/>
            <p:nvPr/>
          </p:nvSpPr>
          <p:spPr>
            <a:xfrm>
              <a:off x="0" y="0"/>
              <a:ext cx="384670" cy="36519"/>
            </a:xfrm>
            <a:custGeom>
              <a:avLst/>
              <a:gdLst/>
              <a:ahLst/>
              <a:cxnLst/>
              <a:rect l="l" t="t" r="r" b="b"/>
              <a:pathLst>
                <a:path w="384670" h="36519">
                  <a:moveTo>
                    <a:pt x="18259" y="0"/>
                  </a:moveTo>
                  <a:lnTo>
                    <a:pt x="366411" y="0"/>
                  </a:lnTo>
                  <a:cubicBezTo>
                    <a:pt x="371253" y="0"/>
                    <a:pt x="375898" y="1924"/>
                    <a:pt x="379322" y="5348"/>
                  </a:cubicBezTo>
                  <a:cubicBezTo>
                    <a:pt x="382746" y="8772"/>
                    <a:pt x="384670" y="13417"/>
                    <a:pt x="384670" y="18259"/>
                  </a:cubicBezTo>
                  <a:lnTo>
                    <a:pt x="384670" y="18259"/>
                  </a:lnTo>
                  <a:cubicBezTo>
                    <a:pt x="384670" y="23102"/>
                    <a:pt x="382746" y="27746"/>
                    <a:pt x="379322" y="31171"/>
                  </a:cubicBezTo>
                  <a:cubicBezTo>
                    <a:pt x="375898" y="34595"/>
                    <a:pt x="371253" y="36519"/>
                    <a:pt x="366411" y="36519"/>
                  </a:cubicBezTo>
                  <a:lnTo>
                    <a:pt x="18259" y="36519"/>
                  </a:lnTo>
                  <a:cubicBezTo>
                    <a:pt x="13417" y="36519"/>
                    <a:pt x="8772" y="34595"/>
                    <a:pt x="5348" y="31171"/>
                  </a:cubicBezTo>
                  <a:cubicBezTo>
                    <a:pt x="1924" y="27746"/>
                    <a:pt x="0" y="23102"/>
                    <a:pt x="0" y="18259"/>
                  </a:cubicBezTo>
                  <a:lnTo>
                    <a:pt x="0" y="18259"/>
                  </a:lnTo>
                  <a:cubicBezTo>
                    <a:pt x="0" y="13417"/>
                    <a:pt x="1924" y="8772"/>
                    <a:pt x="5348" y="5348"/>
                  </a:cubicBezTo>
                  <a:cubicBezTo>
                    <a:pt x="8772" y="1924"/>
                    <a:pt x="13417" y="0"/>
                    <a:pt x="18259" y="0"/>
                  </a:cubicBezTo>
                  <a:close/>
                </a:path>
              </a:pathLst>
            </a:custGeom>
            <a:gradFill rotWithShape="1">
              <a:gsLst>
                <a:gs pos="0">
                  <a:srgbClr val="FF00E6">
                    <a:alpha val="100000"/>
                  </a:srgbClr>
                </a:gs>
                <a:gs pos="100000">
                  <a:srgbClr val="60057F">
                    <a:alpha val="100000"/>
                  </a:srgbClr>
                </a:gs>
              </a:gsLst>
              <a:lin ang="2700000"/>
            </a:gradFill>
          </p:spPr>
          <p:txBody>
            <a:bodyPr/>
            <a:lstStyle/>
            <a:p>
              <a:endParaRPr lang="en-US"/>
            </a:p>
          </p:txBody>
        </p:sp>
        <p:sp>
          <p:nvSpPr>
            <p:cNvPr id="39" name="TextBox 39"/>
            <p:cNvSpPr txBox="1"/>
            <p:nvPr/>
          </p:nvSpPr>
          <p:spPr>
            <a:xfrm>
              <a:off x="0" y="-38100"/>
              <a:ext cx="384670" cy="74619"/>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609600" y="1104900"/>
            <a:ext cx="7332009" cy="2105964"/>
          </a:xfrm>
          <a:prstGeom prst="rect">
            <a:avLst/>
          </a:prstGeom>
        </p:spPr>
        <p:txBody>
          <a:bodyPr lIns="0" tIns="0" rIns="0" bIns="0" rtlCol="0" anchor="t">
            <a:spAutoFit/>
          </a:bodyPr>
          <a:lstStyle/>
          <a:p>
            <a:pPr algn="l">
              <a:lnSpc>
                <a:spcPts val="8054"/>
              </a:lnSpc>
            </a:pPr>
            <a:r>
              <a:rPr lang="en-US" sz="6884" dirty="0">
                <a:solidFill>
                  <a:srgbClr val="FFFFFF"/>
                </a:solidFill>
                <a:latin typeface="Poppins Bold"/>
                <a:ea typeface="Poppins Bold"/>
                <a:cs typeface="Poppins Bold"/>
                <a:sym typeface="Poppins Bold"/>
              </a:rPr>
              <a:t>Technology</a:t>
            </a:r>
          </a:p>
          <a:p>
            <a:pPr algn="l">
              <a:lnSpc>
                <a:spcPts val="8054"/>
              </a:lnSpc>
            </a:pPr>
            <a:endParaRPr lang="en-US" sz="6884" dirty="0">
              <a:solidFill>
                <a:srgbClr val="FFFFFF"/>
              </a:solidFill>
              <a:latin typeface="Poppins Bold"/>
              <a:ea typeface="Poppins Bold"/>
              <a:cs typeface="Poppins Bold"/>
              <a:sym typeface="Poppins Bold"/>
            </a:endParaRPr>
          </a:p>
        </p:txBody>
      </p:sp>
      <p:sp>
        <p:nvSpPr>
          <p:cNvPr id="2" name="Rectangle 1">
            <a:extLst>
              <a:ext uri="{FF2B5EF4-FFF2-40B4-BE49-F238E27FC236}">
                <a16:creationId xmlns:a16="http://schemas.microsoft.com/office/drawing/2014/main" id="{A69E3430-3800-2B8D-7297-36ED1B0658FA}"/>
              </a:ext>
            </a:extLst>
          </p:cNvPr>
          <p:cNvSpPr/>
          <p:nvPr/>
        </p:nvSpPr>
        <p:spPr>
          <a:xfrm>
            <a:off x="0" y="0"/>
            <a:ext cx="18288000" cy="10287000"/>
          </a:xfrm>
          <a:prstGeom prst="rect">
            <a:avLst/>
          </a:prstGeom>
          <a:gradFill flip="none" rotWithShape="1">
            <a:gsLst>
              <a:gs pos="0">
                <a:schemeClr val="tx1"/>
              </a:gs>
              <a:gs pos="38000">
                <a:srgbClr val="590000"/>
              </a:gs>
              <a:gs pos="17000">
                <a:srgbClr val="3B0000"/>
              </a:gs>
              <a:gs pos="57000">
                <a:srgbClr val="760000">
                  <a:alpha val="7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0"/>
          <p:cNvSpPr txBox="1"/>
          <p:nvPr/>
        </p:nvSpPr>
        <p:spPr>
          <a:xfrm>
            <a:off x="1325880" y="680777"/>
            <a:ext cx="7332009" cy="1038746"/>
          </a:xfrm>
          <a:prstGeom prst="rect">
            <a:avLst/>
          </a:prstGeom>
        </p:spPr>
        <p:txBody>
          <a:bodyPr lIns="0" tIns="0" rIns="0" bIns="0" rtlCol="0" anchor="t">
            <a:spAutoFit/>
          </a:bodyPr>
          <a:lstStyle/>
          <a:p>
            <a:pPr algn="l">
              <a:lnSpc>
                <a:spcPts val="8054"/>
              </a:lnSpc>
            </a:pPr>
            <a:r>
              <a:rPr lang="en-US" sz="6884" dirty="0">
                <a:solidFill>
                  <a:srgbClr val="FFFFFF"/>
                </a:solidFill>
                <a:latin typeface="Poppins Bold"/>
                <a:ea typeface="Poppins Bold"/>
                <a:cs typeface="Poppins Bold"/>
                <a:sym typeface="Poppins Bold"/>
              </a:rPr>
              <a:t>Technology</a:t>
            </a:r>
          </a:p>
        </p:txBody>
      </p:sp>
      <p:sp>
        <p:nvSpPr>
          <p:cNvPr id="4" name="Rectangle 3">
            <a:extLst>
              <a:ext uri="{FF2B5EF4-FFF2-40B4-BE49-F238E27FC236}">
                <a16:creationId xmlns:a16="http://schemas.microsoft.com/office/drawing/2014/main" id="{28BFD063-CEA4-F9FB-562A-F0365F3ECAB7}"/>
              </a:ext>
            </a:extLst>
          </p:cNvPr>
          <p:cNvSpPr/>
          <p:nvPr/>
        </p:nvSpPr>
        <p:spPr>
          <a:xfrm>
            <a:off x="1325880" y="1714500"/>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0637236-1BB5-5994-E2AB-DE0F7DE90D4E}"/>
              </a:ext>
            </a:extLst>
          </p:cNvPr>
          <p:cNvSpPr>
            <a:spLocks noChangeArrowheads="1"/>
          </p:cNvSpPr>
          <p:nvPr/>
        </p:nvSpPr>
        <p:spPr bwMode="auto">
          <a:xfrm>
            <a:off x="1325880" y="2638946"/>
            <a:ext cx="8610600"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3200" b="1" dirty="0">
                <a:solidFill>
                  <a:srgbClr val="FFC000"/>
                </a:solidFill>
                <a:latin typeface="Arial Rounded MT Bold" panose="020F0704030504030204" pitchFamily="34" charset="0"/>
              </a:rPr>
              <a:t>These are the technologies we use to implement this SAFE LINK application and device,</a:t>
            </a:r>
          </a:p>
          <a:p>
            <a:pPr eaLnBrk="0" fontAlgn="base" hangingPunct="0">
              <a:spcBef>
                <a:spcPct val="0"/>
              </a:spcBef>
              <a:spcAft>
                <a:spcPct val="0"/>
              </a:spcAft>
            </a:pPr>
            <a:endParaRPr lang="en-US" altLang="en-US" sz="3200" b="1" dirty="0">
              <a:solidFill>
                <a:srgbClr val="FFC000"/>
              </a:solidFill>
              <a:latin typeface="Arial Rounded MT Bold" panose="020F0704030504030204" pitchFamily="34" charset="0"/>
            </a:endParaRPr>
          </a:p>
          <a:p>
            <a:pPr marL="457200" indent="-457200" eaLnBrk="0" fontAlgn="base" hangingPunct="0">
              <a:spcBef>
                <a:spcPct val="0"/>
              </a:spcBef>
              <a:spcAft>
                <a:spcPct val="0"/>
              </a:spcAft>
              <a:buFont typeface="Wingdings" panose="05000000000000000000" pitchFamily="2" charset="2"/>
              <a:buChar char="§"/>
            </a:pPr>
            <a:r>
              <a:rPr lang="en-US" sz="3200" dirty="0">
                <a:solidFill>
                  <a:srgbClr val="FFFFFF"/>
                </a:solidFill>
                <a:latin typeface="Arial Rounded MT Bold" panose="020F0704030504030204" pitchFamily="34" charset="0"/>
                <a:ea typeface="Poppins Bold"/>
                <a:cs typeface="Poppins Bold"/>
                <a:sym typeface="Poppins Bold"/>
              </a:rPr>
              <a:t>Satellite Communication</a:t>
            </a:r>
          </a:p>
          <a:p>
            <a:pPr marL="457200" indent="-457200" eaLnBrk="0" fontAlgn="base" hangingPunct="0">
              <a:spcBef>
                <a:spcPct val="0"/>
              </a:spcBef>
              <a:spcAft>
                <a:spcPct val="0"/>
              </a:spcAft>
              <a:buFont typeface="Wingdings" panose="05000000000000000000" pitchFamily="2" charset="2"/>
              <a:buChar char="§"/>
            </a:pPr>
            <a:r>
              <a:rPr lang="en-US" sz="3200" dirty="0">
                <a:solidFill>
                  <a:srgbClr val="FFFFFF"/>
                </a:solidFill>
                <a:latin typeface="Arial Rounded MT Bold" panose="020F0704030504030204" pitchFamily="34" charset="0"/>
                <a:ea typeface="Poppins Bold"/>
                <a:cs typeface="Poppins Bold"/>
                <a:sym typeface="Poppins Bold"/>
              </a:rPr>
              <a:t>Gyroscope</a:t>
            </a:r>
          </a:p>
          <a:p>
            <a:pPr marL="457200" indent="-457200" eaLnBrk="0" fontAlgn="base" hangingPunct="0">
              <a:spcBef>
                <a:spcPct val="0"/>
              </a:spcBef>
              <a:spcAft>
                <a:spcPct val="0"/>
              </a:spcAft>
              <a:buFont typeface="Wingdings" panose="05000000000000000000" pitchFamily="2" charset="2"/>
              <a:buChar char="§"/>
            </a:pPr>
            <a:r>
              <a:rPr lang="en-US" sz="3200" dirty="0">
                <a:solidFill>
                  <a:srgbClr val="FFFFFF"/>
                </a:solidFill>
                <a:latin typeface="Arial Rounded MT Bold" panose="020F0704030504030204" pitchFamily="34" charset="0"/>
                <a:ea typeface="Poppins Bold"/>
                <a:cs typeface="Poppins Bold"/>
                <a:sym typeface="Poppins Bold"/>
              </a:rPr>
              <a:t>Accelerometer</a:t>
            </a:r>
          </a:p>
          <a:p>
            <a:pPr marL="457200" indent="-457200" eaLnBrk="0" fontAlgn="base" hangingPunct="0">
              <a:spcBef>
                <a:spcPct val="0"/>
              </a:spcBef>
              <a:spcAft>
                <a:spcPct val="0"/>
              </a:spcAft>
              <a:buFont typeface="Wingdings" panose="05000000000000000000" pitchFamily="2" charset="2"/>
              <a:buChar char="§"/>
            </a:pPr>
            <a:r>
              <a:rPr lang="en-US" sz="3200" dirty="0">
                <a:solidFill>
                  <a:srgbClr val="FFFFFF"/>
                </a:solidFill>
                <a:latin typeface="Arial Rounded MT Bold" panose="020F0704030504030204" pitchFamily="34" charset="0"/>
                <a:cs typeface="Poppins Bold"/>
                <a:sym typeface="Open Sans"/>
              </a:rPr>
              <a:t>Global Positioning System (GPS)</a:t>
            </a:r>
          </a:p>
          <a:p>
            <a:pPr marL="457200" indent="-457200" eaLnBrk="0" fontAlgn="base" hangingPunct="0">
              <a:spcBef>
                <a:spcPct val="0"/>
              </a:spcBef>
              <a:spcAft>
                <a:spcPct val="0"/>
              </a:spcAft>
              <a:buFont typeface="Wingdings" panose="05000000000000000000" pitchFamily="2" charset="2"/>
              <a:buChar char="§"/>
            </a:pPr>
            <a:r>
              <a:rPr lang="en-US" sz="3200" dirty="0">
                <a:solidFill>
                  <a:srgbClr val="FFFFFF"/>
                </a:solidFill>
                <a:latin typeface="Arial Rounded MT Bold" panose="020F0704030504030204" pitchFamily="34" charset="0"/>
                <a:ea typeface="Poppins Bold"/>
                <a:cs typeface="Poppins Bold"/>
                <a:sym typeface="Poppins Bold"/>
              </a:rPr>
              <a:t>Solar Power</a:t>
            </a:r>
          </a:p>
          <a:p>
            <a:pPr marL="457200" indent="-457200" eaLnBrk="0" fontAlgn="base" hangingPunct="0">
              <a:spcBef>
                <a:spcPct val="0"/>
              </a:spcBef>
              <a:spcAft>
                <a:spcPct val="0"/>
              </a:spcAft>
              <a:buFont typeface="Wingdings" panose="05000000000000000000" pitchFamily="2" charset="2"/>
              <a:buChar char="§"/>
            </a:pPr>
            <a:r>
              <a:rPr lang="en-US" sz="3200" dirty="0">
                <a:solidFill>
                  <a:srgbClr val="FFFFFF"/>
                </a:solidFill>
                <a:latin typeface="Arial Rounded MT Bold" panose="020F0704030504030204" pitchFamily="34" charset="0"/>
                <a:ea typeface="Poppins Bold"/>
                <a:cs typeface="Poppins Bold"/>
                <a:sym typeface="Poppins Bold"/>
              </a:rPr>
              <a:t>Bluetooth</a:t>
            </a:r>
          </a:p>
          <a:p>
            <a:pPr eaLnBrk="0" fontAlgn="base" hangingPunct="0">
              <a:spcBef>
                <a:spcPct val="0"/>
              </a:spcBef>
              <a:spcAft>
                <a:spcPct val="0"/>
              </a:spcAft>
            </a:pPr>
            <a:endParaRPr lang="en-US" sz="3200" dirty="0">
              <a:solidFill>
                <a:srgbClr val="FFFFFF"/>
              </a:solidFill>
              <a:latin typeface="Poppins Bold"/>
              <a:ea typeface="Poppins Bold"/>
              <a:cs typeface="Poppins Bold"/>
              <a:sym typeface="Poppins Bold"/>
            </a:endParaRPr>
          </a:p>
          <a:p>
            <a:pPr eaLnBrk="0" fontAlgn="base" hangingPunct="0">
              <a:spcBef>
                <a:spcPct val="0"/>
              </a:spcBef>
              <a:spcAft>
                <a:spcPct val="0"/>
              </a:spcAft>
            </a:pPr>
            <a:endParaRPr lang="en-US" sz="3200" dirty="0">
              <a:solidFill>
                <a:srgbClr val="FFFFFF"/>
              </a:solidFill>
              <a:latin typeface="Poppins Bold"/>
              <a:ea typeface="Poppins Bold"/>
              <a:cs typeface="Poppins Bold"/>
              <a:sym typeface="Poppins Bold"/>
            </a:endParaRPr>
          </a:p>
          <a:p>
            <a:pPr eaLnBrk="0" fontAlgn="base" hangingPunct="0">
              <a:spcBef>
                <a:spcPct val="0"/>
              </a:spcBef>
              <a:spcAft>
                <a:spcPct val="0"/>
              </a:spcAft>
            </a:pPr>
            <a:endParaRPr lang="en-US" altLang="en-US" sz="3200" b="1" dirty="0">
              <a:solidFill>
                <a:srgbClr val="FFC000"/>
              </a:solidFill>
              <a:latin typeface="Arial" panose="020B0604020202020204" pitchFamily="34" charset="0"/>
            </a:endParaRPr>
          </a:p>
        </p:txBody>
      </p:sp>
    </p:spTree>
    <p:extLst>
      <p:ext uri="{BB962C8B-B14F-4D97-AF65-F5344CB8AC3E}">
        <p14:creationId xmlns:p14="http://schemas.microsoft.com/office/powerpoint/2010/main" val="24348306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7"/>
          <p:cNvGrpSpPr/>
          <p:nvPr/>
        </p:nvGrpSpPr>
        <p:grpSpPr>
          <a:xfrm>
            <a:off x="9906000" y="8330082"/>
            <a:ext cx="1460544" cy="138657"/>
            <a:chOff x="0" y="0"/>
            <a:chExt cx="384670" cy="36519"/>
          </a:xfrm>
        </p:grpSpPr>
        <p:sp>
          <p:nvSpPr>
            <p:cNvPr id="38" name="Freeform 38"/>
            <p:cNvSpPr/>
            <p:nvPr/>
          </p:nvSpPr>
          <p:spPr>
            <a:xfrm>
              <a:off x="0" y="0"/>
              <a:ext cx="384670" cy="36519"/>
            </a:xfrm>
            <a:custGeom>
              <a:avLst/>
              <a:gdLst/>
              <a:ahLst/>
              <a:cxnLst/>
              <a:rect l="l" t="t" r="r" b="b"/>
              <a:pathLst>
                <a:path w="384670" h="36519">
                  <a:moveTo>
                    <a:pt x="18259" y="0"/>
                  </a:moveTo>
                  <a:lnTo>
                    <a:pt x="366411" y="0"/>
                  </a:lnTo>
                  <a:cubicBezTo>
                    <a:pt x="371253" y="0"/>
                    <a:pt x="375898" y="1924"/>
                    <a:pt x="379322" y="5348"/>
                  </a:cubicBezTo>
                  <a:cubicBezTo>
                    <a:pt x="382746" y="8772"/>
                    <a:pt x="384670" y="13417"/>
                    <a:pt x="384670" y="18259"/>
                  </a:cubicBezTo>
                  <a:lnTo>
                    <a:pt x="384670" y="18259"/>
                  </a:lnTo>
                  <a:cubicBezTo>
                    <a:pt x="384670" y="23102"/>
                    <a:pt x="382746" y="27746"/>
                    <a:pt x="379322" y="31171"/>
                  </a:cubicBezTo>
                  <a:cubicBezTo>
                    <a:pt x="375898" y="34595"/>
                    <a:pt x="371253" y="36519"/>
                    <a:pt x="366411" y="36519"/>
                  </a:cubicBezTo>
                  <a:lnTo>
                    <a:pt x="18259" y="36519"/>
                  </a:lnTo>
                  <a:cubicBezTo>
                    <a:pt x="13417" y="36519"/>
                    <a:pt x="8772" y="34595"/>
                    <a:pt x="5348" y="31171"/>
                  </a:cubicBezTo>
                  <a:cubicBezTo>
                    <a:pt x="1924" y="27746"/>
                    <a:pt x="0" y="23102"/>
                    <a:pt x="0" y="18259"/>
                  </a:cubicBezTo>
                  <a:lnTo>
                    <a:pt x="0" y="18259"/>
                  </a:lnTo>
                  <a:cubicBezTo>
                    <a:pt x="0" y="13417"/>
                    <a:pt x="1924" y="8772"/>
                    <a:pt x="5348" y="5348"/>
                  </a:cubicBezTo>
                  <a:cubicBezTo>
                    <a:pt x="8772" y="1924"/>
                    <a:pt x="13417" y="0"/>
                    <a:pt x="18259" y="0"/>
                  </a:cubicBezTo>
                  <a:close/>
                </a:path>
              </a:pathLst>
            </a:custGeom>
            <a:gradFill rotWithShape="1">
              <a:gsLst>
                <a:gs pos="0">
                  <a:srgbClr val="FF00E6">
                    <a:alpha val="100000"/>
                  </a:srgbClr>
                </a:gs>
                <a:gs pos="100000">
                  <a:srgbClr val="60057F">
                    <a:alpha val="100000"/>
                  </a:srgbClr>
                </a:gs>
              </a:gsLst>
              <a:lin ang="2700000"/>
            </a:gradFill>
          </p:spPr>
          <p:txBody>
            <a:bodyPr/>
            <a:lstStyle/>
            <a:p>
              <a:endParaRPr lang="en-US"/>
            </a:p>
          </p:txBody>
        </p:sp>
        <p:sp>
          <p:nvSpPr>
            <p:cNvPr id="39" name="TextBox 39"/>
            <p:cNvSpPr txBox="1"/>
            <p:nvPr/>
          </p:nvSpPr>
          <p:spPr>
            <a:xfrm>
              <a:off x="0" y="-38100"/>
              <a:ext cx="384670" cy="74619"/>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609600" y="1104900"/>
            <a:ext cx="7332009" cy="2105964"/>
          </a:xfrm>
          <a:prstGeom prst="rect">
            <a:avLst/>
          </a:prstGeom>
        </p:spPr>
        <p:txBody>
          <a:bodyPr lIns="0" tIns="0" rIns="0" bIns="0" rtlCol="0" anchor="t">
            <a:spAutoFit/>
          </a:bodyPr>
          <a:lstStyle/>
          <a:p>
            <a:pPr algn="l">
              <a:lnSpc>
                <a:spcPts val="8054"/>
              </a:lnSpc>
            </a:pPr>
            <a:r>
              <a:rPr lang="en-US" sz="6884" dirty="0">
                <a:solidFill>
                  <a:srgbClr val="FFFFFF"/>
                </a:solidFill>
                <a:latin typeface="Poppins Bold"/>
                <a:ea typeface="Poppins Bold"/>
                <a:cs typeface="Poppins Bold"/>
                <a:sym typeface="Poppins Bold"/>
              </a:rPr>
              <a:t>Technology</a:t>
            </a:r>
          </a:p>
          <a:p>
            <a:pPr algn="l">
              <a:lnSpc>
                <a:spcPts val="8054"/>
              </a:lnSpc>
            </a:pPr>
            <a:endParaRPr lang="en-US" sz="6884" dirty="0">
              <a:solidFill>
                <a:srgbClr val="FFFFFF"/>
              </a:solidFill>
              <a:latin typeface="Poppins Bold"/>
              <a:ea typeface="Poppins Bold"/>
              <a:cs typeface="Poppins Bold"/>
              <a:sym typeface="Poppins Bold"/>
            </a:endParaRPr>
          </a:p>
        </p:txBody>
      </p:sp>
      <p:sp>
        <p:nvSpPr>
          <p:cNvPr id="2" name="Rectangle 1">
            <a:extLst>
              <a:ext uri="{FF2B5EF4-FFF2-40B4-BE49-F238E27FC236}">
                <a16:creationId xmlns:a16="http://schemas.microsoft.com/office/drawing/2014/main" id="{A69E3430-3800-2B8D-7297-36ED1B0658FA}"/>
              </a:ext>
            </a:extLst>
          </p:cNvPr>
          <p:cNvSpPr/>
          <p:nvPr/>
        </p:nvSpPr>
        <p:spPr>
          <a:xfrm>
            <a:off x="0" y="0"/>
            <a:ext cx="18288000" cy="10287000"/>
          </a:xfrm>
          <a:prstGeom prst="rect">
            <a:avLst/>
          </a:prstGeom>
          <a:gradFill flip="none" rotWithShape="1">
            <a:gsLst>
              <a:gs pos="0">
                <a:schemeClr val="tx1"/>
              </a:gs>
              <a:gs pos="38000">
                <a:srgbClr val="590000"/>
              </a:gs>
              <a:gs pos="17000">
                <a:srgbClr val="3B0000"/>
              </a:gs>
              <a:gs pos="57000">
                <a:srgbClr val="760000">
                  <a:alpha val="7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0"/>
          <p:cNvSpPr txBox="1"/>
          <p:nvPr/>
        </p:nvSpPr>
        <p:spPr>
          <a:xfrm>
            <a:off x="1325880" y="680777"/>
            <a:ext cx="7332009" cy="1038746"/>
          </a:xfrm>
          <a:prstGeom prst="rect">
            <a:avLst/>
          </a:prstGeom>
        </p:spPr>
        <p:txBody>
          <a:bodyPr lIns="0" tIns="0" rIns="0" bIns="0" rtlCol="0" anchor="t">
            <a:spAutoFit/>
          </a:bodyPr>
          <a:lstStyle/>
          <a:p>
            <a:pPr algn="l">
              <a:lnSpc>
                <a:spcPts val="8054"/>
              </a:lnSpc>
            </a:pPr>
            <a:r>
              <a:rPr lang="en-US" sz="6884" dirty="0">
                <a:solidFill>
                  <a:srgbClr val="FFFFFF"/>
                </a:solidFill>
                <a:latin typeface="Poppins Bold"/>
                <a:ea typeface="Poppins Bold"/>
                <a:cs typeface="Poppins Bold"/>
                <a:sym typeface="Poppins Bold"/>
              </a:rPr>
              <a:t>Key </a:t>
            </a:r>
            <a:r>
              <a:rPr lang="en-US" sz="6884" dirty="0">
                <a:solidFill>
                  <a:srgbClr val="FF0000"/>
                </a:solidFill>
                <a:latin typeface="Poppins Bold"/>
                <a:ea typeface="Poppins Bold"/>
                <a:cs typeface="Poppins Bold"/>
                <a:sym typeface="Poppins Bold"/>
              </a:rPr>
              <a:t>Features</a:t>
            </a:r>
          </a:p>
        </p:txBody>
      </p:sp>
      <p:sp>
        <p:nvSpPr>
          <p:cNvPr id="4" name="Rectangle 3">
            <a:extLst>
              <a:ext uri="{FF2B5EF4-FFF2-40B4-BE49-F238E27FC236}">
                <a16:creationId xmlns:a16="http://schemas.microsoft.com/office/drawing/2014/main" id="{28BFD063-CEA4-F9FB-562A-F0365F3ECAB7}"/>
              </a:ext>
            </a:extLst>
          </p:cNvPr>
          <p:cNvSpPr/>
          <p:nvPr/>
        </p:nvSpPr>
        <p:spPr>
          <a:xfrm>
            <a:off x="1325880" y="1714500"/>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0637236-1BB5-5994-E2AB-DE0F7DE90D4E}"/>
              </a:ext>
            </a:extLst>
          </p:cNvPr>
          <p:cNvSpPr>
            <a:spLocks noChangeArrowheads="1"/>
          </p:cNvSpPr>
          <p:nvPr/>
        </p:nvSpPr>
        <p:spPr bwMode="auto">
          <a:xfrm>
            <a:off x="1325880" y="1940653"/>
            <a:ext cx="16733520" cy="7602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3200" b="1" dirty="0">
                <a:solidFill>
                  <a:srgbClr val="FFC000"/>
                </a:solidFill>
                <a:latin typeface="Arial Rounded MT Bold" panose="020F0704030504030204" pitchFamily="34" charset="0"/>
              </a:rPr>
              <a:t>These are the Key Features in SAFE LINK application and device,</a:t>
            </a:r>
          </a:p>
          <a:p>
            <a:pPr eaLnBrk="0" fontAlgn="base" hangingPunct="0">
              <a:spcBef>
                <a:spcPct val="0"/>
              </a:spcBef>
              <a:spcAft>
                <a:spcPct val="0"/>
              </a:spcAft>
            </a:pPr>
            <a:endParaRPr lang="en-US" altLang="en-US" sz="3200" b="1" dirty="0">
              <a:solidFill>
                <a:srgbClr val="FFC000"/>
              </a:solidFill>
              <a:latin typeface="Arial Rounded MT Bold" panose="020F0704030504030204" pitchFamily="34" charset="0"/>
            </a:endParaRPr>
          </a:p>
          <a:p>
            <a:pPr marL="457200" indent="-457200" eaLnBrk="0" fontAlgn="base" hangingPunct="0">
              <a:spcBef>
                <a:spcPct val="0"/>
              </a:spcBef>
              <a:spcAft>
                <a:spcPct val="0"/>
              </a:spcAft>
              <a:buFont typeface="Wingdings" panose="05000000000000000000" pitchFamily="2" charset="2"/>
              <a:buChar char="§"/>
            </a:pPr>
            <a:r>
              <a:rPr lang="en-US" sz="4400" dirty="0">
                <a:solidFill>
                  <a:srgbClr val="FFFFFF"/>
                </a:solidFill>
                <a:latin typeface="Arial Rounded MT Bold" panose="020F0704030504030204" pitchFamily="34" charset="0"/>
                <a:ea typeface="Poppins Bold"/>
                <a:cs typeface="Poppins Bold"/>
                <a:sym typeface="Poppins Bold"/>
              </a:rPr>
              <a:t>Crash Detection</a:t>
            </a:r>
          </a:p>
          <a:p>
            <a:pPr marL="457200" indent="-457200" eaLnBrk="0" fontAlgn="base" hangingPunct="0">
              <a:spcBef>
                <a:spcPct val="0"/>
              </a:spcBef>
              <a:spcAft>
                <a:spcPct val="0"/>
              </a:spcAft>
              <a:buFont typeface="Wingdings" panose="05000000000000000000" pitchFamily="2" charset="2"/>
              <a:buChar char="§"/>
            </a:pPr>
            <a:r>
              <a:rPr lang="en-US" sz="4400" dirty="0">
                <a:solidFill>
                  <a:srgbClr val="FFFFFF"/>
                </a:solidFill>
                <a:latin typeface="Arial Rounded MT Bold" panose="020F0704030504030204" pitchFamily="34" charset="0"/>
                <a:ea typeface="Poppins Bold"/>
                <a:cs typeface="Poppins Bold"/>
                <a:sym typeface="Poppins Bold"/>
              </a:rPr>
              <a:t>Satellite Communication</a:t>
            </a:r>
          </a:p>
          <a:p>
            <a:pPr marL="457200" indent="-457200" eaLnBrk="0" fontAlgn="base" hangingPunct="0">
              <a:spcBef>
                <a:spcPct val="0"/>
              </a:spcBef>
              <a:spcAft>
                <a:spcPct val="0"/>
              </a:spcAft>
              <a:buFont typeface="Wingdings" panose="05000000000000000000" pitchFamily="2" charset="2"/>
              <a:buChar char="§"/>
            </a:pPr>
            <a:r>
              <a:rPr lang="en-US" sz="4400" dirty="0">
                <a:solidFill>
                  <a:srgbClr val="FFFFFF"/>
                </a:solidFill>
                <a:latin typeface="Arial Rounded MT Bold" panose="020F0704030504030204" pitchFamily="34" charset="0"/>
                <a:ea typeface="Poppins Bold"/>
                <a:cs typeface="Poppins Bold"/>
                <a:sym typeface="Poppins Bold"/>
              </a:rPr>
              <a:t>Emergency Contacts</a:t>
            </a:r>
          </a:p>
          <a:p>
            <a:pPr marL="457200" indent="-457200" eaLnBrk="0" fontAlgn="base" hangingPunct="0">
              <a:spcBef>
                <a:spcPct val="0"/>
              </a:spcBef>
              <a:spcAft>
                <a:spcPct val="0"/>
              </a:spcAft>
              <a:buFont typeface="Wingdings" panose="05000000000000000000" pitchFamily="2" charset="2"/>
              <a:buChar char="§"/>
            </a:pPr>
            <a:r>
              <a:rPr lang="en-US" sz="4400" dirty="0">
                <a:solidFill>
                  <a:srgbClr val="FFFFFF"/>
                </a:solidFill>
                <a:latin typeface="Arial Rounded MT Bold" panose="020F0704030504030204" pitchFamily="34" charset="0"/>
                <a:cs typeface="Poppins Bold"/>
                <a:sym typeface="Open Sans"/>
              </a:rPr>
              <a:t>Medical Information</a:t>
            </a:r>
          </a:p>
          <a:p>
            <a:pPr marL="457200" indent="-457200" eaLnBrk="0" fontAlgn="base" hangingPunct="0">
              <a:spcBef>
                <a:spcPct val="0"/>
              </a:spcBef>
              <a:spcAft>
                <a:spcPct val="0"/>
              </a:spcAft>
              <a:buFont typeface="Wingdings" panose="05000000000000000000" pitchFamily="2" charset="2"/>
              <a:buChar char="§"/>
            </a:pPr>
            <a:r>
              <a:rPr lang="en-US" sz="4400" dirty="0">
                <a:solidFill>
                  <a:srgbClr val="FFFFFF"/>
                </a:solidFill>
                <a:latin typeface="Arial Rounded MT Bold" panose="020F0704030504030204" pitchFamily="34" charset="0"/>
                <a:ea typeface="Poppins Bold"/>
                <a:cs typeface="Poppins Bold"/>
                <a:sym typeface="Poppins Bold"/>
              </a:rPr>
              <a:t>Call for help with medical emergencies (sickness or injury)</a:t>
            </a:r>
          </a:p>
          <a:p>
            <a:pPr marL="457200" indent="-457200" eaLnBrk="0" fontAlgn="base" hangingPunct="0">
              <a:spcBef>
                <a:spcPct val="0"/>
              </a:spcBef>
              <a:spcAft>
                <a:spcPct val="0"/>
              </a:spcAft>
              <a:buFont typeface="Wingdings" panose="05000000000000000000" pitchFamily="2" charset="2"/>
              <a:buChar char="§"/>
            </a:pPr>
            <a:r>
              <a:rPr lang="en-US" sz="4400" dirty="0">
                <a:solidFill>
                  <a:srgbClr val="FFFFFF"/>
                </a:solidFill>
                <a:latin typeface="Arial Rounded MT Bold" panose="020F0704030504030204" pitchFamily="34" charset="0"/>
                <a:ea typeface="Poppins Bold"/>
                <a:cs typeface="Poppins Bold"/>
                <a:sym typeface="Poppins Bold"/>
              </a:rPr>
              <a:t>Report a crime in progress</a:t>
            </a:r>
          </a:p>
          <a:p>
            <a:pPr marL="457200" indent="-457200" eaLnBrk="0" fontAlgn="base" hangingPunct="0">
              <a:spcBef>
                <a:spcPct val="0"/>
              </a:spcBef>
              <a:spcAft>
                <a:spcPct val="0"/>
              </a:spcAft>
              <a:buFont typeface="Wingdings" panose="05000000000000000000" pitchFamily="2" charset="2"/>
              <a:buChar char="§"/>
            </a:pPr>
            <a:endParaRPr lang="en-US" sz="3200" dirty="0">
              <a:solidFill>
                <a:srgbClr val="FFFFFF"/>
              </a:solidFill>
              <a:latin typeface="Arial Rounded MT Bold" panose="020F0704030504030204" pitchFamily="34" charset="0"/>
              <a:ea typeface="Poppins Bold"/>
              <a:cs typeface="Poppins Bold"/>
              <a:sym typeface="Poppins Bold"/>
            </a:endParaRPr>
          </a:p>
          <a:p>
            <a:pPr marL="457200" indent="-457200" eaLnBrk="0" fontAlgn="base" hangingPunct="0">
              <a:spcBef>
                <a:spcPct val="0"/>
              </a:spcBef>
              <a:spcAft>
                <a:spcPct val="0"/>
              </a:spcAft>
              <a:buFont typeface="Wingdings" panose="05000000000000000000" pitchFamily="2" charset="2"/>
              <a:buChar char="§"/>
            </a:pPr>
            <a:endParaRPr lang="en-US" sz="3200" dirty="0">
              <a:solidFill>
                <a:srgbClr val="FFFFFF"/>
              </a:solidFill>
              <a:latin typeface="Arial Rounded MT Bold" panose="020F0704030504030204" pitchFamily="34" charset="0"/>
              <a:ea typeface="Poppins Bold"/>
              <a:cs typeface="Poppins Bold"/>
              <a:sym typeface="Poppins Bold"/>
            </a:endParaRPr>
          </a:p>
          <a:p>
            <a:pPr marL="457200" indent="-457200" eaLnBrk="0" fontAlgn="base" hangingPunct="0">
              <a:spcBef>
                <a:spcPct val="0"/>
              </a:spcBef>
              <a:spcAft>
                <a:spcPct val="0"/>
              </a:spcAft>
              <a:buFont typeface="Wingdings" panose="05000000000000000000" pitchFamily="2" charset="2"/>
              <a:buChar char="§"/>
            </a:pPr>
            <a:endParaRPr lang="en-US" sz="3200" dirty="0">
              <a:solidFill>
                <a:srgbClr val="FFFFFF"/>
              </a:solidFill>
              <a:latin typeface="Poppins Bold"/>
              <a:ea typeface="Poppins Bold"/>
              <a:cs typeface="Poppins Bold"/>
              <a:sym typeface="Poppins Bold"/>
            </a:endParaRPr>
          </a:p>
          <a:p>
            <a:pPr eaLnBrk="0" fontAlgn="base" hangingPunct="0">
              <a:spcBef>
                <a:spcPct val="0"/>
              </a:spcBef>
              <a:spcAft>
                <a:spcPct val="0"/>
              </a:spcAft>
            </a:pPr>
            <a:endParaRPr lang="en-US" sz="3200" dirty="0">
              <a:solidFill>
                <a:srgbClr val="FFFFFF"/>
              </a:solidFill>
              <a:latin typeface="Poppins Bold"/>
              <a:ea typeface="Poppins Bold"/>
              <a:cs typeface="Poppins Bold"/>
              <a:sym typeface="Poppins Bold"/>
            </a:endParaRPr>
          </a:p>
          <a:p>
            <a:pPr eaLnBrk="0" fontAlgn="base" hangingPunct="0">
              <a:spcBef>
                <a:spcPct val="0"/>
              </a:spcBef>
              <a:spcAft>
                <a:spcPct val="0"/>
              </a:spcAft>
            </a:pPr>
            <a:endParaRPr lang="en-US" altLang="en-US" sz="3200" b="1" dirty="0">
              <a:solidFill>
                <a:srgbClr val="FFC000"/>
              </a:solidFill>
              <a:latin typeface="Arial" panose="020B0604020202020204" pitchFamily="34" charset="0"/>
            </a:endParaRPr>
          </a:p>
        </p:txBody>
      </p:sp>
    </p:spTree>
    <p:extLst>
      <p:ext uri="{BB962C8B-B14F-4D97-AF65-F5344CB8AC3E}">
        <p14:creationId xmlns:p14="http://schemas.microsoft.com/office/powerpoint/2010/main" val="2289576170"/>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84789-B5B9-81A7-8125-F2E9C0BE4D48}"/>
              </a:ext>
            </a:extLst>
          </p:cNvPr>
          <p:cNvSpPr/>
          <p:nvPr/>
        </p:nvSpPr>
        <p:spPr>
          <a:xfrm rot="5400000">
            <a:off x="13794648" y="3507571"/>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Medical Emergencies</a:t>
            </a:r>
          </a:p>
        </p:txBody>
      </p:sp>
      <p:grpSp>
        <p:nvGrpSpPr>
          <p:cNvPr id="47" name="Group 47"/>
          <p:cNvGrpSpPr>
            <a:grpSpLocks noChangeAspect="1"/>
          </p:cNvGrpSpPr>
          <p:nvPr/>
        </p:nvGrpSpPr>
        <p:grpSpPr>
          <a:xfrm rot="21571874">
            <a:off x="12571497" y="713265"/>
            <a:ext cx="3127859" cy="6189006"/>
            <a:chOff x="0" y="0"/>
            <a:chExt cx="2620010" cy="5184140"/>
          </a:xfrm>
          <a:scene3d>
            <a:camera prst="isometricOffAxis2Left"/>
            <a:lightRig rig="threePt" dir="t"/>
          </a:scene3d>
        </p:grpSpPr>
        <p:sp>
          <p:nvSpPr>
            <p:cNvPr id="48" name="Freeform 4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9" name="Freeform 4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50" name="Freeform 5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1" name="Freeform 5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52" name="Freeform 5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3" name="Freeform 5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4" name="Freeform 5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5" name="Freeform 5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6" name="Freeform 5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8" name="Rectangle 7">
            <a:extLst>
              <a:ext uri="{FF2B5EF4-FFF2-40B4-BE49-F238E27FC236}">
                <a16:creationId xmlns:a16="http://schemas.microsoft.com/office/drawing/2014/main" id="{642A9CE7-5C84-7024-71AD-B8C9A505B1D1}"/>
              </a:ext>
            </a:extLst>
          </p:cNvPr>
          <p:cNvSpPr/>
          <p:nvPr/>
        </p:nvSpPr>
        <p:spPr>
          <a:xfrm rot="5400000">
            <a:off x="10817424" y="4298290"/>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Home Page</a:t>
            </a:r>
          </a:p>
        </p:txBody>
      </p:sp>
      <p:grpSp>
        <p:nvGrpSpPr>
          <p:cNvPr id="17" name="Group 17"/>
          <p:cNvGrpSpPr>
            <a:grpSpLocks noChangeAspect="1"/>
          </p:cNvGrpSpPr>
          <p:nvPr/>
        </p:nvGrpSpPr>
        <p:grpSpPr>
          <a:xfrm rot="21571874">
            <a:off x="9025076" y="1706048"/>
            <a:ext cx="3127859" cy="6189006"/>
            <a:chOff x="0" y="0"/>
            <a:chExt cx="2620010" cy="5184140"/>
          </a:xfrm>
          <a:scene3d>
            <a:camera prst="isometricOffAxis2Left"/>
            <a:lightRig rig="threePt" dir="t"/>
          </a:scene3d>
        </p:grpSpPr>
        <p:sp>
          <p:nvSpPr>
            <p:cNvPr id="18" name="Freeform 1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9" name="Freeform 1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a:p>
          </p:txBody>
        </p:sp>
        <p:sp>
          <p:nvSpPr>
            <p:cNvPr id="20" name="Freeform 2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1" name="Freeform 2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22" name="Freeform 2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3" name="Freeform 2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5" name="Freeform 2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6" name="Freeform 2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7" name="Rectangle 6">
            <a:extLst>
              <a:ext uri="{FF2B5EF4-FFF2-40B4-BE49-F238E27FC236}">
                <a16:creationId xmlns:a16="http://schemas.microsoft.com/office/drawing/2014/main" id="{3DB81491-72A5-261C-85FC-2B07C9CE72DB}"/>
              </a:ext>
            </a:extLst>
          </p:cNvPr>
          <p:cNvSpPr/>
          <p:nvPr/>
        </p:nvSpPr>
        <p:spPr>
          <a:xfrm rot="5400000">
            <a:off x="7312224" y="5288890"/>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Sign Up Page</a:t>
            </a:r>
          </a:p>
        </p:txBody>
      </p:sp>
      <p:grpSp>
        <p:nvGrpSpPr>
          <p:cNvPr id="27" name="Group 27"/>
          <p:cNvGrpSpPr>
            <a:grpSpLocks noChangeAspect="1"/>
          </p:cNvGrpSpPr>
          <p:nvPr/>
        </p:nvGrpSpPr>
        <p:grpSpPr>
          <a:xfrm rot="21571874">
            <a:off x="5511664" y="2678160"/>
            <a:ext cx="3127859" cy="6189006"/>
            <a:chOff x="0" y="0"/>
            <a:chExt cx="2620010" cy="5184140"/>
          </a:xfrm>
          <a:scene3d>
            <a:camera prst="isometricOffAxis2Left"/>
            <a:lightRig rig="threePt" dir="t"/>
          </a:scene3d>
        </p:grpSpPr>
        <p:sp>
          <p:nvSpPr>
            <p:cNvPr id="28" name="Freeform 2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9" name="Freeform 2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dirty="0"/>
            </a:p>
          </p:txBody>
        </p:sp>
        <p:sp>
          <p:nvSpPr>
            <p:cNvPr id="30" name="Freeform 3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1" name="Freeform 3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2" name="Freeform 3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3" name="Freeform 3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4" name="Freeform 3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5" name="Freeform 3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6" name="Freeform 3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2" name="Rectangle 1">
            <a:extLst>
              <a:ext uri="{FF2B5EF4-FFF2-40B4-BE49-F238E27FC236}">
                <a16:creationId xmlns:a16="http://schemas.microsoft.com/office/drawing/2014/main" id="{3D1C5D3C-0BD1-3870-53D4-7F5F584541CD}"/>
              </a:ext>
            </a:extLst>
          </p:cNvPr>
          <p:cNvSpPr/>
          <p:nvPr/>
        </p:nvSpPr>
        <p:spPr>
          <a:xfrm rot="5400000">
            <a:off x="3807024" y="6169146"/>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Login Page</a:t>
            </a:r>
          </a:p>
        </p:txBody>
      </p:sp>
      <p:grpSp>
        <p:nvGrpSpPr>
          <p:cNvPr id="37" name="Group 37"/>
          <p:cNvGrpSpPr>
            <a:grpSpLocks noChangeAspect="1"/>
          </p:cNvGrpSpPr>
          <p:nvPr/>
        </p:nvGrpSpPr>
        <p:grpSpPr>
          <a:xfrm rot="21571874">
            <a:off x="2006465" y="3632192"/>
            <a:ext cx="3127859" cy="6189006"/>
            <a:chOff x="0" y="0"/>
            <a:chExt cx="2620010" cy="5184140"/>
          </a:xfrm>
          <a:scene3d>
            <a:camera prst="isometricOffAxis2Left"/>
            <a:lightRig rig="threePt" dir="t"/>
          </a:scene3d>
        </p:grpSpPr>
        <p:sp>
          <p:nvSpPr>
            <p:cNvPr id="38" name="Freeform 3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9" name="Freeform 3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6"/>
              <a:srcRect/>
              <a:stretch>
                <a:fillRect/>
              </a:stretch>
            </a:blipFill>
          </p:spPr>
          <p:txBody>
            <a:bodyPr/>
            <a:lstStyle/>
            <a:p>
              <a:endParaRPr lang="en-US"/>
            </a:p>
          </p:txBody>
        </p:sp>
        <p:sp>
          <p:nvSpPr>
            <p:cNvPr id="40" name="Freeform 4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1" name="Freeform 4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2" name="Freeform 4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43" name="Freeform 4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44" name="Freeform 4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45" name="Freeform 4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46" name="Freeform 4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10" name="TextBox 9">
            <a:extLst>
              <a:ext uri="{FF2B5EF4-FFF2-40B4-BE49-F238E27FC236}">
                <a16:creationId xmlns:a16="http://schemas.microsoft.com/office/drawing/2014/main" id="{81BE3D08-316E-6315-B51F-6F7D961B5103}"/>
              </a:ext>
            </a:extLst>
          </p:cNvPr>
          <p:cNvSpPr txBox="1"/>
          <p:nvPr/>
        </p:nvSpPr>
        <p:spPr>
          <a:xfrm>
            <a:off x="685800" y="716889"/>
            <a:ext cx="7263702" cy="794064"/>
          </a:xfrm>
          <a:prstGeom prst="rect">
            <a:avLst/>
          </a:prstGeom>
          <a:noFill/>
        </p:spPr>
        <p:txBody>
          <a:bodyPr wrap="square" rtlCol="0">
            <a:spAutoFit/>
          </a:bodyPr>
          <a:lstStyle/>
          <a:p>
            <a:r>
              <a:rPr lang="en-US" sz="4560" dirty="0">
                <a:solidFill>
                  <a:srgbClr val="FF0000"/>
                </a:solidFill>
                <a:latin typeface="Aptos Black" panose="020B0004020202020204" pitchFamily="34" charset="0"/>
              </a:rPr>
              <a:t>Prototype</a:t>
            </a:r>
            <a:r>
              <a:rPr lang="en-US" sz="4560" dirty="0">
                <a:solidFill>
                  <a:schemeClr val="bg1"/>
                </a:solidFill>
                <a:latin typeface="Aptos Black" panose="020B0004020202020204" pitchFamily="34" charset="0"/>
              </a:rPr>
              <a:t> of Mobile App</a:t>
            </a:r>
          </a:p>
        </p:txBody>
      </p:sp>
      <p:sp>
        <p:nvSpPr>
          <p:cNvPr id="11" name="Rectangle 10">
            <a:extLst>
              <a:ext uri="{FF2B5EF4-FFF2-40B4-BE49-F238E27FC236}">
                <a16:creationId xmlns:a16="http://schemas.microsoft.com/office/drawing/2014/main" id="{8F786691-F2C9-ECBE-8D19-4FE99C2503E0}"/>
              </a:ext>
            </a:extLst>
          </p:cNvPr>
          <p:cNvSpPr/>
          <p:nvPr/>
        </p:nvSpPr>
        <p:spPr>
          <a:xfrm rot="5400000">
            <a:off x="20636371" y="410836"/>
            <a:ext cx="2701661"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Crash Detection</a:t>
            </a:r>
          </a:p>
        </p:txBody>
      </p:sp>
      <p:grpSp>
        <p:nvGrpSpPr>
          <p:cNvPr id="12" name="Group 47">
            <a:extLst>
              <a:ext uri="{FF2B5EF4-FFF2-40B4-BE49-F238E27FC236}">
                <a16:creationId xmlns:a16="http://schemas.microsoft.com/office/drawing/2014/main" id="{9AFBF8B6-B3D8-04AB-D708-7C326CFF1F3C}"/>
              </a:ext>
            </a:extLst>
          </p:cNvPr>
          <p:cNvGrpSpPr>
            <a:grpSpLocks noChangeAspect="1"/>
          </p:cNvGrpSpPr>
          <p:nvPr/>
        </p:nvGrpSpPr>
        <p:grpSpPr>
          <a:xfrm rot="21571874">
            <a:off x="19564184" y="-2601770"/>
            <a:ext cx="3127859" cy="6189006"/>
            <a:chOff x="0" y="0"/>
            <a:chExt cx="2620010" cy="5184140"/>
          </a:xfrm>
          <a:scene3d>
            <a:camera prst="isometricOffAxis2Left"/>
            <a:lightRig rig="threePt" dir="t"/>
          </a:scene3d>
        </p:grpSpPr>
        <p:sp>
          <p:nvSpPr>
            <p:cNvPr id="13" name="Freeform 48">
              <a:extLst>
                <a:ext uri="{FF2B5EF4-FFF2-40B4-BE49-F238E27FC236}">
                  <a16:creationId xmlns:a16="http://schemas.microsoft.com/office/drawing/2014/main" id="{4F8D96E5-C9BD-6A2F-98CD-459D9328F9D6}"/>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4" name="Freeform 49">
              <a:extLst>
                <a:ext uri="{FF2B5EF4-FFF2-40B4-BE49-F238E27FC236}">
                  <a16:creationId xmlns:a16="http://schemas.microsoft.com/office/drawing/2014/main" id="{829C023E-07B6-FD1A-3AB2-9ECA2CC06117}"/>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7"/>
              <a:srcRect/>
              <a:stretch>
                <a:fillRect/>
              </a:stretch>
            </a:blipFill>
          </p:spPr>
          <p:txBody>
            <a:bodyPr/>
            <a:lstStyle/>
            <a:p>
              <a:endParaRPr lang="en-US"/>
            </a:p>
          </p:txBody>
        </p:sp>
        <p:sp>
          <p:nvSpPr>
            <p:cNvPr id="15" name="Freeform 50">
              <a:extLst>
                <a:ext uri="{FF2B5EF4-FFF2-40B4-BE49-F238E27FC236}">
                  <a16:creationId xmlns:a16="http://schemas.microsoft.com/office/drawing/2014/main" id="{BB6D15FC-63AB-897F-3966-00A0EAFF7853}"/>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6" name="Freeform 51">
              <a:extLst>
                <a:ext uri="{FF2B5EF4-FFF2-40B4-BE49-F238E27FC236}">
                  <a16:creationId xmlns:a16="http://schemas.microsoft.com/office/drawing/2014/main" id="{61915AE2-C71F-0529-05EB-9E266B8AFA7E}"/>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7" name="Freeform 52">
              <a:extLst>
                <a:ext uri="{FF2B5EF4-FFF2-40B4-BE49-F238E27FC236}">
                  <a16:creationId xmlns:a16="http://schemas.microsoft.com/office/drawing/2014/main" id="{935D8204-FF2B-24C9-6897-975B820B26C8}"/>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8" name="Freeform 53">
              <a:extLst>
                <a:ext uri="{FF2B5EF4-FFF2-40B4-BE49-F238E27FC236}">
                  <a16:creationId xmlns:a16="http://schemas.microsoft.com/office/drawing/2014/main" id="{A0D9835B-5FFF-98D6-1E63-755BDA1DC726}"/>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9" name="Freeform 54">
              <a:extLst>
                <a:ext uri="{FF2B5EF4-FFF2-40B4-BE49-F238E27FC236}">
                  <a16:creationId xmlns:a16="http://schemas.microsoft.com/office/drawing/2014/main" id="{33946241-A4D6-2B5C-0116-80F27221865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80" name="Freeform 55">
              <a:extLst>
                <a:ext uri="{FF2B5EF4-FFF2-40B4-BE49-F238E27FC236}">
                  <a16:creationId xmlns:a16="http://schemas.microsoft.com/office/drawing/2014/main" id="{1E780AF0-F408-89C2-2D73-68198CCDF455}"/>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81" name="Freeform 56">
              <a:extLst>
                <a:ext uri="{FF2B5EF4-FFF2-40B4-BE49-F238E27FC236}">
                  <a16:creationId xmlns:a16="http://schemas.microsoft.com/office/drawing/2014/main" id="{A13542E2-33D6-30F6-212D-958D41F8B947}"/>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82" name="Rectangle 81">
            <a:extLst>
              <a:ext uri="{FF2B5EF4-FFF2-40B4-BE49-F238E27FC236}">
                <a16:creationId xmlns:a16="http://schemas.microsoft.com/office/drawing/2014/main" id="{594D22EB-50D7-F20D-C77B-B4D36E58FE71}"/>
              </a:ext>
            </a:extLst>
          </p:cNvPr>
          <p:cNvSpPr/>
          <p:nvPr/>
        </p:nvSpPr>
        <p:spPr>
          <a:xfrm rot="5400000">
            <a:off x="19985627" y="17269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Crime Reporting</a:t>
            </a:r>
          </a:p>
        </p:txBody>
      </p:sp>
      <p:grpSp>
        <p:nvGrpSpPr>
          <p:cNvPr id="83" name="Group 17">
            <a:extLst>
              <a:ext uri="{FF2B5EF4-FFF2-40B4-BE49-F238E27FC236}">
                <a16:creationId xmlns:a16="http://schemas.microsoft.com/office/drawing/2014/main" id="{BB876A33-FBBD-B5C6-8A86-1CCE86ECF324}"/>
              </a:ext>
            </a:extLst>
          </p:cNvPr>
          <p:cNvGrpSpPr>
            <a:grpSpLocks noChangeAspect="1"/>
          </p:cNvGrpSpPr>
          <p:nvPr/>
        </p:nvGrpSpPr>
        <p:grpSpPr>
          <a:xfrm rot="21571874">
            <a:off x="19062460" y="-2419543"/>
            <a:ext cx="3127859" cy="6189006"/>
            <a:chOff x="0" y="0"/>
            <a:chExt cx="2620010" cy="5184140"/>
          </a:xfrm>
          <a:scene3d>
            <a:camera prst="isometricOffAxis2Left"/>
            <a:lightRig rig="threePt" dir="t"/>
          </a:scene3d>
        </p:grpSpPr>
        <p:sp>
          <p:nvSpPr>
            <p:cNvPr id="84" name="Freeform 18">
              <a:extLst>
                <a:ext uri="{FF2B5EF4-FFF2-40B4-BE49-F238E27FC236}">
                  <a16:creationId xmlns:a16="http://schemas.microsoft.com/office/drawing/2014/main" id="{F30D3840-9F05-E9E8-3326-65C39C7075FF}"/>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85" name="Freeform 19">
              <a:extLst>
                <a:ext uri="{FF2B5EF4-FFF2-40B4-BE49-F238E27FC236}">
                  <a16:creationId xmlns:a16="http://schemas.microsoft.com/office/drawing/2014/main" id="{D40ABCEF-EA71-B896-FEBA-43E636FDDE54}"/>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8"/>
              <a:srcRect/>
              <a:stretch>
                <a:fillRect/>
              </a:stretch>
            </a:blipFill>
          </p:spPr>
          <p:txBody>
            <a:bodyPr/>
            <a:lstStyle/>
            <a:p>
              <a:endParaRPr lang="en-US"/>
            </a:p>
          </p:txBody>
        </p:sp>
        <p:sp>
          <p:nvSpPr>
            <p:cNvPr id="86" name="Freeform 20">
              <a:extLst>
                <a:ext uri="{FF2B5EF4-FFF2-40B4-BE49-F238E27FC236}">
                  <a16:creationId xmlns:a16="http://schemas.microsoft.com/office/drawing/2014/main" id="{9DF66A8C-5F9E-0CD4-19AF-B7AF93C54266}"/>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87" name="Freeform 21">
              <a:extLst>
                <a:ext uri="{FF2B5EF4-FFF2-40B4-BE49-F238E27FC236}">
                  <a16:creationId xmlns:a16="http://schemas.microsoft.com/office/drawing/2014/main" id="{19CD24EA-33F5-1456-7B09-F6582B08A801}"/>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88" name="Freeform 22">
              <a:extLst>
                <a:ext uri="{FF2B5EF4-FFF2-40B4-BE49-F238E27FC236}">
                  <a16:creationId xmlns:a16="http://schemas.microsoft.com/office/drawing/2014/main" id="{6A5CBAD2-A8A6-8E65-4003-7BA10B049201}"/>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89" name="Freeform 23">
              <a:extLst>
                <a:ext uri="{FF2B5EF4-FFF2-40B4-BE49-F238E27FC236}">
                  <a16:creationId xmlns:a16="http://schemas.microsoft.com/office/drawing/2014/main" id="{88BA3C47-068B-8F7B-BE6E-5DE758E7F230}"/>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90" name="Freeform 24">
              <a:extLst>
                <a:ext uri="{FF2B5EF4-FFF2-40B4-BE49-F238E27FC236}">
                  <a16:creationId xmlns:a16="http://schemas.microsoft.com/office/drawing/2014/main" id="{98E323B2-3AB7-1417-97E2-C9FBE7FFA7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91" name="Freeform 25">
              <a:extLst>
                <a:ext uri="{FF2B5EF4-FFF2-40B4-BE49-F238E27FC236}">
                  <a16:creationId xmlns:a16="http://schemas.microsoft.com/office/drawing/2014/main" id="{EA9B4118-96EF-107F-E0AF-899F532F66F5}"/>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92" name="Freeform 26">
              <a:extLst>
                <a:ext uri="{FF2B5EF4-FFF2-40B4-BE49-F238E27FC236}">
                  <a16:creationId xmlns:a16="http://schemas.microsoft.com/office/drawing/2014/main" id="{FF28437B-0B5D-82A3-6B82-4576B155BA7A}"/>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93" name="Rectangle 92">
            <a:extLst>
              <a:ext uri="{FF2B5EF4-FFF2-40B4-BE49-F238E27FC236}">
                <a16:creationId xmlns:a16="http://schemas.microsoft.com/office/drawing/2014/main" id="{1F55D2D9-89D8-72ED-CC10-C8D6B9CB3F80}"/>
              </a:ext>
            </a:extLst>
          </p:cNvPr>
          <p:cNvSpPr/>
          <p:nvPr/>
        </p:nvSpPr>
        <p:spPr>
          <a:xfrm rot="5400000">
            <a:off x="19581475" y="561134"/>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Contact via Satellite</a:t>
            </a:r>
          </a:p>
        </p:txBody>
      </p:sp>
      <p:grpSp>
        <p:nvGrpSpPr>
          <p:cNvPr id="94" name="Group 27">
            <a:extLst>
              <a:ext uri="{FF2B5EF4-FFF2-40B4-BE49-F238E27FC236}">
                <a16:creationId xmlns:a16="http://schemas.microsoft.com/office/drawing/2014/main" id="{9FA56331-BB94-B889-C725-0CD66CE18010}"/>
              </a:ext>
            </a:extLst>
          </p:cNvPr>
          <p:cNvGrpSpPr>
            <a:grpSpLocks noChangeAspect="1"/>
          </p:cNvGrpSpPr>
          <p:nvPr/>
        </p:nvGrpSpPr>
        <p:grpSpPr>
          <a:xfrm rot="21571874">
            <a:off x="18878696" y="-2049596"/>
            <a:ext cx="3127859" cy="6189006"/>
            <a:chOff x="0" y="0"/>
            <a:chExt cx="2620010" cy="5184140"/>
          </a:xfrm>
          <a:scene3d>
            <a:camera prst="isometricOffAxis2Left"/>
            <a:lightRig rig="threePt" dir="t"/>
          </a:scene3d>
        </p:grpSpPr>
        <p:sp>
          <p:nvSpPr>
            <p:cNvPr id="95" name="Freeform 28">
              <a:extLst>
                <a:ext uri="{FF2B5EF4-FFF2-40B4-BE49-F238E27FC236}">
                  <a16:creationId xmlns:a16="http://schemas.microsoft.com/office/drawing/2014/main" id="{9BC2F101-C57B-2214-3C2C-D3715D4335AC}"/>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96" name="Freeform 29">
              <a:extLst>
                <a:ext uri="{FF2B5EF4-FFF2-40B4-BE49-F238E27FC236}">
                  <a16:creationId xmlns:a16="http://schemas.microsoft.com/office/drawing/2014/main" id="{55568338-A745-34A9-8357-2415444C59DD}"/>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9"/>
              <a:srcRect/>
              <a:stretch>
                <a:fillRect/>
              </a:stretch>
            </a:blipFill>
          </p:spPr>
          <p:txBody>
            <a:bodyPr/>
            <a:lstStyle/>
            <a:p>
              <a:endParaRPr lang="en-US" dirty="0"/>
            </a:p>
          </p:txBody>
        </p:sp>
        <p:sp>
          <p:nvSpPr>
            <p:cNvPr id="97" name="Freeform 30">
              <a:extLst>
                <a:ext uri="{FF2B5EF4-FFF2-40B4-BE49-F238E27FC236}">
                  <a16:creationId xmlns:a16="http://schemas.microsoft.com/office/drawing/2014/main" id="{67BBCB44-48BA-4344-4BE4-958237B376F8}"/>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98" name="Freeform 31">
              <a:extLst>
                <a:ext uri="{FF2B5EF4-FFF2-40B4-BE49-F238E27FC236}">
                  <a16:creationId xmlns:a16="http://schemas.microsoft.com/office/drawing/2014/main" id="{43CEB46E-121F-C8CD-4157-148EE62D73E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99" name="Freeform 32">
              <a:extLst>
                <a:ext uri="{FF2B5EF4-FFF2-40B4-BE49-F238E27FC236}">
                  <a16:creationId xmlns:a16="http://schemas.microsoft.com/office/drawing/2014/main" id="{8D41A51E-803A-CB4F-7C25-683267211261}"/>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00" name="Freeform 33">
              <a:extLst>
                <a:ext uri="{FF2B5EF4-FFF2-40B4-BE49-F238E27FC236}">
                  <a16:creationId xmlns:a16="http://schemas.microsoft.com/office/drawing/2014/main" id="{6A09D928-3978-F946-5585-430AF94551DA}"/>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01" name="Freeform 34">
              <a:extLst>
                <a:ext uri="{FF2B5EF4-FFF2-40B4-BE49-F238E27FC236}">
                  <a16:creationId xmlns:a16="http://schemas.microsoft.com/office/drawing/2014/main" id="{4F6884B2-B2E9-7FB9-B667-ED47E2FE601E}"/>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02" name="Freeform 35">
              <a:extLst>
                <a:ext uri="{FF2B5EF4-FFF2-40B4-BE49-F238E27FC236}">
                  <a16:creationId xmlns:a16="http://schemas.microsoft.com/office/drawing/2014/main" id="{36FA6A84-CD19-F5DF-A3E3-945350257ED2}"/>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03" name="Freeform 36">
              <a:extLst>
                <a:ext uri="{FF2B5EF4-FFF2-40B4-BE49-F238E27FC236}">
                  <a16:creationId xmlns:a16="http://schemas.microsoft.com/office/drawing/2014/main" id="{E2E796AA-81A1-3BAF-C862-D8C0C297F02B}"/>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104" name="Rectangle 103">
            <a:extLst>
              <a:ext uri="{FF2B5EF4-FFF2-40B4-BE49-F238E27FC236}">
                <a16:creationId xmlns:a16="http://schemas.microsoft.com/office/drawing/2014/main" id="{FD2EE8DE-A967-55AD-BC60-7A8D8419360F}"/>
              </a:ext>
            </a:extLst>
          </p:cNvPr>
          <p:cNvSpPr/>
          <p:nvPr/>
        </p:nvSpPr>
        <p:spPr>
          <a:xfrm rot="5400000">
            <a:off x="19102072" y="534827"/>
            <a:ext cx="3220465"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Contact Hospital</a:t>
            </a:r>
          </a:p>
        </p:txBody>
      </p:sp>
      <p:grpSp>
        <p:nvGrpSpPr>
          <p:cNvPr id="105" name="Group 37">
            <a:extLst>
              <a:ext uri="{FF2B5EF4-FFF2-40B4-BE49-F238E27FC236}">
                <a16:creationId xmlns:a16="http://schemas.microsoft.com/office/drawing/2014/main" id="{C41DA4AA-AD08-5243-EE39-92A79EFFA5D9}"/>
              </a:ext>
            </a:extLst>
          </p:cNvPr>
          <p:cNvGrpSpPr>
            <a:grpSpLocks noChangeAspect="1"/>
          </p:cNvGrpSpPr>
          <p:nvPr/>
        </p:nvGrpSpPr>
        <p:grpSpPr>
          <a:xfrm rot="21571874">
            <a:off x="18392255" y="-1971144"/>
            <a:ext cx="3127859" cy="6189006"/>
            <a:chOff x="0" y="0"/>
            <a:chExt cx="2620010" cy="5184140"/>
          </a:xfrm>
          <a:scene3d>
            <a:camera prst="isometricOffAxis2Left"/>
            <a:lightRig rig="threePt" dir="t"/>
          </a:scene3d>
        </p:grpSpPr>
        <p:sp>
          <p:nvSpPr>
            <p:cNvPr id="106" name="Freeform 38">
              <a:extLst>
                <a:ext uri="{FF2B5EF4-FFF2-40B4-BE49-F238E27FC236}">
                  <a16:creationId xmlns:a16="http://schemas.microsoft.com/office/drawing/2014/main" id="{A02335EF-65F7-AD6B-3F72-6D93F060446B}"/>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07" name="Freeform 39">
              <a:extLst>
                <a:ext uri="{FF2B5EF4-FFF2-40B4-BE49-F238E27FC236}">
                  <a16:creationId xmlns:a16="http://schemas.microsoft.com/office/drawing/2014/main" id="{ACDD1627-0797-C2F2-991C-4BE3AAACDA90}"/>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10"/>
              <a:srcRect/>
              <a:stretch>
                <a:fillRect/>
              </a:stretch>
            </a:blipFill>
          </p:spPr>
          <p:txBody>
            <a:bodyPr/>
            <a:lstStyle/>
            <a:p>
              <a:endParaRPr lang="en-US"/>
            </a:p>
          </p:txBody>
        </p:sp>
        <p:sp>
          <p:nvSpPr>
            <p:cNvPr id="108" name="Freeform 40">
              <a:extLst>
                <a:ext uri="{FF2B5EF4-FFF2-40B4-BE49-F238E27FC236}">
                  <a16:creationId xmlns:a16="http://schemas.microsoft.com/office/drawing/2014/main" id="{3489A59D-B12A-BC7D-3898-0FC0F6A481C4}"/>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09" name="Freeform 41">
              <a:extLst>
                <a:ext uri="{FF2B5EF4-FFF2-40B4-BE49-F238E27FC236}">
                  <a16:creationId xmlns:a16="http://schemas.microsoft.com/office/drawing/2014/main" id="{43A4C62B-02AB-CCF0-7BC4-941A7F2C1A4B}"/>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110" name="Freeform 42">
              <a:extLst>
                <a:ext uri="{FF2B5EF4-FFF2-40B4-BE49-F238E27FC236}">
                  <a16:creationId xmlns:a16="http://schemas.microsoft.com/office/drawing/2014/main" id="{295D5971-7264-81FA-C2DC-9E9CD09F7F6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11" name="Freeform 43">
              <a:extLst>
                <a:ext uri="{FF2B5EF4-FFF2-40B4-BE49-F238E27FC236}">
                  <a16:creationId xmlns:a16="http://schemas.microsoft.com/office/drawing/2014/main" id="{2257D53A-58A1-7973-6E8C-EA8E444A919E}"/>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12" name="Freeform 44">
              <a:extLst>
                <a:ext uri="{FF2B5EF4-FFF2-40B4-BE49-F238E27FC236}">
                  <a16:creationId xmlns:a16="http://schemas.microsoft.com/office/drawing/2014/main" id="{E31AD2EA-C0CE-E860-6851-5283C7143F2F}"/>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13" name="Freeform 45">
              <a:extLst>
                <a:ext uri="{FF2B5EF4-FFF2-40B4-BE49-F238E27FC236}">
                  <a16:creationId xmlns:a16="http://schemas.microsoft.com/office/drawing/2014/main" id="{1B39D909-E166-4B99-869F-AD972601D862}"/>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14" name="Freeform 46">
              <a:extLst>
                <a:ext uri="{FF2B5EF4-FFF2-40B4-BE49-F238E27FC236}">
                  <a16:creationId xmlns:a16="http://schemas.microsoft.com/office/drawing/2014/main" id="{2ABB3169-9146-61B5-329C-7537B0E9377F}"/>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350566543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84789-B5B9-81A7-8125-F2E9C0BE4D48}"/>
              </a:ext>
            </a:extLst>
          </p:cNvPr>
          <p:cNvSpPr/>
          <p:nvPr/>
        </p:nvSpPr>
        <p:spPr>
          <a:xfrm rot="5400000">
            <a:off x="14360465" y="3725871"/>
            <a:ext cx="2701661"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Crash Detection</a:t>
            </a:r>
          </a:p>
        </p:txBody>
      </p:sp>
      <p:grpSp>
        <p:nvGrpSpPr>
          <p:cNvPr id="47" name="Group 47"/>
          <p:cNvGrpSpPr>
            <a:grpSpLocks noChangeAspect="1"/>
          </p:cNvGrpSpPr>
          <p:nvPr/>
        </p:nvGrpSpPr>
        <p:grpSpPr>
          <a:xfrm rot="21571874">
            <a:off x="12571497" y="713265"/>
            <a:ext cx="3127859" cy="6189006"/>
            <a:chOff x="0" y="0"/>
            <a:chExt cx="2620010" cy="5184140"/>
          </a:xfrm>
          <a:scene3d>
            <a:camera prst="isometricOffAxis2Left"/>
            <a:lightRig rig="threePt" dir="t"/>
          </a:scene3d>
        </p:grpSpPr>
        <p:sp>
          <p:nvSpPr>
            <p:cNvPr id="48" name="Freeform 4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9" name="Freeform 4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50" name="Freeform 5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1" name="Freeform 5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52" name="Freeform 5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3" name="Freeform 5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4" name="Freeform 5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5" name="Freeform 5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6" name="Freeform 5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8" name="Rectangle 7">
            <a:extLst>
              <a:ext uri="{FF2B5EF4-FFF2-40B4-BE49-F238E27FC236}">
                <a16:creationId xmlns:a16="http://schemas.microsoft.com/office/drawing/2014/main" id="{642A9CE7-5C84-7024-71AD-B8C9A505B1D1}"/>
              </a:ext>
            </a:extLst>
          </p:cNvPr>
          <p:cNvSpPr/>
          <p:nvPr/>
        </p:nvSpPr>
        <p:spPr>
          <a:xfrm rot="5400000">
            <a:off x="10817424" y="4298290"/>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Crime Reporting</a:t>
            </a:r>
          </a:p>
        </p:txBody>
      </p:sp>
      <p:grpSp>
        <p:nvGrpSpPr>
          <p:cNvPr id="17" name="Group 17"/>
          <p:cNvGrpSpPr>
            <a:grpSpLocks noChangeAspect="1"/>
          </p:cNvGrpSpPr>
          <p:nvPr/>
        </p:nvGrpSpPr>
        <p:grpSpPr>
          <a:xfrm rot="21571874">
            <a:off x="9025076" y="1706048"/>
            <a:ext cx="3127859" cy="6189006"/>
            <a:chOff x="0" y="0"/>
            <a:chExt cx="2620010" cy="5184140"/>
          </a:xfrm>
          <a:scene3d>
            <a:camera prst="isometricOffAxis2Left"/>
            <a:lightRig rig="threePt" dir="t"/>
          </a:scene3d>
        </p:grpSpPr>
        <p:sp>
          <p:nvSpPr>
            <p:cNvPr id="18" name="Freeform 1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19" name="Freeform 1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a:p>
          </p:txBody>
        </p:sp>
        <p:sp>
          <p:nvSpPr>
            <p:cNvPr id="20" name="Freeform 2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21" name="Freeform 2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22" name="Freeform 2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23" name="Freeform 2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24" name="Freeform 2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25" name="Freeform 2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26" name="Freeform 2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7" name="Rectangle 6">
            <a:extLst>
              <a:ext uri="{FF2B5EF4-FFF2-40B4-BE49-F238E27FC236}">
                <a16:creationId xmlns:a16="http://schemas.microsoft.com/office/drawing/2014/main" id="{3DB81491-72A5-261C-85FC-2B07C9CE72DB}"/>
              </a:ext>
            </a:extLst>
          </p:cNvPr>
          <p:cNvSpPr/>
          <p:nvPr/>
        </p:nvSpPr>
        <p:spPr>
          <a:xfrm rot="5400000">
            <a:off x="7312224" y="5288890"/>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Contact via Satellite</a:t>
            </a:r>
          </a:p>
        </p:txBody>
      </p:sp>
      <p:grpSp>
        <p:nvGrpSpPr>
          <p:cNvPr id="27" name="Group 27"/>
          <p:cNvGrpSpPr>
            <a:grpSpLocks noChangeAspect="1"/>
          </p:cNvGrpSpPr>
          <p:nvPr/>
        </p:nvGrpSpPr>
        <p:grpSpPr>
          <a:xfrm rot="21571874">
            <a:off x="5511664" y="2678160"/>
            <a:ext cx="3127859" cy="6189006"/>
            <a:chOff x="0" y="0"/>
            <a:chExt cx="2620010" cy="5184140"/>
          </a:xfrm>
          <a:scene3d>
            <a:camera prst="isometricOffAxis2Left"/>
            <a:lightRig rig="threePt" dir="t"/>
          </a:scene3d>
        </p:grpSpPr>
        <p:sp>
          <p:nvSpPr>
            <p:cNvPr id="28" name="Freeform 2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29" name="Freeform 2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dirty="0"/>
            </a:p>
          </p:txBody>
        </p:sp>
        <p:sp>
          <p:nvSpPr>
            <p:cNvPr id="30" name="Freeform 3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1" name="Freeform 3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2" name="Freeform 3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3" name="Freeform 3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4" name="Freeform 3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5" name="Freeform 3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6" name="Freeform 3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2" name="Rectangle 1">
            <a:extLst>
              <a:ext uri="{FF2B5EF4-FFF2-40B4-BE49-F238E27FC236}">
                <a16:creationId xmlns:a16="http://schemas.microsoft.com/office/drawing/2014/main" id="{3D1C5D3C-0BD1-3870-53D4-7F5F584541CD}"/>
              </a:ext>
            </a:extLst>
          </p:cNvPr>
          <p:cNvSpPr/>
          <p:nvPr/>
        </p:nvSpPr>
        <p:spPr>
          <a:xfrm rot="5400000">
            <a:off x="3509263" y="6138163"/>
            <a:ext cx="3220465"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badi" panose="020B0604020202020204" pitchFamily="34" charset="0"/>
              </a:rPr>
              <a:t>Contact Hospital</a:t>
            </a:r>
          </a:p>
        </p:txBody>
      </p:sp>
      <p:grpSp>
        <p:nvGrpSpPr>
          <p:cNvPr id="37" name="Group 37"/>
          <p:cNvGrpSpPr>
            <a:grpSpLocks noChangeAspect="1"/>
          </p:cNvGrpSpPr>
          <p:nvPr/>
        </p:nvGrpSpPr>
        <p:grpSpPr>
          <a:xfrm rot="21571874">
            <a:off x="2006465" y="3632192"/>
            <a:ext cx="3127859" cy="6189006"/>
            <a:chOff x="0" y="0"/>
            <a:chExt cx="2620010" cy="5184140"/>
          </a:xfrm>
          <a:scene3d>
            <a:camera prst="isometricOffAxis2Left"/>
            <a:lightRig rig="threePt" dir="t"/>
          </a:scene3d>
        </p:grpSpPr>
        <p:sp>
          <p:nvSpPr>
            <p:cNvPr id="38" name="Freeform 38"/>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9" name="Freeform 39"/>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6"/>
              <a:srcRect/>
              <a:stretch>
                <a:fillRect/>
              </a:stretch>
            </a:blipFill>
          </p:spPr>
          <p:txBody>
            <a:bodyPr/>
            <a:lstStyle/>
            <a:p>
              <a:endParaRPr lang="en-US"/>
            </a:p>
          </p:txBody>
        </p:sp>
        <p:sp>
          <p:nvSpPr>
            <p:cNvPr id="40" name="Freeform 40"/>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1" name="Freeform 41"/>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2" name="Freeform 42"/>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43" name="Freeform 43"/>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44" name="Freeform 44"/>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45" name="Freeform 45"/>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46" name="Freeform 46"/>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10" name="TextBox 9">
            <a:extLst>
              <a:ext uri="{FF2B5EF4-FFF2-40B4-BE49-F238E27FC236}">
                <a16:creationId xmlns:a16="http://schemas.microsoft.com/office/drawing/2014/main" id="{81BE3D08-316E-6315-B51F-6F7D961B5103}"/>
              </a:ext>
            </a:extLst>
          </p:cNvPr>
          <p:cNvSpPr txBox="1"/>
          <p:nvPr/>
        </p:nvSpPr>
        <p:spPr>
          <a:xfrm>
            <a:off x="685800" y="716889"/>
            <a:ext cx="7263702" cy="794064"/>
          </a:xfrm>
          <a:prstGeom prst="rect">
            <a:avLst/>
          </a:prstGeom>
          <a:noFill/>
        </p:spPr>
        <p:txBody>
          <a:bodyPr wrap="square" rtlCol="0">
            <a:spAutoFit/>
          </a:bodyPr>
          <a:lstStyle/>
          <a:p>
            <a:r>
              <a:rPr lang="en-US" sz="4560" dirty="0">
                <a:solidFill>
                  <a:srgbClr val="FF0000"/>
                </a:solidFill>
                <a:latin typeface="Aptos Black" panose="020B0004020202020204" pitchFamily="34" charset="0"/>
              </a:rPr>
              <a:t>Prototype</a:t>
            </a:r>
            <a:r>
              <a:rPr lang="en-US" sz="4560" dirty="0">
                <a:solidFill>
                  <a:schemeClr val="bg1"/>
                </a:solidFill>
                <a:latin typeface="Aptos Black" panose="020B0004020202020204" pitchFamily="34" charset="0"/>
              </a:rPr>
              <a:t> of Mobile App</a:t>
            </a:r>
          </a:p>
        </p:txBody>
      </p:sp>
      <p:grpSp>
        <p:nvGrpSpPr>
          <p:cNvPr id="3" name="Group 27">
            <a:extLst>
              <a:ext uri="{FF2B5EF4-FFF2-40B4-BE49-F238E27FC236}">
                <a16:creationId xmlns:a16="http://schemas.microsoft.com/office/drawing/2014/main" id="{A08BBD7D-989C-A88A-4E8D-672775B9F941}"/>
              </a:ext>
            </a:extLst>
          </p:cNvPr>
          <p:cNvGrpSpPr>
            <a:grpSpLocks noChangeAspect="1"/>
          </p:cNvGrpSpPr>
          <p:nvPr/>
        </p:nvGrpSpPr>
        <p:grpSpPr>
          <a:xfrm>
            <a:off x="4395924" y="11766644"/>
            <a:ext cx="3321504" cy="6572166"/>
            <a:chOff x="0" y="0"/>
            <a:chExt cx="2620010" cy="5184140"/>
          </a:xfrm>
        </p:grpSpPr>
        <p:sp>
          <p:nvSpPr>
            <p:cNvPr id="4" name="Freeform 28">
              <a:extLst>
                <a:ext uri="{FF2B5EF4-FFF2-40B4-BE49-F238E27FC236}">
                  <a16:creationId xmlns:a16="http://schemas.microsoft.com/office/drawing/2014/main" id="{3E3FCC73-0AAE-16C4-7BFC-93396CD74DF4}"/>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 name="Freeform 29">
              <a:extLst>
                <a:ext uri="{FF2B5EF4-FFF2-40B4-BE49-F238E27FC236}">
                  <a16:creationId xmlns:a16="http://schemas.microsoft.com/office/drawing/2014/main" id="{3B38F0D4-9ABE-DEF3-6DE8-0C6E3F8E8E62}"/>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7"/>
              <a:srcRect/>
              <a:stretch>
                <a:fillRect/>
              </a:stretch>
            </a:blipFill>
          </p:spPr>
          <p:txBody>
            <a:bodyPr/>
            <a:lstStyle/>
            <a:p>
              <a:endParaRPr lang="en-US" dirty="0"/>
            </a:p>
          </p:txBody>
        </p:sp>
        <p:sp>
          <p:nvSpPr>
            <p:cNvPr id="6" name="Freeform 30">
              <a:extLst>
                <a:ext uri="{FF2B5EF4-FFF2-40B4-BE49-F238E27FC236}">
                  <a16:creationId xmlns:a16="http://schemas.microsoft.com/office/drawing/2014/main" id="{2EE56952-6D0B-3E3E-47E7-ED6434557931}"/>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11" name="Freeform 31">
              <a:extLst>
                <a:ext uri="{FF2B5EF4-FFF2-40B4-BE49-F238E27FC236}">
                  <a16:creationId xmlns:a16="http://schemas.microsoft.com/office/drawing/2014/main" id="{01F51A4D-013D-B284-FB44-602802643609}"/>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12" name="Freeform 32">
              <a:extLst>
                <a:ext uri="{FF2B5EF4-FFF2-40B4-BE49-F238E27FC236}">
                  <a16:creationId xmlns:a16="http://schemas.microsoft.com/office/drawing/2014/main" id="{EDC77661-DAD5-0FBB-C102-6DC7D904E8C9}"/>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13" name="Freeform 33">
              <a:extLst>
                <a:ext uri="{FF2B5EF4-FFF2-40B4-BE49-F238E27FC236}">
                  <a16:creationId xmlns:a16="http://schemas.microsoft.com/office/drawing/2014/main" id="{0A799498-E6BB-2E27-21C8-FF33D8A1C152}"/>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14" name="Freeform 34">
              <a:extLst>
                <a:ext uri="{FF2B5EF4-FFF2-40B4-BE49-F238E27FC236}">
                  <a16:creationId xmlns:a16="http://schemas.microsoft.com/office/drawing/2014/main" id="{CB6580CE-0CE2-D217-2673-8C9EA90D8E5F}"/>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15" name="Freeform 35">
              <a:extLst>
                <a:ext uri="{FF2B5EF4-FFF2-40B4-BE49-F238E27FC236}">
                  <a16:creationId xmlns:a16="http://schemas.microsoft.com/office/drawing/2014/main" id="{8DEB31FA-EEE3-3074-5A71-9B0F090E4577}"/>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6" name="Freeform 36">
              <a:extLst>
                <a:ext uri="{FF2B5EF4-FFF2-40B4-BE49-F238E27FC236}">
                  <a16:creationId xmlns:a16="http://schemas.microsoft.com/office/drawing/2014/main" id="{78E03897-1519-273E-400D-EA97E76310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7" name="Rectangle 56">
            <a:extLst>
              <a:ext uri="{FF2B5EF4-FFF2-40B4-BE49-F238E27FC236}">
                <a16:creationId xmlns:a16="http://schemas.microsoft.com/office/drawing/2014/main" id="{5A558194-1E5B-C289-091A-51A9538AA36B}"/>
              </a:ext>
            </a:extLst>
          </p:cNvPr>
          <p:cNvSpPr/>
          <p:nvPr/>
        </p:nvSpPr>
        <p:spPr>
          <a:xfrm rot="5400000">
            <a:off x="-3463643" y="10723472"/>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58" name="Group 47">
            <a:extLst>
              <a:ext uri="{FF2B5EF4-FFF2-40B4-BE49-F238E27FC236}">
                <a16:creationId xmlns:a16="http://schemas.microsoft.com/office/drawing/2014/main" id="{47E03DD2-FBB5-8603-E9DC-17CDED00D01C}"/>
              </a:ext>
            </a:extLst>
          </p:cNvPr>
          <p:cNvGrpSpPr>
            <a:grpSpLocks noChangeAspect="1"/>
          </p:cNvGrpSpPr>
          <p:nvPr/>
        </p:nvGrpSpPr>
        <p:grpSpPr>
          <a:xfrm rot="21571874">
            <a:off x="-3793633" y="7929166"/>
            <a:ext cx="3127859" cy="6189006"/>
            <a:chOff x="0" y="0"/>
            <a:chExt cx="2620010" cy="5184140"/>
          </a:xfrm>
          <a:scene3d>
            <a:camera prst="isometricOffAxis2Left"/>
            <a:lightRig rig="threePt" dir="t"/>
          </a:scene3d>
        </p:grpSpPr>
        <p:sp>
          <p:nvSpPr>
            <p:cNvPr id="59" name="Freeform 48">
              <a:extLst>
                <a:ext uri="{FF2B5EF4-FFF2-40B4-BE49-F238E27FC236}">
                  <a16:creationId xmlns:a16="http://schemas.microsoft.com/office/drawing/2014/main" id="{2E1D4E33-891F-9334-264F-4A9BCD91A88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0" name="Freeform 49">
              <a:extLst>
                <a:ext uri="{FF2B5EF4-FFF2-40B4-BE49-F238E27FC236}">
                  <a16:creationId xmlns:a16="http://schemas.microsoft.com/office/drawing/2014/main" id="{7356DD00-62F3-47CF-E68D-365D3D4F3C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8"/>
              <a:srcRect/>
              <a:stretch>
                <a:fillRect/>
              </a:stretch>
            </a:blipFill>
          </p:spPr>
          <p:txBody>
            <a:bodyPr/>
            <a:lstStyle/>
            <a:p>
              <a:endParaRPr lang="en-US"/>
            </a:p>
          </p:txBody>
        </p:sp>
        <p:sp>
          <p:nvSpPr>
            <p:cNvPr id="61" name="Freeform 50">
              <a:extLst>
                <a:ext uri="{FF2B5EF4-FFF2-40B4-BE49-F238E27FC236}">
                  <a16:creationId xmlns:a16="http://schemas.microsoft.com/office/drawing/2014/main" id="{B15B11A0-85CA-755E-0801-DA696D7E4AEA}"/>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62" name="Freeform 51">
              <a:extLst>
                <a:ext uri="{FF2B5EF4-FFF2-40B4-BE49-F238E27FC236}">
                  <a16:creationId xmlns:a16="http://schemas.microsoft.com/office/drawing/2014/main" id="{6FFD942F-FEAE-7B63-9E77-C4510C6AB17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3" name="Freeform 52">
              <a:extLst>
                <a:ext uri="{FF2B5EF4-FFF2-40B4-BE49-F238E27FC236}">
                  <a16:creationId xmlns:a16="http://schemas.microsoft.com/office/drawing/2014/main" id="{DC536AB1-0B7B-18C4-B3E7-50DF7017B644}"/>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4" name="Freeform 53">
              <a:extLst>
                <a:ext uri="{FF2B5EF4-FFF2-40B4-BE49-F238E27FC236}">
                  <a16:creationId xmlns:a16="http://schemas.microsoft.com/office/drawing/2014/main" id="{37F4D05C-D520-85DC-ED71-E953F9770A80}"/>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5" name="Freeform 54">
              <a:extLst>
                <a:ext uri="{FF2B5EF4-FFF2-40B4-BE49-F238E27FC236}">
                  <a16:creationId xmlns:a16="http://schemas.microsoft.com/office/drawing/2014/main" id="{FBC2BE8B-9517-7F76-A127-AE6C5E4C39B5}"/>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6" name="Freeform 55">
              <a:extLst>
                <a:ext uri="{FF2B5EF4-FFF2-40B4-BE49-F238E27FC236}">
                  <a16:creationId xmlns:a16="http://schemas.microsoft.com/office/drawing/2014/main" id="{BBDB4A94-CE4A-4270-4288-73AEE33DE83A}"/>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7" name="Freeform 56">
              <a:extLst>
                <a:ext uri="{FF2B5EF4-FFF2-40B4-BE49-F238E27FC236}">
                  <a16:creationId xmlns:a16="http://schemas.microsoft.com/office/drawing/2014/main" id="{BE96E1F2-DAC3-3634-7D37-976F6980050F}"/>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8" name="Rectangle 67">
            <a:extLst>
              <a:ext uri="{FF2B5EF4-FFF2-40B4-BE49-F238E27FC236}">
                <a16:creationId xmlns:a16="http://schemas.microsoft.com/office/drawing/2014/main" id="{FB219804-9262-9017-F137-883562F2F47D}"/>
              </a:ext>
            </a:extLst>
          </p:cNvPr>
          <p:cNvSpPr/>
          <p:nvPr/>
        </p:nvSpPr>
        <p:spPr>
          <a:xfrm rot="5400000">
            <a:off x="-3392866" y="11514191"/>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69" name="Group 17">
            <a:extLst>
              <a:ext uri="{FF2B5EF4-FFF2-40B4-BE49-F238E27FC236}">
                <a16:creationId xmlns:a16="http://schemas.microsoft.com/office/drawing/2014/main" id="{856BB07B-52A0-7CFA-85EC-65E188472F8B}"/>
              </a:ext>
            </a:extLst>
          </p:cNvPr>
          <p:cNvGrpSpPr>
            <a:grpSpLocks noChangeAspect="1"/>
          </p:cNvGrpSpPr>
          <p:nvPr/>
        </p:nvGrpSpPr>
        <p:grpSpPr>
          <a:xfrm rot="21571874">
            <a:off x="-4152624" y="8921949"/>
            <a:ext cx="3127859" cy="6189006"/>
            <a:chOff x="0" y="0"/>
            <a:chExt cx="2620010" cy="5184140"/>
          </a:xfrm>
          <a:scene3d>
            <a:camera prst="isometricOffAxis2Left"/>
            <a:lightRig rig="threePt" dir="t"/>
          </a:scene3d>
        </p:grpSpPr>
        <p:sp>
          <p:nvSpPr>
            <p:cNvPr id="70" name="Freeform 18">
              <a:extLst>
                <a:ext uri="{FF2B5EF4-FFF2-40B4-BE49-F238E27FC236}">
                  <a16:creationId xmlns:a16="http://schemas.microsoft.com/office/drawing/2014/main" id="{ED28BE53-C9EE-E4C6-A029-C5F3827C3BB7}"/>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71" name="Freeform 19">
              <a:extLst>
                <a:ext uri="{FF2B5EF4-FFF2-40B4-BE49-F238E27FC236}">
                  <a16:creationId xmlns:a16="http://schemas.microsoft.com/office/drawing/2014/main" id="{D82C325A-70FC-4E1E-FF3A-FD02B240384D}"/>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9"/>
              <a:srcRect/>
              <a:stretch>
                <a:fillRect/>
              </a:stretch>
            </a:blipFill>
          </p:spPr>
          <p:txBody>
            <a:bodyPr/>
            <a:lstStyle/>
            <a:p>
              <a:endParaRPr lang="en-US"/>
            </a:p>
          </p:txBody>
        </p:sp>
        <p:sp>
          <p:nvSpPr>
            <p:cNvPr id="72" name="Freeform 20">
              <a:extLst>
                <a:ext uri="{FF2B5EF4-FFF2-40B4-BE49-F238E27FC236}">
                  <a16:creationId xmlns:a16="http://schemas.microsoft.com/office/drawing/2014/main" id="{9881AC8C-3C9C-7401-4507-D6E05AD7BE3A}"/>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3" name="Freeform 21">
              <a:extLst>
                <a:ext uri="{FF2B5EF4-FFF2-40B4-BE49-F238E27FC236}">
                  <a16:creationId xmlns:a16="http://schemas.microsoft.com/office/drawing/2014/main" id="{A6CA7577-98F1-F67F-99E6-BBB734BF4DD9}"/>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4" name="Freeform 22">
              <a:extLst>
                <a:ext uri="{FF2B5EF4-FFF2-40B4-BE49-F238E27FC236}">
                  <a16:creationId xmlns:a16="http://schemas.microsoft.com/office/drawing/2014/main" id="{7B693970-6522-37D1-EF5A-C21C8567E33B}"/>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5" name="Freeform 23">
              <a:extLst>
                <a:ext uri="{FF2B5EF4-FFF2-40B4-BE49-F238E27FC236}">
                  <a16:creationId xmlns:a16="http://schemas.microsoft.com/office/drawing/2014/main" id="{7BE398DC-1764-8673-C64F-A047438DF6AF}"/>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6" name="Freeform 24">
              <a:extLst>
                <a:ext uri="{FF2B5EF4-FFF2-40B4-BE49-F238E27FC236}">
                  <a16:creationId xmlns:a16="http://schemas.microsoft.com/office/drawing/2014/main" id="{6BCD952A-2E62-0C5C-1D09-997FDD3FD06D}"/>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7" name="Freeform 25">
              <a:extLst>
                <a:ext uri="{FF2B5EF4-FFF2-40B4-BE49-F238E27FC236}">
                  <a16:creationId xmlns:a16="http://schemas.microsoft.com/office/drawing/2014/main" id="{9ADD7F8D-E180-CCD9-E0D5-11DFB14E18EC}"/>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8" name="Freeform 26">
              <a:extLst>
                <a:ext uri="{FF2B5EF4-FFF2-40B4-BE49-F238E27FC236}">
                  <a16:creationId xmlns:a16="http://schemas.microsoft.com/office/drawing/2014/main" id="{9B8BEA36-E1A8-4A84-4C06-878F546049A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79" name="Rectangle 78">
            <a:extLst>
              <a:ext uri="{FF2B5EF4-FFF2-40B4-BE49-F238E27FC236}">
                <a16:creationId xmlns:a16="http://schemas.microsoft.com/office/drawing/2014/main" id="{A607BE91-9B29-EBD6-1730-E3277D5A395C}"/>
              </a:ext>
            </a:extLst>
          </p:cNvPr>
          <p:cNvSpPr/>
          <p:nvPr/>
        </p:nvSpPr>
        <p:spPr>
          <a:xfrm rot="5400000">
            <a:off x="-3850066" y="12504791"/>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80" name="Group 27">
            <a:extLst>
              <a:ext uri="{FF2B5EF4-FFF2-40B4-BE49-F238E27FC236}">
                <a16:creationId xmlns:a16="http://schemas.microsoft.com/office/drawing/2014/main" id="{EB2AB65E-329E-08CF-2AC1-BAA62B1AD744}"/>
              </a:ext>
            </a:extLst>
          </p:cNvPr>
          <p:cNvGrpSpPr>
            <a:grpSpLocks noChangeAspect="1"/>
          </p:cNvGrpSpPr>
          <p:nvPr/>
        </p:nvGrpSpPr>
        <p:grpSpPr>
          <a:xfrm rot="21571874">
            <a:off x="-4555633" y="9894061"/>
            <a:ext cx="3127859" cy="6189006"/>
            <a:chOff x="0" y="0"/>
            <a:chExt cx="2620010" cy="5184140"/>
          </a:xfrm>
          <a:scene3d>
            <a:camera prst="isometricOffAxis2Left"/>
            <a:lightRig rig="threePt" dir="t"/>
          </a:scene3d>
        </p:grpSpPr>
        <p:sp>
          <p:nvSpPr>
            <p:cNvPr id="81" name="Freeform 28">
              <a:extLst>
                <a:ext uri="{FF2B5EF4-FFF2-40B4-BE49-F238E27FC236}">
                  <a16:creationId xmlns:a16="http://schemas.microsoft.com/office/drawing/2014/main" id="{965ED039-EA18-F419-003E-4EF4B9790297}"/>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82" name="Freeform 29">
              <a:extLst>
                <a:ext uri="{FF2B5EF4-FFF2-40B4-BE49-F238E27FC236}">
                  <a16:creationId xmlns:a16="http://schemas.microsoft.com/office/drawing/2014/main" id="{88B5AF3A-485E-348C-6E90-39C2FC6C6E41}"/>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10"/>
              <a:srcRect/>
              <a:stretch>
                <a:fillRect/>
              </a:stretch>
            </a:blipFill>
          </p:spPr>
          <p:txBody>
            <a:bodyPr/>
            <a:lstStyle/>
            <a:p>
              <a:endParaRPr lang="en-US" dirty="0"/>
            </a:p>
          </p:txBody>
        </p:sp>
        <p:sp>
          <p:nvSpPr>
            <p:cNvPr id="83" name="Freeform 30">
              <a:extLst>
                <a:ext uri="{FF2B5EF4-FFF2-40B4-BE49-F238E27FC236}">
                  <a16:creationId xmlns:a16="http://schemas.microsoft.com/office/drawing/2014/main" id="{56E1B26A-07EC-FA49-0466-143618B95350}"/>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84" name="Freeform 31">
              <a:extLst>
                <a:ext uri="{FF2B5EF4-FFF2-40B4-BE49-F238E27FC236}">
                  <a16:creationId xmlns:a16="http://schemas.microsoft.com/office/drawing/2014/main" id="{9E68ABF0-6AD2-E466-142A-2A278A8E8FB3}"/>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85" name="Freeform 32">
              <a:extLst>
                <a:ext uri="{FF2B5EF4-FFF2-40B4-BE49-F238E27FC236}">
                  <a16:creationId xmlns:a16="http://schemas.microsoft.com/office/drawing/2014/main" id="{3AB17364-5F17-8322-D39F-A4DFDF9F3A1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86" name="Freeform 33">
              <a:extLst>
                <a:ext uri="{FF2B5EF4-FFF2-40B4-BE49-F238E27FC236}">
                  <a16:creationId xmlns:a16="http://schemas.microsoft.com/office/drawing/2014/main" id="{02EFDBE1-FF5E-3620-EB76-1FD0F5BB0CD2}"/>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87" name="Freeform 34">
              <a:extLst>
                <a:ext uri="{FF2B5EF4-FFF2-40B4-BE49-F238E27FC236}">
                  <a16:creationId xmlns:a16="http://schemas.microsoft.com/office/drawing/2014/main" id="{4CCE26EA-9771-B91C-CE33-A6C3D0BD2B49}"/>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88" name="Freeform 35">
              <a:extLst>
                <a:ext uri="{FF2B5EF4-FFF2-40B4-BE49-F238E27FC236}">
                  <a16:creationId xmlns:a16="http://schemas.microsoft.com/office/drawing/2014/main" id="{6A347365-3220-EC09-DA86-389B2F3DC51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89" name="Freeform 36">
              <a:extLst>
                <a:ext uri="{FF2B5EF4-FFF2-40B4-BE49-F238E27FC236}">
                  <a16:creationId xmlns:a16="http://schemas.microsoft.com/office/drawing/2014/main" id="{A193FBAB-FD4E-AA5B-EDD5-41B073F4C7CA}"/>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90" name="Rectangle 89">
            <a:extLst>
              <a:ext uri="{FF2B5EF4-FFF2-40B4-BE49-F238E27FC236}">
                <a16:creationId xmlns:a16="http://schemas.microsoft.com/office/drawing/2014/main" id="{9FA9BC42-EA25-F626-3610-DDD499B16834}"/>
              </a:ext>
            </a:extLst>
          </p:cNvPr>
          <p:cNvSpPr/>
          <p:nvPr/>
        </p:nvSpPr>
        <p:spPr>
          <a:xfrm rot="5400000">
            <a:off x="-4307266" y="13385047"/>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91" name="Group 37">
            <a:extLst>
              <a:ext uri="{FF2B5EF4-FFF2-40B4-BE49-F238E27FC236}">
                <a16:creationId xmlns:a16="http://schemas.microsoft.com/office/drawing/2014/main" id="{A7B64AAC-AE0F-75E6-D751-4CB966F7064B}"/>
              </a:ext>
            </a:extLst>
          </p:cNvPr>
          <p:cNvGrpSpPr>
            <a:grpSpLocks noChangeAspect="1"/>
          </p:cNvGrpSpPr>
          <p:nvPr/>
        </p:nvGrpSpPr>
        <p:grpSpPr>
          <a:xfrm rot="21571874">
            <a:off x="-5067024" y="10848093"/>
            <a:ext cx="3127859" cy="6189006"/>
            <a:chOff x="0" y="0"/>
            <a:chExt cx="2620010" cy="5184140"/>
          </a:xfrm>
          <a:scene3d>
            <a:camera prst="isometricOffAxis2Left"/>
            <a:lightRig rig="threePt" dir="t"/>
          </a:scene3d>
        </p:grpSpPr>
        <p:sp>
          <p:nvSpPr>
            <p:cNvPr id="92" name="Freeform 38">
              <a:extLst>
                <a:ext uri="{FF2B5EF4-FFF2-40B4-BE49-F238E27FC236}">
                  <a16:creationId xmlns:a16="http://schemas.microsoft.com/office/drawing/2014/main" id="{11E67023-BC0D-2520-CAA7-C72285422357}"/>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93" name="Freeform 39">
              <a:extLst>
                <a:ext uri="{FF2B5EF4-FFF2-40B4-BE49-F238E27FC236}">
                  <a16:creationId xmlns:a16="http://schemas.microsoft.com/office/drawing/2014/main" id="{2D96D62F-2F30-B9E1-14FB-D5EEDEED94FC}"/>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7"/>
              <a:srcRect/>
              <a:stretch>
                <a:fillRect/>
              </a:stretch>
            </a:blipFill>
          </p:spPr>
          <p:txBody>
            <a:bodyPr/>
            <a:lstStyle/>
            <a:p>
              <a:endParaRPr lang="en-US"/>
            </a:p>
          </p:txBody>
        </p:sp>
        <p:sp>
          <p:nvSpPr>
            <p:cNvPr id="94" name="Freeform 40">
              <a:extLst>
                <a:ext uri="{FF2B5EF4-FFF2-40B4-BE49-F238E27FC236}">
                  <a16:creationId xmlns:a16="http://schemas.microsoft.com/office/drawing/2014/main" id="{00591E1B-8BD0-E5D7-F4CE-0DCA99348B55}"/>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95" name="Freeform 41">
              <a:extLst>
                <a:ext uri="{FF2B5EF4-FFF2-40B4-BE49-F238E27FC236}">
                  <a16:creationId xmlns:a16="http://schemas.microsoft.com/office/drawing/2014/main" id="{25699C59-C5D6-9E31-607F-0FC5FD71415B}"/>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96" name="Freeform 42">
              <a:extLst>
                <a:ext uri="{FF2B5EF4-FFF2-40B4-BE49-F238E27FC236}">
                  <a16:creationId xmlns:a16="http://schemas.microsoft.com/office/drawing/2014/main" id="{E18125AE-7A82-6D67-971C-0FC5434350D8}"/>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97" name="Freeform 43">
              <a:extLst>
                <a:ext uri="{FF2B5EF4-FFF2-40B4-BE49-F238E27FC236}">
                  <a16:creationId xmlns:a16="http://schemas.microsoft.com/office/drawing/2014/main" id="{B74FB131-B703-A670-06FB-0C6CF4534092}"/>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98" name="Freeform 44">
              <a:extLst>
                <a:ext uri="{FF2B5EF4-FFF2-40B4-BE49-F238E27FC236}">
                  <a16:creationId xmlns:a16="http://schemas.microsoft.com/office/drawing/2014/main" id="{2DBB2760-F081-E17C-9F56-92CD857D62DF}"/>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99" name="Freeform 45">
              <a:extLst>
                <a:ext uri="{FF2B5EF4-FFF2-40B4-BE49-F238E27FC236}">
                  <a16:creationId xmlns:a16="http://schemas.microsoft.com/office/drawing/2014/main" id="{51B0DE70-1D29-87E0-9FA4-3B766FAB49A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100" name="Freeform 46">
              <a:extLst>
                <a:ext uri="{FF2B5EF4-FFF2-40B4-BE49-F238E27FC236}">
                  <a16:creationId xmlns:a16="http://schemas.microsoft.com/office/drawing/2014/main" id="{9213C58E-DA64-C36D-1F84-442DC0215FE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87106178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6600" b="1" dirty="0">
                <a:solidFill>
                  <a:schemeClr val="bg1"/>
                </a:solidFill>
                <a:latin typeface="Poppins"/>
                <a:ea typeface="Poppins"/>
                <a:cs typeface="Poppins"/>
                <a:sym typeface="Poppins"/>
              </a:rPr>
              <a:t>Business </a:t>
            </a:r>
            <a:r>
              <a:rPr lang="en-US" sz="16600" b="1" dirty="0">
                <a:solidFill>
                  <a:srgbClr val="FF0000"/>
                </a:solidFill>
                <a:latin typeface="Poppins"/>
                <a:ea typeface="Poppins"/>
                <a:cs typeface="Poppins"/>
                <a:sym typeface="Poppins"/>
              </a:rPr>
              <a:t>Plan</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248940653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37" name="Group 37"/>
          <p:cNvGrpSpPr/>
          <p:nvPr/>
        </p:nvGrpSpPr>
        <p:grpSpPr>
          <a:xfrm>
            <a:off x="9906000" y="8330082"/>
            <a:ext cx="1460544" cy="138657"/>
            <a:chOff x="0" y="0"/>
            <a:chExt cx="384670" cy="36519"/>
          </a:xfrm>
        </p:grpSpPr>
        <p:sp>
          <p:nvSpPr>
            <p:cNvPr id="38" name="Freeform 38"/>
            <p:cNvSpPr/>
            <p:nvPr/>
          </p:nvSpPr>
          <p:spPr>
            <a:xfrm>
              <a:off x="0" y="0"/>
              <a:ext cx="384670" cy="36519"/>
            </a:xfrm>
            <a:custGeom>
              <a:avLst/>
              <a:gdLst/>
              <a:ahLst/>
              <a:cxnLst/>
              <a:rect l="l" t="t" r="r" b="b"/>
              <a:pathLst>
                <a:path w="384670" h="36519">
                  <a:moveTo>
                    <a:pt x="18259" y="0"/>
                  </a:moveTo>
                  <a:lnTo>
                    <a:pt x="366411" y="0"/>
                  </a:lnTo>
                  <a:cubicBezTo>
                    <a:pt x="371253" y="0"/>
                    <a:pt x="375898" y="1924"/>
                    <a:pt x="379322" y="5348"/>
                  </a:cubicBezTo>
                  <a:cubicBezTo>
                    <a:pt x="382746" y="8772"/>
                    <a:pt x="384670" y="13417"/>
                    <a:pt x="384670" y="18259"/>
                  </a:cubicBezTo>
                  <a:lnTo>
                    <a:pt x="384670" y="18259"/>
                  </a:lnTo>
                  <a:cubicBezTo>
                    <a:pt x="384670" y="23102"/>
                    <a:pt x="382746" y="27746"/>
                    <a:pt x="379322" y="31171"/>
                  </a:cubicBezTo>
                  <a:cubicBezTo>
                    <a:pt x="375898" y="34595"/>
                    <a:pt x="371253" y="36519"/>
                    <a:pt x="366411" y="36519"/>
                  </a:cubicBezTo>
                  <a:lnTo>
                    <a:pt x="18259" y="36519"/>
                  </a:lnTo>
                  <a:cubicBezTo>
                    <a:pt x="13417" y="36519"/>
                    <a:pt x="8772" y="34595"/>
                    <a:pt x="5348" y="31171"/>
                  </a:cubicBezTo>
                  <a:cubicBezTo>
                    <a:pt x="1924" y="27746"/>
                    <a:pt x="0" y="23102"/>
                    <a:pt x="0" y="18259"/>
                  </a:cubicBezTo>
                  <a:lnTo>
                    <a:pt x="0" y="18259"/>
                  </a:lnTo>
                  <a:cubicBezTo>
                    <a:pt x="0" y="13417"/>
                    <a:pt x="1924" y="8772"/>
                    <a:pt x="5348" y="5348"/>
                  </a:cubicBezTo>
                  <a:cubicBezTo>
                    <a:pt x="8772" y="1924"/>
                    <a:pt x="13417" y="0"/>
                    <a:pt x="18259" y="0"/>
                  </a:cubicBezTo>
                  <a:close/>
                </a:path>
              </a:pathLst>
            </a:custGeom>
            <a:gradFill rotWithShape="1">
              <a:gsLst>
                <a:gs pos="0">
                  <a:srgbClr val="FF00E6">
                    <a:alpha val="100000"/>
                  </a:srgbClr>
                </a:gs>
                <a:gs pos="100000">
                  <a:srgbClr val="60057F">
                    <a:alpha val="100000"/>
                  </a:srgbClr>
                </a:gs>
              </a:gsLst>
              <a:lin ang="2700000"/>
            </a:gradFill>
          </p:spPr>
          <p:txBody>
            <a:bodyPr/>
            <a:lstStyle/>
            <a:p>
              <a:endParaRPr lang="en-US"/>
            </a:p>
          </p:txBody>
        </p:sp>
        <p:sp>
          <p:nvSpPr>
            <p:cNvPr id="39" name="TextBox 39"/>
            <p:cNvSpPr txBox="1"/>
            <p:nvPr/>
          </p:nvSpPr>
          <p:spPr>
            <a:xfrm>
              <a:off x="0" y="-38100"/>
              <a:ext cx="384670" cy="74619"/>
            </a:xfrm>
            <a:prstGeom prst="rect">
              <a:avLst/>
            </a:prstGeom>
          </p:spPr>
          <p:txBody>
            <a:bodyPr lIns="50800" tIns="50800" rIns="50800" bIns="50800" rtlCol="0" anchor="ctr"/>
            <a:lstStyle/>
            <a:p>
              <a:pPr algn="ctr">
                <a:lnSpc>
                  <a:spcPts val="2659"/>
                </a:lnSpc>
              </a:pPr>
              <a:endParaRPr/>
            </a:p>
          </p:txBody>
        </p:sp>
      </p:grpSp>
      <p:sp>
        <p:nvSpPr>
          <p:cNvPr id="40" name="TextBox 40"/>
          <p:cNvSpPr txBox="1"/>
          <p:nvPr/>
        </p:nvSpPr>
        <p:spPr>
          <a:xfrm>
            <a:off x="609600" y="1104900"/>
            <a:ext cx="7332009" cy="2105964"/>
          </a:xfrm>
          <a:prstGeom prst="rect">
            <a:avLst/>
          </a:prstGeom>
        </p:spPr>
        <p:txBody>
          <a:bodyPr lIns="0" tIns="0" rIns="0" bIns="0" rtlCol="0" anchor="t">
            <a:spAutoFit/>
          </a:bodyPr>
          <a:lstStyle/>
          <a:p>
            <a:pPr algn="l">
              <a:lnSpc>
                <a:spcPts val="8054"/>
              </a:lnSpc>
            </a:pPr>
            <a:r>
              <a:rPr lang="en-US" sz="6884" dirty="0">
                <a:solidFill>
                  <a:srgbClr val="FFFFFF"/>
                </a:solidFill>
                <a:latin typeface="Poppins Bold"/>
                <a:ea typeface="Poppins Bold"/>
                <a:cs typeface="Poppins Bold"/>
                <a:sym typeface="Poppins Bold"/>
              </a:rPr>
              <a:t>Technology</a:t>
            </a:r>
          </a:p>
          <a:p>
            <a:pPr algn="l">
              <a:lnSpc>
                <a:spcPts val="8054"/>
              </a:lnSpc>
            </a:pPr>
            <a:endParaRPr lang="en-US" sz="6884" dirty="0">
              <a:solidFill>
                <a:srgbClr val="FFFFFF"/>
              </a:solidFill>
              <a:latin typeface="Poppins Bold"/>
              <a:ea typeface="Poppins Bold"/>
              <a:cs typeface="Poppins Bold"/>
              <a:sym typeface="Poppins Bold"/>
            </a:endParaRPr>
          </a:p>
        </p:txBody>
      </p:sp>
      <p:sp>
        <p:nvSpPr>
          <p:cNvPr id="2" name="Rectangle 1">
            <a:extLst>
              <a:ext uri="{FF2B5EF4-FFF2-40B4-BE49-F238E27FC236}">
                <a16:creationId xmlns:a16="http://schemas.microsoft.com/office/drawing/2014/main" id="{A69E3430-3800-2B8D-7297-36ED1B0658FA}"/>
              </a:ext>
            </a:extLst>
          </p:cNvPr>
          <p:cNvSpPr/>
          <p:nvPr/>
        </p:nvSpPr>
        <p:spPr>
          <a:xfrm>
            <a:off x="0" y="0"/>
            <a:ext cx="18288000" cy="10287000"/>
          </a:xfrm>
          <a:prstGeom prst="rect">
            <a:avLst/>
          </a:prstGeom>
          <a:gradFill flip="none" rotWithShape="1">
            <a:gsLst>
              <a:gs pos="0">
                <a:schemeClr val="tx1"/>
              </a:gs>
              <a:gs pos="38000">
                <a:srgbClr val="590000"/>
              </a:gs>
              <a:gs pos="17000">
                <a:srgbClr val="3B0000"/>
              </a:gs>
              <a:gs pos="57000">
                <a:srgbClr val="760000">
                  <a:alpha val="7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0"/>
          <p:cNvSpPr txBox="1"/>
          <p:nvPr/>
        </p:nvSpPr>
        <p:spPr>
          <a:xfrm>
            <a:off x="1325880" y="680777"/>
            <a:ext cx="9494520" cy="1038746"/>
          </a:xfrm>
          <a:prstGeom prst="rect">
            <a:avLst/>
          </a:prstGeom>
        </p:spPr>
        <p:txBody>
          <a:bodyPr wrap="square" lIns="0" tIns="0" rIns="0" bIns="0" rtlCol="0" anchor="t">
            <a:spAutoFit/>
          </a:bodyPr>
          <a:lstStyle/>
          <a:p>
            <a:pPr algn="l">
              <a:lnSpc>
                <a:spcPts val="8054"/>
              </a:lnSpc>
            </a:pPr>
            <a:r>
              <a:rPr lang="en-US" sz="6884" dirty="0">
                <a:solidFill>
                  <a:srgbClr val="FFFFFF"/>
                </a:solidFill>
                <a:latin typeface="Poppins Bold"/>
                <a:ea typeface="Poppins Bold"/>
                <a:cs typeface="Poppins Bold"/>
                <a:sym typeface="Poppins Bold"/>
              </a:rPr>
              <a:t>Business Overview</a:t>
            </a:r>
          </a:p>
        </p:txBody>
      </p:sp>
      <p:sp>
        <p:nvSpPr>
          <p:cNvPr id="4" name="Rectangle 3">
            <a:extLst>
              <a:ext uri="{FF2B5EF4-FFF2-40B4-BE49-F238E27FC236}">
                <a16:creationId xmlns:a16="http://schemas.microsoft.com/office/drawing/2014/main" id="{28BFD063-CEA4-F9FB-562A-F0365F3ECAB7}"/>
              </a:ext>
            </a:extLst>
          </p:cNvPr>
          <p:cNvSpPr/>
          <p:nvPr/>
        </p:nvSpPr>
        <p:spPr>
          <a:xfrm>
            <a:off x="1325880" y="1714500"/>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0637236-1BB5-5994-E2AB-DE0F7DE90D4E}"/>
              </a:ext>
            </a:extLst>
          </p:cNvPr>
          <p:cNvSpPr>
            <a:spLocks noChangeArrowheads="1"/>
          </p:cNvSpPr>
          <p:nvPr/>
        </p:nvSpPr>
        <p:spPr bwMode="auto">
          <a:xfrm>
            <a:off x="1325880" y="2638948"/>
            <a:ext cx="16504920"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4800" dirty="0">
                <a:solidFill>
                  <a:srgbClr val="FFFF00"/>
                </a:solidFill>
                <a:effectLst/>
                <a:latin typeface="Aptos Black" panose="020B0604020202020204" charset="0"/>
                <a:ea typeface="Aptos" panose="020B0004020202020204"/>
                <a:cs typeface="Times New Roman" panose="02020603050405020304" pitchFamily="18" charset="0"/>
              </a:rPr>
              <a:t>LINK Solutions provides an emergency communication app that connects users to vehicle emergency services, medical assistance, police, and fire departments. It features automatic accident detection and satellite communication through the SAFE LINK Beacon, ensuring connectivity even in remote areas</a:t>
            </a:r>
            <a:r>
              <a:rPr lang="en-US" sz="4000" dirty="0">
                <a:solidFill>
                  <a:srgbClr val="FFFF00"/>
                </a:solidFill>
                <a:effectLst/>
                <a:latin typeface="Abadi" panose="020B0604020202020204" pitchFamily="34" charset="0"/>
                <a:ea typeface="Aptos" panose="020B0004020202020204"/>
                <a:cs typeface="Times New Roman" panose="02020603050405020304" pitchFamily="18" charset="0"/>
              </a:rPr>
              <a:t>.</a:t>
            </a:r>
            <a:endParaRPr lang="en-US" altLang="en-US" sz="6000" b="1" dirty="0">
              <a:solidFill>
                <a:srgbClr val="FFFF00"/>
              </a:solidFill>
              <a:latin typeface="Arial Rounded MT Bold" panose="020F0704030504030204" pitchFamily="34" charset="0"/>
            </a:endParaRPr>
          </a:p>
          <a:p>
            <a:pPr eaLnBrk="0" fontAlgn="base" hangingPunct="0">
              <a:spcBef>
                <a:spcPct val="0"/>
              </a:spcBef>
              <a:spcAft>
                <a:spcPct val="0"/>
              </a:spcAft>
            </a:pPr>
            <a:endParaRPr lang="en-US" altLang="en-US" sz="3200" b="1" dirty="0">
              <a:solidFill>
                <a:srgbClr val="FFC000"/>
              </a:solidFill>
              <a:latin typeface="Arial Rounded MT Bold" panose="020F0704030504030204" pitchFamily="34" charset="0"/>
            </a:endParaRPr>
          </a:p>
          <a:p>
            <a:pPr eaLnBrk="0" fontAlgn="base" hangingPunct="0">
              <a:spcBef>
                <a:spcPct val="0"/>
              </a:spcBef>
              <a:spcAft>
                <a:spcPct val="0"/>
              </a:spcAft>
            </a:pPr>
            <a:endParaRPr lang="en-US" sz="3200" dirty="0">
              <a:solidFill>
                <a:srgbClr val="FFFFFF"/>
              </a:solidFill>
              <a:latin typeface="Poppins Bold"/>
              <a:ea typeface="Poppins Bold"/>
              <a:cs typeface="Poppins Bold"/>
              <a:sym typeface="Poppins Bold"/>
            </a:endParaRPr>
          </a:p>
          <a:p>
            <a:pPr eaLnBrk="0" fontAlgn="base" hangingPunct="0">
              <a:spcBef>
                <a:spcPct val="0"/>
              </a:spcBef>
              <a:spcAft>
                <a:spcPct val="0"/>
              </a:spcAft>
            </a:pPr>
            <a:endParaRPr lang="en-US" sz="3200" dirty="0">
              <a:solidFill>
                <a:srgbClr val="FFFFFF"/>
              </a:solidFill>
              <a:latin typeface="Poppins Bold"/>
              <a:ea typeface="Poppins Bold"/>
              <a:cs typeface="Poppins Bold"/>
              <a:sym typeface="Poppins Bold"/>
            </a:endParaRPr>
          </a:p>
          <a:p>
            <a:pPr eaLnBrk="0" fontAlgn="base" hangingPunct="0">
              <a:spcBef>
                <a:spcPct val="0"/>
              </a:spcBef>
              <a:spcAft>
                <a:spcPct val="0"/>
              </a:spcAft>
            </a:pPr>
            <a:endParaRPr lang="en-US" altLang="en-US" sz="3200" b="1" dirty="0">
              <a:solidFill>
                <a:srgbClr val="FFC000"/>
              </a:solidFill>
              <a:latin typeface="Arial" panose="020B0604020202020204" pitchFamily="34" charset="0"/>
            </a:endParaRPr>
          </a:p>
        </p:txBody>
      </p:sp>
    </p:spTree>
    <p:extLst>
      <p:ext uri="{BB962C8B-B14F-4D97-AF65-F5344CB8AC3E}">
        <p14:creationId xmlns:p14="http://schemas.microsoft.com/office/powerpoint/2010/main" val="1255045980"/>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Market Analysis and Target Market</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a:lnSpc>
                  <a:spcPct val="107000"/>
                </a:lnSpc>
                <a:spcBef>
                  <a:spcPts val="0"/>
                </a:spcBef>
                <a:spcAft>
                  <a:spcPts val="800"/>
                </a:spcAft>
              </a:pPr>
              <a:r>
                <a:rPr lang="en-US" sz="3600" b="1" kern="100" dirty="0">
                  <a:effectLst/>
                  <a:latin typeface="Abadi" panose="020B0604020202020204" pitchFamily="34" charset="0"/>
                  <a:ea typeface="Aptos"/>
                  <a:cs typeface="Times New Roman" panose="02020603050405020304" pitchFamily="18" charset="0"/>
                </a:rPr>
                <a:t>Target Market</a:t>
              </a:r>
              <a:endParaRPr lang="en-US" sz="3600" kern="100" dirty="0">
                <a:effectLst/>
                <a:latin typeface="Abadi" panose="020B0604020202020204" pitchFamily="34" charset="0"/>
                <a:ea typeface="Aptos"/>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rgbClr val="FFFF00"/>
                  </a:solidFill>
                  <a:effectLst/>
                  <a:latin typeface="Abadi" panose="020B0604020202020204" pitchFamily="34" charset="0"/>
                  <a:ea typeface="Aptos"/>
                  <a:cs typeface="Times New Roman" panose="02020603050405020304" pitchFamily="18" charset="0"/>
                </a:rPr>
                <a:t>Vehicle Owners</a:t>
              </a:r>
              <a:endParaRPr lang="en-US" sz="3600" kern="100" dirty="0">
                <a:solidFill>
                  <a:srgbClr val="FFFF00"/>
                </a:solidFill>
                <a:effectLst/>
                <a:latin typeface="Abadi" panose="020B0604020202020204" pitchFamily="34" charset="0"/>
                <a:ea typeface="Aptos"/>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600" kern="100" dirty="0">
                  <a:effectLst/>
                  <a:latin typeface="Abadi" panose="020B0604020202020204" pitchFamily="34" charset="0"/>
                  <a:ea typeface="Aptos"/>
                  <a:cs typeface="Times New Roman" panose="02020603050405020304" pitchFamily="18" charset="0"/>
                </a:rPr>
                <a:t>Individuals who own personal vehicles.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600" kern="100" dirty="0">
                  <a:effectLst/>
                  <a:latin typeface="Abadi" panose="020B0604020202020204" pitchFamily="34" charset="0"/>
                  <a:ea typeface="Aptos"/>
                  <a:cs typeface="Times New Roman" panose="02020603050405020304" pitchFamily="18" charset="0"/>
                </a:rPr>
                <a:t>Concerned about safety and emergency preparedness.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rgbClr val="FFFF00"/>
                  </a:solidFill>
                  <a:effectLst/>
                  <a:latin typeface="Abadi" panose="020B0604020202020204" pitchFamily="34" charset="0"/>
                  <a:ea typeface="Aptos"/>
                  <a:cs typeface="Times New Roman" panose="02020603050405020304" pitchFamily="18" charset="0"/>
                </a:rPr>
                <a:t>Outdoor Enthusiasts</a:t>
              </a:r>
              <a:endParaRPr lang="en-US" sz="3600" kern="100" dirty="0">
                <a:solidFill>
                  <a:srgbClr val="FFFF00"/>
                </a:solidFill>
                <a:effectLst/>
                <a:latin typeface="Abadi" panose="020B0604020202020204" pitchFamily="34" charset="0"/>
                <a:ea typeface="Aptos"/>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600" kern="100" dirty="0">
                  <a:effectLst/>
                  <a:latin typeface="Abadi" panose="020B0604020202020204" pitchFamily="34" charset="0"/>
                  <a:ea typeface="Aptos"/>
                  <a:cs typeface="Times New Roman" panose="02020603050405020304" pitchFamily="18" charset="0"/>
                </a:rPr>
                <a:t>Adventurers and travelers who frequent remote areas.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600" kern="100" dirty="0">
                  <a:effectLst/>
                  <a:latin typeface="Abadi" panose="020B0604020202020204" pitchFamily="34" charset="0"/>
                  <a:ea typeface="Aptos"/>
                  <a:cs typeface="Times New Roman" panose="02020603050405020304" pitchFamily="18" charset="0"/>
                </a:rPr>
                <a:t>Require reliable communication for emergencies in areas without cellular coverage.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rgbClr val="FFFF00"/>
                  </a:solidFill>
                  <a:effectLst/>
                  <a:latin typeface="Abadi" panose="020B0604020202020204" pitchFamily="34" charset="0"/>
                  <a:ea typeface="Aptos"/>
                  <a:cs typeface="Times New Roman" panose="02020603050405020304" pitchFamily="18" charset="0"/>
                </a:rPr>
                <a:t>Families</a:t>
              </a:r>
              <a:endParaRPr lang="en-US" sz="3600" kern="100" dirty="0">
                <a:solidFill>
                  <a:srgbClr val="FFFF00"/>
                </a:solidFill>
                <a:effectLst/>
                <a:latin typeface="Abadi" panose="020B0604020202020204" pitchFamily="34" charset="0"/>
                <a:ea typeface="Aptos"/>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600" kern="100" dirty="0">
                  <a:effectLst/>
                  <a:latin typeface="Abadi" panose="020B0604020202020204" pitchFamily="34" charset="0"/>
                  <a:ea typeface="Aptos"/>
                  <a:cs typeface="Times New Roman" panose="02020603050405020304" pitchFamily="18" charset="0"/>
                </a:rPr>
                <a:t>Households with children and elderly members.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600" kern="100" dirty="0">
                  <a:effectLst/>
                  <a:latin typeface="Abadi" panose="020B0604020202020204" pitchFamily="34" charset="0"/>
                  <a:ea typeface="Aptos"/>
                  <a:cs typeface="Times New Roman" panose="02020603050405020304" pitchFamily="18" charset="0"/>
                </a:rPr>
                <a:t>Ensure safety and quick access to emergency services.</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3963155001"/>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Market Analysis and Target Market</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3200" b="1" kern="100" dirty="0">
                  <a:effectLst/>
                  <a:latin typeface="Abadi" panose="020B0604020202020204" pitchFamily="34" charset="0"/>
                  <a:ea typeface="Aptos" panose="020B0004020202020204"/>
                  <a:cs typeface="Times New Roman" panose="02020603050405020304" pitchFamily="18" charset="0"/>
                </a:rPr>
                <a:t>Market Analysis</a:t>
              </a:r>
              <a:endParaRPr lang="en-US" sz="3200" kern="100" dirty="0">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b="1" kern="100" dirty="0">
                  <a:solidFill>
                    <a:srgbClr val="FFFF00"/>
                  </a:solidFill>
                  <a:effectLst/>
                  <a:latin typeface="Abadi" panose="020B0604020202020204" pitchFamily="34" charset="0"/>
                  <a:ea typeface="Aptos" panose="020B0004020202020204"/>
                  <a:cs typeface="Times New Roman" panose="02020603050405020304" pitchFamily="18" charset="0"/>
                </a:rPr>
                <a:t>Expanding Emergency Communication Market</a:t>
              </a:r>
              <a:endParaRPr lang="en-US" sz="32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200" kern="100" dirty="0">
                  <a:effectLst/>
                  <a:latin typeface="Abadi" panose="020B0604020202020204" pitchFamily="34" charset="0"/>
                  <a:ea typeface="Aptos" panose="020B0004020202020204"/>
                  <a:cs typeface="Times New Roman" panose="02020603050405020304" pitchFamily="18" charset="0"/>
                </a:rPr>
                <a:t>Growing safety awareness among consumers.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200" kern="100" dirty="0">
                  <a:effectLst/>
                  <a:latin typeface="Abadi" panose="020B0604020202020204" pitchFamily="34" charset="0"/>
                  <a:ea typeface="Aptos" panose="020B0004020202020204"/>
                  <a:cs typeface="Times New Roman" panose="02020603050405020304" pitchFamily="18" charset="0"/>
                </a:rPr>
                <a:t>Increasing adoption of technology for emergency preparedness.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b="1" kern="100" dirty="0">
                  <a:solidFill>
                    <a:srgbClr val="FFFF00"/>
                  </a:solidFill>
                  <a:effectLst/>
                  <a:latin typeface="Abadi" panose="020B0604020202020204" pitchFamily="34" charset="0"/>
                  <a:ea typeface="Aptos" panose="020B0004020202020204"/>
                  <a:cs typeface="Times New Roman" panose="02020603050405020304" pitchFamily="18" charset="0"/>
                </a:rPr>
                <a:t>Technological Advancements</a:t>
              </a:r>
              <a:endParaRPr lang="en-US" sz="32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200" kern="100" dirty="0">
                  <a:effectLst/>
                  <a:latin typeface="Abadi" panose="020B0604020202020204" pitchFamily="34" charset="0"/>
                  <a:ea typeface="Aptos" panose="020B0004020202020204"/>
                  <a:cs typeface="Times New Roman" panose="02020603050405020304" pitchFamily="18" charset="0"/>
                </a:rPr>
                <a:t>Improved satellite communication technology.</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200" kern="100" dirty="0">
                  <a:effectLst/>
                  <a:latin typeface="Abadi" panose="020B0604020202020204" pitchFamily="34" charset="0"/>
                  <a:ea typeface="Aptos" panose="020B0004020202020204"/>
                  <a:cs typeface="Times New Roman" panose="02020603050405020304" pitchFamily="18" charset="0"/>
                </a:rPr>
                <a:t>Development of innovative emergency response solutions.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b="1" kern="100" dirty="0">
                  <a:solidFill>
                    <a:srgbClr val="FFFF00"/>
                  </a:solidFill>
                  <a:effectLst/>
                  <a:latin typeface="Abadi" panose="020B0604020202020204" pitchFamily="34" charset="0"/>
                  <a:ea typeface="Aptos" panose="020B0004020202020204"/>
                  <a:cs typeface="Times New Roman" panose="02020603050405020304" pitchFamily="18" charset="0"/>
                </a:rPr>
                <a:t>Rising Demand</a:t>
              </a:r>
              <a:endParaRPr lang="en-US" sz="32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200" kern="100" dirty="0">
                  <a:effectLst/>
                  <a:latin typeface="Abadi" panose="020B0604020202020204" pitchFamily="34" charset="0"/>
                  <a:ea typeface="Aptos" panose="020B0004020202020204"/>
                  <a:cs typeface="Times New Roman" panose="02020603050405020304" pitchFamily="18" charset="0"/>
                </a:rPr>
                <a:t>Higher demand for reliable emergency communication devices.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3200" kern="100" dirty="0">
                  <a:effectLst/>
                  <a:latin typeface="Abadi" panose="020B0604020202020204" pitchFamily="34" charset="0"/>
                  <a:ea typeface="Aptos" panose="020B0004020202020204"/>
                  <a:cs typeface="Times New Roman" panose="02020603050405020304" pitchFamily="18" charset="0"/>
                </a:rPr>
                <a:t>Increased investment in safety and security products.</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2190716527"/>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Competition</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28600" marR="0">
                <a:lnSpc>
                  <a:spcPct val="107000"/>
                </a:lnSpc>
                <a:spcBef>
                  <a:spcPts val="0"/>
                </a:spcBef>
                <a:spcAft>
                  <a:spcPts val="800"/>
                </a:spcAft>
              </a:pPr>
              <a:endParaRPr lang="en-US" sz="4000" kern="100" dirty="0">
                <a:effectLst/>
                <a:latin typeface="Abadi" panose="020B0604020202020204" pitchFamily="34" charset="0"/>
                <a:ea typeface="Aptos" panose="020B0004020202020204"/>
                <a:cs typeface="Times New Roman" panose="02020603050405020304" pitchFamily="18" charset="0"/>
              </a:endParaRPr>
            </a:p>
            <a:p>
              <a:pPr marL="228600" marR="0">
                <a:lnSpc>
                  <a:spcPct val="107000"/>
                </a:lnSpc>
                <a:spcBef>
                  <a:spcPts val="0"/>
                </a:spcBef>
                <a:spcAft>
                  <a:spcPts val="800"/>
                </a:spcAft>
              </a:pPr>
              <a:r>
                <a:rPr lang="en-US" sz="4400" b="1" kern="100" dirty="0">
                  <a:solidFill>
                    <a:srgbClr val="FFC000"/>
                  </a:solidFill>
                  <a:effectLst/>
                  <a:latin typeface="Abadi" panose="020B0604020202020204" pitchFamily="34" charset="0"/>
                  <a:ea typeface="Aptos" panose="020B0004020202020204"/>
                  <a:cs typeface="Times New Roman" panose="02020603050405020304" pitchFamily="18" charset="0"/>
                </a:rPr>
                <a:t>Main Competitors</a:t>
              </a:r>
              <a:endParaRPr lang="en-US" sz="4400" kern="100" dirty="0">
                <a:solidFill>
                  <a:srgbClr val="FFC0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4400" b="1" kern="100" dirty="0">
                  <a:solidFill>
                    <a:srgbClr val="FFFF00"/>
                  </a:solidFill>
                  <a:effectLst/>
                  <a:latin typeface="Abadi" panose="020B0604020202020204" pitchFamily="34" charset="0"/>
                  <a:ea typeface="Aptos" panose="020B0004020202020204"/>
                  <a:cs typeface="Times New Roman" panose="02020603050405020304" pitchFamily="18" charset="0"/>
                </a:rPr>
                <a:t>Apple Emergency SOS</a:t>
              </a:r>
              <a:endParaRPr lang="en-US" sz="44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0"/>
                </a:spcAft>
                <a:buSzPts val="1000"/>
                <a:buFont typeface="Symbol" panose="05050102010706020507" pitchFamily="18" charset="2"/>
                <a:buChar char=""/>
                <a:tabLst>
                  <a:tab pos="457200" algn="l"/>
                </a:tabLst>
              </a:pPr>
              <a:r>
                <a:rPr lang="en-US" sz="4400" b="1" kern="100" dirty="0">
                  <a:solidFill>
                    <a:srgbClr val="FFFF00"/>
                  </a:solidFill>
                  <a:effectLst/>
                  <a:latin typeface="Abadi" panose="020B0604020202020204" pitchFamily="34" charset="0"/>
                  <a:ea typeface="Aptos" panose="020B0004020202020204"/>
                  <a:cs typeface="Times New Roman" panose="02020603050405020304" pitchFamily="18" charset="0"/>
                </a:rPr>
                <a:t>OnStar</a:t>
              </a:r>
              <a:endParaRPr lang="en-US" sz="44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4400" b="1" kern="100" dirty="0">
                  <a:solidFill>
                    <a:srgbClr val="FFFF00"/>
                  </a:solidFill>
                  <a:effectLst/>
                  <a:latin typeface="Abadi" panose="020B0604020202020204" pitchFamily="34" charset="0"/>
                  <a:ea typeface="Aptos" panose="020B0004020202020204"/>
                  <a:cs typeface="Times New Roman" panose="02020603050405020304" pitchFamily="18" charset="0"/>
                </a:rPr>
                <a:t>Life360</a:t>
              </a:r>
              <a:endParaRPr lang="en-US" sz="44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0" marR="0">
                <a:lnSpc>
                  <a:spcPct val="107000"/>
                </a:lnSpc>
                <a:spcBef>
                  <a:spcPts val="0"/>
                </a:spcBef>
                <a:spcAft>
                  <a:spcPts val="800"/>
                </a:spcAft>
              </a:pPr>
              <a:r>
                <a:rPr lang="en-US" sz="4400" b="1" kern="100" dirty="0">
                  <a:effectLst/>
                  <a:latin typeface="Abadi" panose="020B0604020202020204" pitchFamily="34" charset="0"/>
                  <a:ea typeface="Aptos" panose="020B0004020202020204"/>
                  <a:cs typeface="Times New Roman" panose="02020603050405020304" pitchFamily="18" charset="0"/>
                </a:rPr>
                <a:t> </a:t>
              </a:r>
              <a:r>
                <a:rPr lang="en-US" sz="4400" kern="100" dirty="0">
                  <a:effectLst/>
                  <a:latin typeface="Abadi" panose="020B0604020202020204" pitchFamily="34" charset="0"/>
                  <a:ea typeface="Aptos" panose="020B0004020202020204"/>
                  <a:cs typeface="Times New Roman" panose="02020603050405020304" pitchFamily="18" charset="0"/>
                </a:rPr>
                <a:t> While other emergency apps exist, SAFE LINK Solutions stands out with its automatic accident detection and satellite communication. We offer a more comprehensive and reliable service compared to competitors.</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272734355"/>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Milestones and </a:t>
            </a:r>
            <a:r>
              <a:rPr lang="en-US" sz="4560" dirty="0">
                <a:solidFill>
                  <a:srgbClr val="FF0000"/>
                </a:solidFill>
                <a:latin typeface="Poppins Bold"/>
                <a:ea typeface="Poppins Bold"/>
                <a:cs typeface="Poppins Bold"/>
                <a:sym typeface="Poppins Bold"/>
              </a:rPr>
              <a:t>Metrics</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4F014DFE-44B8-403F-9AF5-0013A4B318A6}"/>
              </a:ext>
            </a:extLst>
          </p:cNvPr>
          <p:cNvSpPr/>
          <p:nvPr/>
        </p:nvSpPr>
        <p:spPr>
          <a:xfrm>
            <a:off x="6972300" y="1479773"/>
            <a:ext cx="4610100" cy="3581400"/>
          </a:xfrm>
          <a:prstGeom prst="roundRect">
            <a:avLst/>
          </a:prstGeom>
          <a:solidFill>
            <a:srgbClr val="7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220D0DC-7144-4D0B-AC4D-84ADBAF8095E}"/>
              </a:ext>
            </a:extLst>
          </p:cNvPr>
          <p:cNvSpPr/>
          <p:nvPr/>
        </p:nvSpPr>
        <p:spPr>
          <a:xfrm>
            <a:off x="1628775" y="5981700"/>
            <a:ext cx="4610100" cy="3581400"/>
          </a:xfrm>
          <a:prstGeom prst="roundRect">
            <a:avLst/>
          </a:prstGeom>
          <a:solidFill>
            <a:srgbClr val="7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37F8D227-B324-423F-AE71-DE8D9253431C}"/>
              </a:ext>
            </a:extLst>
          </p:cNvPr>
          <p:cNvSpPr/>
          <p:nvPr/>
        </p:nvSpPr>
        <p:spPr>
          <a:xfrm>
            <a:off x="12049127" y="5981700"/>
            <a:ext cx="4610100" cy="3581400"/>
          </a:xfrm>
          <a:prstGeom prst="roundRect">
            <a:avLst/>
          </a:prstGeom>
          <a:solidFill>
            <a:srgbClr val="76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A76FB3-C4ED-434A-A421-D31F67DB7636}"/>
              </a:ext>
            </a:extLst>
          </p:cNvPr>
          <p:cNvSpPr/>
          <p:nvPr/>
        </p:nvSpPr>
        <p:spPr>
          <a:xfrm flipV="1">
            <a:off x="844120" y="5442173"/>
            <a:ext cx="16523559" cy="55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12643C58-52CB-46F6-A44B-C4A81E6E8F02}"/>
              </a:ext>
            </a:extLst>
          </p:cNvPr>
          <p:cNvSpPr/>
          <p:nvPr/>
        </p:nvSpPr>
        <p:spPr>
          <a:xfrm>
            <a:off x="9086850" y="5307326"/>
            <a:ext cx="381000" cy="381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4A80B5B-B968-45DE-B2D0-F835050603D7}"/>
              </a:ext>
            </a:extLst>
          </p:cNvPr>
          <p:cNvSpPr/>
          <p:nvPr/>
        </p:nvSpPr>
        <p:spPr>
          <a:xfrm>
            <a:off x="6400800" y="5307326"/>
            <a:ext cx="381000" cy="381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972B89C-F0CC-400C-984A-6DF25E31BCBC}"/>
              </a:ext>
            </a:extLst>
          </p:cNvPr>
          <p:cNvSpPr/>
          <p:nvPr/>
        </p:nvSpPr>
        <p:spPr>
          <a:xfrm>
            <a:off x="11772900" y="5314950"/>
            <a:ext cx="381000" cy="381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F34D3DF-F17F-4890-BAD4-4CEEF6D96974}"/>
              </a:ext>
            </a:extLst>
          </p:cNvPr>
          <p:cNvSpPr/>
          <p:nvPr/>
        </p:nvSpPr>
        <p:spPr>
          <a:xfrm>
            <a:off x="14458950" y="5358763"/>
            <a:ext cx="381000" cy="381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8392EEC-A50A-46D0-983C-07A2CCFD673F}"/>
              </a:ext>
            </a:extLst>
          </p:cNvPr>
          <p:cNvSpPr/>
          <p:nvPr/>
        </p:nvSpPr>
        <p:spPr>
          <a:xfrm>
            <a:off x="3939746" y="5316851"/>
            <a:ext cx="381000" cy="381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2D8AA15-F19D-48E4-83A5-B6B350BE782C}"/>
              </a:ext>
            </a:extLst>
          </p:cNvPr>
          <p:cNvSpPr txBox="1"/>
          <p:nvPr/>
        </p:nvSpPr>
        <p:spPr>
          <a:xfrm>
            <a:off x="7353300" y="2817324"/>
            <a:ext cx="4114800" cy="954107"/>
          </a:xfrm>
          <a:prstGeom prst="rect">
            <a:avLst/>
          </a:prstGeom>
          <a:noFill/>
        </p:spPr>
        <p:txBody>
          <a:bodyPr wrap="square" rtlCol="0">
            <a:spAutoFit/>
          </a:bodyPr>
          <a:lstStyle/>
          <a:p>
            <a:r>
              <a:rPr lang="en-US" sz="2800" dirty="0">
                <a:solidFill>
                  <a:schemeClr val="bg1"/>
                </a:solidFill>
                <a:effectLst/>
                <a:latin typeface="Abadi" panose="020B0604020202020204" pitchFamily="34" charset="0"/>
                <a:ea typeface="Aptos"/>
                <a:cs typeface="Times New Roman" panose="02020603050405020304" pitchFamily="18" charset="0"/>
              </a:rPr>
              <a:t>Launch app and Beacon within six months</a:t>
            </a:r>
            <a:endParaRPr lang="en-US" sz="2800" dirty="0">
              <a:solidFill>
                <a:schemeClr val="bg1"/>
              </a:solidFill>
            </a:endParaRPr>
          </a:p>
        </p:txBody>
      </p:sp>
      <p:sp>
        <p:nvSpPr>
          <p:cNvPr id="21" name="TextBox 20">
            <a:extLst>
              <a:ext uri="{FF2B5EF4-FFF2-40B4-BE49-F238E27FC236}">
                <a16:creationId xmlns:a16="http://schemas.microsoft.com/office/drawing/2014/main" id="{CACF7542-BBB8-4393-9A4E-94BA74B29EFB}"/>
              </a:ext>
            </a:extLst>
          </p:cNvPr>
          <p:cNvSpPr txBox="1"/>
          <p:nvPr/>
        </p:nvSpPr>
        <p:spPr>
          <a:xfrm>
            <a:off x="12153900" y="7275437"/>
            <a:ext cx="4610100" cy="993926"/>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sz="2800" kern="100" dirty="0">
                <a:solidFill>
                  <a:schemeClr val="bg1"/>
                </a:solidFill>
                <a:effectLst/>
                <a:latin typeface="Abadi" panose="020B0604020202020204" pitchFamily="34" charset="0"/>
                <a:ea typeface="Aptos"/>
                <a:cs typeface="Times New Roman" panose="02020603050405020304" pitchFamily="18" charset="0"/>
              </a:rPr>
              <a:t>Achieve 10,000 downloads in the first year.</a:t>
            </a:r>
          </a:p>
        </p:txBody>
      </p:sp>
      <p:sp>
        <p:nvSpPr>
          <p:cNvPr id="22" name="TextBox 21">
            <a:extLst>
              <a:ext uri="{FF2B5EF4-FFF2-40B4-BE49-F238E27FC236}">
                <a16:creationId xmlns:a16="http://schemas.microsoft.com/office/drawing/2014/main" id="{A8A1D5DB-7F05-42CE-88BB-F1A211EB800F}"/>
              </a:ext>
            </a:extLst>
          </p:cNvPr>
          <p:cNvSpPr txBox="1"/>
          <p:nvPr/>
        </p:nvSpPr>
        <p:spPr>
          <a:xfrm>
            <a:off x="1728785" y="7275437"/>
            <a:ext cx="4610100" cy="993926"/>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sz="2800" kern="100" dirty="0">
                <a:solidFill>
                  <a:schemeClr val="bg1"/>
                </a:solidFill>
                <a:effectLst/>
                <a:latin typeface="Abadi" panose="020B0604020202020204" pitchFamily="34" charset="0"/>
                <a:ea typeface="Aptos"/>
                <a:cs typeface="Times New Roman" panose="02020603050405020304" pitchFamily="18" charset="0"/>
              </a:rPr>
              <a:t>Obtain funding for scaling and expansion.</a:t>
            </a:r>
          </a:p>
        </p:txBody>
      </p:sp>
    </p:spTree>
    <p:extLst>
      <p:ext uri="{BB962C8B-B14F-4D97-AF65-F5344CB8AC3E}">
        <p14:creationId xmlns:p14="http://schemas.microsoft.com/office/powerpoint/2010/main" val="1997204831"/>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Projection</a:t>
            </a:r>
            <a:endParaRPr lang="en-US" sz="4560" dirty="0">
              <a:solidFill>
                <a:srgbClr val="FF0000"/>
              </a:solidFill>
              <a:latin typeface="Poppins Bold"/>
              <a:ea typeface="Poppins Bold"/>
              <a:cs typeface="Poppins Bold"/>
              <a:sym typeface="Poppins Bold"/>
            </a:endParaRPr>
          </a:p>
        </p:txBody>
      </p:sp>
      <p:sp>
        <p:nvSpPr>
          <p:cNvPr id="44" name="Rectangle 43">
            <a:extLst>
              <a:ext uri="{FF2B5EF4-FFF2-40B4-BE49-F238E27FC236}">
                <a16:creationId xmlns:a16="http://schemas.microsoft.com/office/drawing/2014/main" id="{7A70A5ED-1BB4-710D-D4A9-602BAF2C13FE}"/>
              </a:ext>
            </a:extLst>
          </p:cNvPr>
          <p:cNvSpPr/>
          <p:nvPr/>
        </p:nvSpPr>
        <p:spPr>
          <a:xfrm>
            <a:off x="472440" y="12115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FFEC876-E469-4B62-B46F-E0D1E314D9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0725" y="2344175"/>
            <a:ext cx="14401800" cy="7834023"/>
          </a:xfrm>
          <a:prstGeom prst="rect">
            <a:avLst/>
          </a:prstGeom>
        </p:spPr>
      </p:pic>
      <p:sp>
        <p:nvSpPr>
          <p:cNvPr id="14" name="TextBox 13">
            <a:extLst>
              <a:ext uri="{FF2B5EF4-FFF2-40B4-BE49-F238E27FC236}">
                <a16:creationId xmlns:a16="http://schemas.microsoft.com/office/drawing/2014/main" id="{172ECD29-D16A-4741-ABC9-54268BA1C1F8}"/>
              </a:ext>
            </a:extLst>
          </p:cNvPr>
          <p:cNvSpPr txBox="1"/>
          <p:nvPr/>
        </p:nvSpPr>
        <p:spPr>
          <a:xfrm>
            <a:off x="5695950" y="1418308"/>
            <a:ext cx="6819900" cy="769441"/>
          </a:xfrm>
          <a:prstGeom prst="rect">
            <a:avLst/>
          </a:prstGeom>
          <a:noFill/>
        </p:spPr>
        <p:txBody>
          <a:bodyPr wrap="square" rtlCol="0">
            <a:spAutoFit/>
          </a:bodyPr>
          <a:lstStyle/>
          <a:p>
            <a:pPr algn="ctr"/>
            <a:r>
              <a:rPr lang="en-US" sz="4400" dirty="0">
                <a:solidFill>
                  <a:schemeClr val="bg1"/>
                </a:solidFill>
              </a:rPr>
              <a:t>Revenue </a:t>
            </a:r>
            <a:r>
              <a:rPr lang="en-US" sz="4400" dirty="0">
                <a:solidFill>
                  <a:srgbClr val="FF0000"/>
                </a:solidFill>
              </a:rPr>
              <a:t>Projection</a:t>
            </a:r>
          </a:p>
        </p:txBody>
      </p:sp>
    </p:spTree>
    <p:extLst>
      <p:ext uri="{BB962C8B-B14F-4D97-AF65-F5344CB8AC3E}">
        <p14:creationId xmlns:p14="http://schemas.microsoft.com/office/powerpoint/2010/main" val="147164465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Projection</a:t>
            </a:r>
            <a:endParaRPr lang="en-US" sz="4560" dirty="0">
              <a:solidFill>
                <a:srgbClr val="FF0000"/>
              </a:solidFill>
              <a:latin typeface="Poppins Bold"/>
              <a:ea typeface="Poppins Bold"/>
              <a:cs typeface="Poppins Bold"/>
              <a:sym typeface="Poppins Bold"/>
            </a:endParaRPr>
          </a:p>
        </p:txBody>
      </p:sp>
      <p:sp>
        <p:nvSpPr>
          <p:cNvPr id="44" name="Rectangle 43">
            <a:extLst>
              <a:ext uri="{FF2B5EF4-FFF2-40B4-BE49-F238E27FC236}">
                <a16:creationId xmlns:a16="http://schemas.microsoft.com/office/drawing/2014/main" id="{7A70A5ED-1BB4-710D-D4A9-602BAF2C13FE}"/>
              </a:ext>
            </a:extLst>
          </p:cNvPr>
          <p:cNvSpPr/>
          <p:nvPr/>
        </p:nvSpPr>
        <p:spPr>
          <a:xfrm>
            <a:off x="472440" y="12115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72ECD29-D16A-4741-ABC9-54268BA1C1F8}"/>
              </a:ext>
            </a:extLst>
          </p:cNvPr>
          <p:cNvSpPr txBox="1"/>
          <p:nvPr/>
        </p:nvSpPr>
        <p:spPr>
          <a:xfrm>
            <a:off x="5695950" y="1418308"/>
            <a:ext cx="6819900" cy="769441"/>
          </a:xfrm>
          <a:prstGeom prst="rect">
            <a:avLst/>
          </a:prstGeom>
          <a:noFill/>
        </p:spPr>
        <p:txBody>
          <a:bodyPr wrap="square" rtlCol="0">
            <a:spAutoFit/>
          </a:bodyPr>
          <a:lstStyle/>
          <a:p>
            <a:pPr algn="ctr"/>
            <a:r>
              <a:rPr lang="en-US" sz="4400" dirty="0">
                <a:solidFill>
                  <a:schemeClr val="bg1"/>
                </a:solidFill>
              </a:rPr>
              <a:t>Cost </a:t>
            </a:r>
            <a:r>
              <a:rPr lang="en-US" sz="4400" dirty="0">
                <a:solidFill>
                  <a:srgbClr val="FF0000"/>
                </a:solidFill>
              </a:rPr>
              <a:t>Projection</a:t>
            </a:r>
          </a:p>
        </p:txBody>
      </p:sp>
      <p:pic>
        <p:nvPicPr>
          <p:cNvPr id="3" name="Picture 2">
            <a:extLst>
              <a:ext uri="{FF2B5EF4-FFF2-40B4-BE49-F238E27FC236}">
                <a16:creationId xmlns:a16="http://schemas.microsoft.com/office/drawing/2014/main" id="{924E5C7E-8739-4E5D-AE0B-15F304F714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0750" y="2351285"/>
            <a:ext cx="14173200" cy="7695979"/>
          </a:xfrm>
          <a:prstGeom prst="rect">
            <a:avLst/>
          </a:prstGeom>
        </p:spPr>
      </p:pic>
    </p:spTree>
    <p:extLst>
      <p:ext uri="{BB962C8B-B14F-4D97-AF65-F5344CB8AC3E}">
        <p14:creationId xmlns:p14="http://schemas.microsoft.com/office/powerpoint/2010/main" val="1617922439"/>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Revenue </a:t>
            </a:r>
            <a:r>
              <a:rPr lang="en-US" sz="4560" dirty="0">
                <a:solidFill>
                  <a:srgbClr val="FF0000"/>
                </a:solidFill>
                <a:latin typeface="Poppins Bold"/>
                <a:ea typeface="Poppins Bold"/>
                <a:cs typeface="Poppins Bold"/>
                <a:sym typeface="Poppins Bold"/>
              </a:rPr>
              <a:t>Model</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3200" b="1" kern="100" dirty="0">
                  <a:effectLst/>
                  <a:latin typeface="Abadi" panose="020B0604020202020204" pitchFamily="34" charset="0"/>
                  <a:ea typeface="Aptos" panose="020B0004020202020204"/>
                  <a:cs typeface="Times New Roman" panose="02020603050405020304" pitchFamily="18" charset="0"/>
                </a:rPr>
                <a:t>Device Sales</a:t>
              </a:r>
              <a:endParaRPr lang="en-US" sz="3200" kern="100" dirty="0">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b="1" kern="100" dirty="0">
                  <a:solidFill>
                    <a:srgbClr val="FFFF00"/>
                  </a:solidFill>
                  <a:effectLst/>
                  <a:latin typeface="Abadi" panose="020B0604020202020204" pitchFamily="34" charset="0"/>
                  <a:ea typeface="Aptos" panose="020B0004020202020204"/>
                  <a:cs typeface="Times New Roman" panose="02020603050405020304" pitchFamily="18" charset="0"/>
                </a:rPr>
                <a:t>SAFE LINK Beacon</a:t>
              </a:r>
              <a:endParaRPr lang="en-US" sz="32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228600" marR="0">
                <a:lnSpc>
                  <a:spcPct val="107000"/>
                </a:lnSpc>
                <a:spcBef>
                  <a:spcPts val="0"/>
                </a:spcBef>
                <a:spcAft>
                  <a:spcPts val="800"/>
                </a:spcAft>
              </a:pPr>
              <a:r>
                <a:rPr lang="en-US" sz="4000" kern="100" dirty="0">
                  <a:effectLst/>
                  <a:latin typeface="Abadi" panose="020B0604020202020204" pitchFamily="34" charset="0"/>
                  <a:ea typeface="Aptos" panose="020B0004020202020204"/>
                  <a:cs typeface="Times New Roman" panose="02020603050405020304" pitchFamily="18" charset="0"/>
                </a:rPr>
                <a:t>Users purchase this satellite communication device for a one-time fee. The Beacon is essential for maintaining communication in remote areas, providing peace of mind and safety assurance.</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305755574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3600" b="1" kern="100" dirty="0">
                  <a:solidFill>
                    <a:schemeClr val="bg1"/>
                  </a:solidFill>
                  <a:effectLst/>
                  <a:latin typeface="Abadi" panose="020B0604020202020204" pitchFamily="34" charset="0"/>
                  <a:ea typeface="Aptos" panose="020B0004020202020204"/>
                  <a:cs typeface="Times New Roman" panose="02020603050405020304" pitchFamily="18" charset="0"/>
                </a:rPr>
                <a:t>In App Purchases </a:t>
              </a:r>
            </a:p>
            <a:p>
              <a:pPr marL="0" marR="0">
                <a:lnSpc>
                  <a:spcPct val="107000"/>
                </a:lnSpc>
                <a:spcBef>
                  <a:spcPts val="0"/>
                </a:spcBef>
                <a:spcAft>
                  <a:spcPts val="800"/>
                </a:spcAft>
              </a:pPr>
              <a:r>
                <a:rPr lang="en-US" sz="3600" b="1" kern="100" dirty="0">
                  <a:solidFill>
                    <a:srgbClr val="FFFF00"/>
                  </a:solidFill>
                  <a:latin typeface="Abadi" panose="020B0604020202020204" pitchFamily="34" charset="0"/>
                  <a:ea typeface="Aptos" panose="020B0004020202020204"/>
                  <a:cs typeface="Times New Roman" panose="02020603050405020304" pitchFamily="18" charset="0"/>
                </a:rPr>
                <a:t>          </a:t>
              </a:r>
              <a:r>
                <a:rPr lang="en-US" sz="3600" b="1" kern="100" dirty="0">
                  <a:solidFill>
                    <a:srgbClr val="FFFF00"/>
                  </a:solidFill>
                  <a:effectLst/>
                  <a:latin typeface="Abadi" panose="020B0604020202020204" pitchFamily="34" charset="0"/>
                  <a:ea typeface="Aptos" panose="020B0004020202020204"/>
                  <a:cs typeface="Times New Roman" panose="02020603050405020304" pitchFamily="18" charset="0"/>
                </a:rPr>
                <a:t>Premium Features</a:t>
              </a:r>
              <a:endParaRPr lang="en-US" sz="36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R="0" lvl="1" algn="just">
                <a:lnSpc>
                  <a:spcPct val="107000"/>
                </a:lnSpc>
                <a:spcBef>
                  <a:spcPts val="0"/>
                </a:spcBef>
                <a:spcAft>
                  <a:spcPts val="800"/>
                </a:spcAft>
                <a:buSzPts val="1000"/>
                <a:tabLst>
                  <a:tab pos="914400" algn="l"/>
                </a:tabLst>
              </a:pPr>
              <a:r>
                <a:rPr lang="en-US" sz="3600" dirty="0">
                  <a:effectLst/>
                  <a:latin typeface="Abadi" panose="020B0604020202020204" pitchFamily="34" charset="0"/>
                  <a:ea typeface="Aptos" panose="020B0004020202020204"/>
                  <a:cs typeface="Times New Roman" panose="02020603050405020304" pitchFamily="18" charset="0"/>
                </a:rPr>
                <a:t>    Users can buy additional features such as advanced tracking, enhanced accident detection, and personalized emergency response plans. These features can be accessed through a one-time fee or by upgrading their subscription.</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393127839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6600" b="1" dirty="0">
                <a:solidFill>
                  <a:schemeClr val="bg1"/>
                </a:solidFill>
                <a:latin typeface="Poppins"/>
                <a:ea typeface="Poppins"/>
                <a:cs typeface="Poppins"/>
                <a:sym typeface="Poppins"/>
              </a:rPr>
              <a:t>SWOT </a:t>
            </a:r>
            <a:r>
              <a:rPr lang="en-US" sz="16600" b="1" dirty="0">
                <a:solidFill>
                  <a:srgbClr val="FF0000"/>
                </a:solidFill>
                <a:latin typeface="Poppins"/>
                <a:ea typeface="Poppins"/>
                <a:cs typeface="Poppins"/>
                <a:sym typeface="Poppins"/>
              </a:rPr>
              <a:t>Analysis</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32782146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3810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6635684" cy="679673"/>
          </a:xfrm>
          <a:prstGeom prst="rect">
            <a:avLst/>
          </a:prstGeom>
        </p:spPr>
        <p:txBody>
          <a:bodyPr wrap="square" lIns="0" tIns="0" rIns="0" bIns="0" rtlCol="0" anchor="t">
            <a:spAutoFit/>
          </a:bodyPr>
          <a:lstStyle/>
          <a:p>
            <a:pPr algn="l">
              <a:lnSpc>
                <a:spcPts val="5336"/>
              </a:lnSpc>
            </a:pPr>
            <a:r>
              <a:rPr lang="en-US" sz="4560" dirty="0">
                <a:solidFill>
                  <a:srgbClr val="FF0000"/>
                </a:solidFill>
                <a:latin typeface="Poppins Bold"/>
                <a:ea typeface="Poppins Bold"/>
                <a:cs typeface="Poppins Bold"/>
                <a:sym typeface="Poppins Bold"/>
              </a:rPr>
              <a:t>SWOT</a:t>
            </a:r>
            <a:r>
              <a:rPr lang="en-US" sz="4560" dirty="0">
                <a:solidFill>
                  <a:srgbClr val="FFFFFF"/>
                </a:solidFill>
                <a:latin typeface="Poppins Bold"/>
                <a:ea typeface="Poppins Bold"/>
                <a:cs typeface="Poppins Bold"/>
                <a:sym typeface="Poppins Bold"/>
              </a:rPr>
              <a:t> Analysis</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5189D680-F375-699F-0E63-C1A0FED527B4}"/>
              </a:ext>
            </a:extLst>
          </p:cNvPr>
          <p:cNvGrpSpPr/>
          <p:nvPr/>
        </p:nvGrpSpPr>
        <p:grpSpPr>
          <a:xfrm>
            <a:off x="7596687" y="4018936"/>
            <a:ext cx="3276600" cy="3276600"/>
            <a:chOff x="7503994" y="3505200"/>
            <a:chExt cx="3276600" cy="3276600"/>
          </a:xfrm>
          <a:solidFill>
            <a:srgbClr val="760000"/>
          </a:solidFill>
        </p:grpSpPr>
        <p:sp>
          <p:nvSpPr>
            <p:cNvPr id="10" name="Oval 9">
              <a:extLst>
                <a:ext uri="{FF2B5EF4-FFF2-40B4-BE49-F238E27FC236}">
                  <a16:creationId xmlns:a16="http://schemas.microsoft.com/office/drawing/2014/main" id="{96E2D5E7-A9DE-8BD9-BD05-8208D6441F83}"/>
                </a:ext>
              </a:extLst>
            </p:cNvPr>
            <p:cNvSpPr/>
            <p:nvPr/>
          </p:nvSpPr>
          <p:spPr>
            <a:xfrm>
              <a:off x="7503994" y="3505200"/>
              <a:ext cx="3276600" cy="3276600"/>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AD88C42-00C0-003C-EA30-6AC702AFE766}"/>
                </a:ext>
              </a:extLst>
            </p:cNvPr>
            <p:cNvSpPr/>
            <p:nvPr/>
          </p:nvSpPr>
          <p:spPr>
            <a:xfrm>
              <a:off x="9104194" y="3505200"/>
              <a:ext cx="76200" cy="3276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2F49C5-A3B3-DD19-67FD-5B2C510DFC0B}"/>
                </a:ext>
              </a:extLst>
            </p:cNvPr>
            <p:cNvSpPr/>
            <p:nvPr/>
          </p:nvSpPr>
          <p:spPr>
            <a:xfrm rot="5400000">
              <a:off x="9104194" y="3508612"/>
              <a:ext cx="76200" cy="32766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EF4CD32D-68BC-0B94-DCE8-207695EDA0B9}"/>
              </a:ext>
            </a:extLst>
          </p:cNvPr>
          <p:cNvGrpSpPr/>
          <p:nvPr/>
        </p:nvGrpSpPr>
        <p:grpSpPr>
          <a:xfrm>
            <a:off x="10038497" y="1227153"/>
            <a:ext cx="5734903" cy="4221147"/>
            <a:chOff x="9505096" y="817631"/>
            <a:chExt cx="5734903" cy="4221147"/>
          </a:xfrm>
          <a:solidFill>
            <a:srgbClr val="760000"/>
          </a:solidFill>
        </p:grpSpPr>
        <p:sp>
          <p:nvSpPr>
            <p:cNvPr id="13" name="Rectangle 12">
              <a:extLst>
                <a:ext uri="{FF2B5EF4-FFF2-40B4-BE49-F238E27FC236}">
                  <a16:creationId xmlns:a16="http://schemas.microsoft.com/office/drawing/2014/main" id="{2ED8B607-8050-A6CB-304D-A204538468D6}"/>
                </a:ext>
              </a:extLst>
            </p:cNvPr>
            <p:cNvSpPr/>
            <p:nvPr/>
          </p:nvSpPr>
          <p:spPr>
            <a:xfrm>
              <a:off x="9505096" y="817631"/>
              <a:ext cx="5734903" cy="396153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8E8EF61-6F4A-005A-AAD9-28801B9832FC}"/>
                </a:ext>
              </a:extLst>
            </p:cNvPr>
            <p:cNvSpPr txBox="1"/>
            <p:nvPr/>
          </p:nvSpPr>
          <p:spPr>
            <a:xfrm>
              <a:off x="9654085" y="970998"/>
              <a:ext cx="5452074" cy="4067780"/>
            </a:xfrm>
            <a:prstGeom prst="rect">
              <a:avLst/>
            </a:prstGeom>
            <a:noFill/>
          </p:spPr>
          <p:txBody>
            <a:bodyPr wrap="square" rtlCol="0">
              <a:spAutoFit/>
            </a:bodyPr>
            <a:lstStyle/>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Initial Cost</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The high initial cost of the device and app may be a barrier for some users.</a:t>
              </a:r>
            </a:p>
            <a:p>
              <a:pPr marL="342900" marR="0" lvl="0" indent="-342900" algn="just">
                <a:lnSpc>
                  <a:spcPct val="115000"/>
                </a:lnSpc>
                <a:spcBef>
                  <a:spcPts val="0"/>
                </a:spcBef>
                <a:spcAft>
                  <a:spcPts val="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Dependence on External Hardware</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Requires an additional device for satellite communication, which may be inconvenient for some users.</a:t>
              </a:r>
            </a:p>
            <a:p>
              <a:pPr marL="342900" marR="0" lvl="0" indent="-342900" algn="just">
                <a:lnSpc>
                  <a:spcPct val="115000"/>
                </a:lnSpc>
                <a:spcBef>
                  <a:spcPts val="0"/>
                </a:spcBef>
                <a:spcAft>
                  <a:spcPts val="100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Battery Life</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Limited battery life could be a concern during extended periods of use without recharging.</a:t>
              </a:r>
            </a:p>
            <a:p>
              <a:pPr algn="just"/>
              <a:endParaRPr lang="en-US" sz="2000" dirty="0">
                <a:solidFill>
                  <a:schemeClr val="bg1"/>
                </a:solidFill>
              </a:endParaRPr>
            </a:p>
          </p:txBody>
        </p:sp>
      </p:grpSp>
      <p:grpSp>
        <p:nvGrpSpPr>
          <p:cNvPr id="26" name="Group 25">
            <a:extLst>
              <a:ext uri="{FF2B5EF4-FFF2-40B4-BE49-F238E27FC236}">
                <a16:creationId xmlns:a16="http://schemas.microsoft.com/office/drawing/2014/main" id="{CC435D1D-620C-D72E-619F-C9807E4BD3BE}"/>
              </a:ext>
            </a:extLst>
          </p:cNvPr>
          <p:cNvGrpSpPr/>
          <p:nvPr/>
        </p:nvGrpSpPr>
        <p:grpSpPr>
          <a:xfrm>
            <a:off x="10190897" y="6028394"/>
            <a:ext cx="5734903" cy="3961535"/>
            <a:chOff x="9505096" y="817631"/>
            <a:chExt cx="5734903" cy="3961535"/>
          </a:xfrm>
          <a:solidFill>
            <a:srgbClr val="760000"/>
          </a:solidFill>
        </p:grpSpPr>
        <p:sp>
          <p:nvSpPr>
            <p:cNvPr id="27" name="Rectangle 26">
              <a:extLst>
                <a:ext uri="{FF2B5EF4-FFF2-40B4-BE49-F238E27FC236}">
                  <a16:creationId xmlns:a16="http://schemas.microsoft.com/office/drawing/2014/main" id="{7E560786-B383-3B30-B743-8FB5790EDC1D}"/>
                </a:ext>
              </a:extLst>
            </p:cNvPr>
            <p:cNvSpPr/>
            <p:nvPr/>
          </p:nvSpPr>
          <p:spPr>
            <a:xfrm>
              <a:off x="9505096" y="817631"/>
              <a:ext cx="5734903" cy="396153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E0BF4F8-4F5C-63D5-6A74-103FCAF021D5}"/>
                </a:ext>
              </a:extLst>
            </p:cNvPr>
            <p:cNvSpPr txBox="1"/>
            <p:nvPr/>
          </p:nvSpPr>
          <p:spPr>
            <a:xfrm>
              <a:off x="9654085" y="970998"/>
              <a:ext cx="5452074" cy="3770904"/>
            </a:xfrm>
            <a:prstGeom prst="rect">
              <a:avLst/>
            </a:prstGeom>
            <a:grpFill/>
          </p:spPr>
          <p:txBody>
            <a:bodyPr wrap="square" rtlCol="0">
              <a:spAutoFit/>
            </a:bodyPr>
            <a:lstStyle/>
            <a:p>
              <a:pPr marL="285750" indent="-285750">
                <a:buSzPct val="106000"/>
                <a:buFont typeface="Arial" panose="020B0604020202020204" pitchFamily="34" charset="0"/>
                <a:buChar char="•"/>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Growing Demand for Safety Devices</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Increasing awareness of personal safety and the need for reliable emergency communication.</a:t>
              </a:r>
            </a:p>
            <a:p>
              <a:pPr marL="285750" marR="0" lvl="0" indent="-285750">
                <a:lnSpc>
                  <a:spcPct val="115000"/>
                </a:lnSpc>
                <a:spcBef>
                  <a:spcPts val="0"/>
                </a:spcBef>
                <a:spcAft>
                  <a:spcPts val="0"/>
                </a:spcAft>
                <a:buSzPct val="106000"/>
                <a:buFont typeface="Arial" panose="020B0604020202020204" pitchFamily="34" charset="0"/>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Technological Advancements</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Leveraging ongoing advancements in satellite and mobile technology to improve product features.</a:t>
              </a:r>
            </a:p>
            <a:p>
              <a:pPr marL="285750" marR="0" lvl="0" indent="-285750">
                <a:lnSpc>
                  <a:spcPct val="115000"/>
                </a:lnSpc>
                <a:spcBef>
                  <a:spcPts val="0"/>
                </a:spcBef>
                <a:spcAft>
                  <a:spcPts val="1000"/>
                </a:spcAft>
                <a:buSzPct val="106000"/>
                <a:buFont typeface="Arial" panose="020B0604020202020204" pitchFamily="34" charset="0"/>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Customization for Different Industries:</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Tailoring the SAFE LINK Beacon for specific industries such as adventure tourism, construction, and transportation.</a:t>
              </a:r>
            </a:p>
          </p:txBody>
        </p:sp>
      </p:grpSp>
      <p:grpSp>
        <p:nvGrpSpPr>
          <p:cNvPr id="29" name="Group 28">
            <a:extLst>
              <a:ext uri="{FF2B5EF4-FFF2-40B4-BE49-F238E27FC236}">
                <a16:creationId xmlns:a16="http://schemas.microsoft.com/office/drawing/2014/main" id="{8D82B5EC-F69A-922A-9FDA-D6C37E00FE14}"/>
              </a:ext>
            </a:extLst>
          </p:cNvPr>
          <p:cNvGrpSpPr/>
          <p:nvPr/>
        </p:nvGrpSpPr>
        <p:grpSpPr>
          <a:xfrm>
            <a:off x="2667000" y="6028394"/>
            <a:ext cx="5734903" cy="3961535"/>
            <a:chOff x="9505096" y="817631"/>
            <a:chExt cx="5734903" cy="3961535"/>
          </a:xfrm>
        </p:grpSpPr>
        <p:sp>
          <p:nvSpPr>
            <p:cNvPr id="30" name="Rectangle 29">
              <a:extLst>
                <a:ext uri="{FF2B5EF4-FFF2-40B4-BE49-F238E27FC236}">
                  <a16:creationId xmlns:a16="http://schemas.microsoft.com/office/drawing/2014/main" id="{0BF2DDD9-E70C-1323-10F0-A4D5EE2B1D47}"/>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4AD56AB-2A6D-7135-BB3C-8523381B5760}"/>
                </a:ext>
              </a:extLst>
            </p:cNvPr>
            <p:cNvSpPr txBox="1"/>
            <p:nvPr/>
          </p:nvSpPr>
          <p:spPr>
            <a:xfrm>
              <a:off x="9654085" y="970998"/>
              <a:ext cx="5452074" cy="3247684"/>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Competitive Market</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Emerging competitors offering similar emergency communication solutions.</a:t>
              </a:r>
            </a:p>
            <a:p>
              <a:pPr marL="342900" marR="0" lvl="0" indent="-342900">
                <a:lnSpc>
                  <a:spcPct val="115000"/>
                </a:lnSpc>
                <a:spcBef>
                  <a:spcPts val="0"/>
                </a:spcBef>
                <a:spcAft>
                  <a:spcPts val="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Economic Factors</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Economic downturns could affect consumer spending on non-essential devices.</a:t>
              </a:r>
            </a:p>
            <a:p>
              <a:pPr marL="342900" marR="0" lvl="0" indent="-342900">
                <a:lnSpc>
                  <a:spcPct val="115000"/>
                </a:lnSpc>
                <a:spcBef>
                  <a:spcPts val="0"/>
                </a:spcBef>
                <a:spcAft>
                  <a:spcPts val="100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Network Limitations</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Reliance on satellite networks that may have their own coverage and reliability issues.</a:t>
              </a:r>
            </a:p>
          </p:txBody>
        </p:sp>
      </p:grpSp>
      <p:grpSp>
        <p:nvGrpSpPr>
          <p:cNvPr id="32" name="Group 31">
            <a:extLst>
              <a:ext uri="{FF2B5EF4-FFF2-40B4-BE49-F238E27FC236}">
                <a16:creationId xmlns:a16="http://schemas.microsoft.com/office/drawing/2014/main" id="{93CB5643-0401-CC3F-F40B-0F5CB572F498}"/>
              </a:ext>
            </a:extLst>
          </p:cNvPr>
          <p:cNvGrpSpPr/>
          <p:nvPr/>
        </p:nvGrpSpPr>
        <p:grpSpPr>
          <a:xfrm>
            <a:off x="2590800" y="1336862"/>
            <a:ext cx="5734903" cy="3961535"/>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3601627"/>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Innovative Technology</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Utilizes advanced satellite communication for reliable emergency connectivity in no-network areas.</a:t>
              </a:r>
            </a:p>
            <a:p>
              <a:pPr marL="342900" marR="0" lvl="0" indent="-342900">
                <a:lnSpc>
                  <a:spcPct val="115000"/>
                </a:lnSpc>
                <a:spcBef>
                  <a:spcPts val="0"/>
                </a:spcBef>
                <a:spcAft>
                  <a:spcPts val="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Automatic Accident Detection</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Features automatic detection of accidents and immediate notification to emergency services.</a:t>
              </a:r>
            </a:p>
            <a:p>
              <a:pPr marL="342900" marR="0" lvl="0" indent="-342900">
                <a:lnSpc>
                  <a:spcPct val="115000"/>
                </a:lnSpc>
                <a:spcBef>
                  <a:spcPts val="0"/>
                </a:spcBef>
                <a:spcAft>
                  <a:spcPts val="1000"/>
                </a:spcAft>
                <a:buFont typeface="Symbol" panose="05050102010706020507" pitchFamily="18" charset="2"/>
                <a:buChar char=""/>
                <a:tabLst>
                  <a:tab pos="228600" algn="l"/>
                </a:tabLst>
              </a:pPr>
              <a:r>
                <a:rPr lang="en-US" sz="2000" b="1"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User-Friendly Interface</a:t>
              </a:r>
              <a:r>
                <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rPr>
                <a:t>: Companion app is intuitive and easy to navigate, enhancing user experience.</a:t>
              </a:r>
            </a:p>
          </p:txBody>
        </p:sp>
      </p:grpSp>
      <p:sp>
        <p:nvSpPr>
          <p:cNvPr id="36" name="TextBox 35">
            <a:extLst>
              <a:ext uri="{FF2B5EF4-FFF2-40B4-BE49-F238E27FC236}">
                <a16:creationId xmlns:a16="http://schemas.microsoft.com/office/drawing/2014/main" id="{3663F8BA-A5DA-EFCE-8741-83E2B19E859F}"/>
              </a:ext>
            </a:extLst>
          </p:cNvPr>
          <p:cNvSpPr txBox="1"/>
          <p:nvPr/>
        </p:nvSpPr>
        <p:spPr>
          <a:xfrm>
            <a:off x="7965904" y="4257251"/>
            <a:ext cx="1090112" cy="1446550"/>
          </a:xfrm>
          <a:prstGeom prst="rect">
            <a:avLst/>
          </a:prstGeom>
          <a:noFill/>
        </p:spPr>
        <p:txBody>
          <a:bodyPr wrap="square" rtlCol="0">
            <a:spAutoFit/>
          </a:bodyPr>
          <a:lstStyle/>
          <a:p>
            <a:pPr algn="ctr"/>
            <a:r>
              <a:rPr lang="en-US" sz="8800" dirty="0">
                <a:solidFill>
                  <a:schemeClr val="bg1"/>
                </a:solidFill>
                <a:latin typeface="Aptos Black" panose="020B0604020202020204" charset="0"/>
              </a:rPr>
              <a:t>S</a:t>
            </a:r>
          </a:p>
        </p:txBody>
      </p:sp>
      <p:sp>
        <p:nvSpPr>
          <p:cNvPr id="37" name="TextBox 36">
            <a:extLst>
              <a:ext uri="{FF2B5EF4-FFF2-40B4-BE49-F238E27FC236}">
                <a16:creationId xmlns:a16="http://schemas.microsoft.com/office/drawing/2014/main" id="{DE63BCE8-063F-C5E5-D74A-FB767676E7DC}"/>
              </a:ext>
            </a:extLst>
          </p:cNvPr>
          <p:cNvSpPr txBox="1"/>
          <p:nvPr/>
        </p:nvSpPr>
        <p:spPr>
          <a:xfrm>
            <a:off x="9399488" y="4329727"/>
            <a:ext cx="1090112" cy="1323439"/>
          </a:xfrm>
          <a:prstGeom prst="rect">
            <a:avLst/>
          </a:prstGeom>
          <a:noFill/>
        </p:spPr>
        <p:txBody>
          <a:bodyPr wrap="square" rtlCol="0">
            <a:spAutoFit/>
          </a:bodyPr>
          <a:lstStyle/>
          <a:p>
            <a:pPr algn="ctr"/>
            <a:r>
              <a:rPr lang="en-US" sz="8000" dirty="0">
                <a:solidFill>
                  <a:schemeClr val="bg1"/>
                </a:solidFill>
                <a:latin typeface="Aptos Black" panose="020B0004020202020204" pitchFamily="34" charset="0"/>
              </a:rPr>
              <a:t>W</a:t>
            </a:r>
          </a:p>
        </p:txBody>
      </p:sp>
      <p:sp>
        <p:nvSpPr>
          <p:cNvPr id="38" name="TextBox 37">
            <a:extLst>
              <a:ext uri="{FF2B5EF4-FFF2-40B4-BE49-F238E27FC236}">
                <a16:creationId xmlns:a16="http://schemas.microsoft.com/office/drawing/2014/main" id="{37EF5B00-3A47-8E0F-6317-63CA30030917}"/>
              </a:ext>
            </a:extLst>
          </p:cNvPr>
          <p:cNvSpPr txBox="1"/>
          <p:nvPr/>
        </p:nvSpPr>
        <p:spPr>
          <a:xfrm>
            <a:off x="9433374" y="5653166"/>
            <a:ext cx="1090112" cy="1446550"/>
          </a:xfrm>
          <a:prstGeom prst="rect">
            <a:avLst/>
          </a:prstGeom>
          <a:noFill/>
        </p:spPr>
        <p:txBody>
          <a:bodyPr wrap="square" rtlCol="0">
            <a:spAutoFit/>
          </a:bodyPr>
          <a:lstStyle/>
          <a:p>
            <a:pPr algn="ctr"/>
            <a:r>
              <a:rPr lang="en-US" sz="8800" dirty="0">
                <a:solidFill>
                  <a:schemeClr val="bg1"/>
                </a:solidFill>
                <a:latin typeface="Aptos Black" panose="020B0004020202020204" pitchFamily="34" charset="0"/>
              </a:rPr>
              <a:t>O</a:t>
            </a:r>
          </a:p>
        </p:txBody>
      </p:sp>
      <p:sp>
        <p:nvSpPr>
          <p:cNvPr id="39" name="TextBox 38">
            <a:extLst>
              <a:ext uri="{FF2B5EF4-FFF2-40B4-BE49-F238E27FC236}">
                <a16:creationId xmlns:a16="http://schemas.microsoft.com/office/drawing/2014/main" id="{686A2DE2-BC4B-B234-C366-C887F555EC6F}"/>
              </a:ext>
            </a:extLst>
          </p:cNvPr>
          <p:cNvSpPr txBox="1"/>
          <p:nvPr/>
        </p:nvSpPr>
        <p:spPr>
          <a:xfrm>
            <a:off x="7993461" y="5675957"/>
            <a:ext cx="1090112" cy="1446550"/>
          </a:xfrm>
          <a:prstGeom prst="rect">
            <a:avLst/>
          </a:prstGeom>
          <a:noFill/>
        </p:spPr>
        <p:txBody>
          <a:bodyPr wrap="square" rtlCol="0">
            <a:spAutoFit/>
          </a:bodyPr>
          <a:lstStyle/>
          <a:p>
            <a:pPr algn="ctr"/>
            <a:r>
              <a:rPr lang="en-US" sz="8800" dirty="0">
                <a:solidFill>
                  <a:schemeClr val="bg1"/>
                </a:solidFill>
                <a:latin typeface="Aptos Black" panose="020B0004020202020204" pitchFamily="34" charset="0"/>
              </a:rPr>
              <a:t>T</a:t>
            </a:r>
          </a:p>
        </p:txBody>
      </p:sp>
    </p:spTree>
    <p:extLst>
      <p:ext uri="{BB962C8B-B14F-4D97-AF65-F5344CB8AC3E}">
        <p14:creationId xmlns:p14="http://schemas.microsoft.com/office/powerpoint/2010/main" val="3977058654"/>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6600" b="1" dirty="0">
                <a:solidFill>
                  <a:schemeClr val="bg1"/>
                </a:solidFill>
                <a:latin typeface="Poppins"/>
                <a:ea typeface="Poppins"/>
                <a:cs typeface="Poppins"/>
                <a:sym typeface="Poppins"/>
              </a:rPr>
              <a:t>Funding For </a:t>
            </a:r>
            <a:r>
              <a:rPr lang="en-US" sz="16600" b="1" dirty="0">
                <a:solidFill>
                  <a:srgbClr val="FF0000"/>
                </a:solidFill>
                <a:latin typeface="Poppins"/>
                <a:ea typeface="Poppins"/>
                <a:cs typeface="Poppins"/>
                <a:sym typeface="Poppins"/>
              </a:rPr>
              <a:t>Startup</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55045077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59273"/>
            <a:ext cx="18288000" cy="10287000"/>
          </a:xfrm>
          <a:prstGeom prst="rect">
            <a:avLst/>
          </a:prstGeom>
          <a:gradFill flip="none" rotWithShape="1">
            <a:gsLst>
              <a:gs pos="22000">
                <a:schemeClr val="tx1"/>
              </a:gs>
              <a:gs pos="96000">
                <a:schemeClr val="bg1">
                  <a:lumMod val="65000"/>
                  <a:alpha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1219200" y="723900"/>
            <a:ext cx="4953000"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Funding Options  in </a:t>
            </a:r>
            <a:r>
              <a:rPr lang="en-US" sz="4560" dirty="0">
                <a:solidFill>
                  <a:srgbClr val="FF0000"/>
                </a:solidFill>
                <a:latin typeface="Poppins Bold"/>
                <a:ea typeface="Poppins Bold"/>
                <a:cs typeface="Poppins Bold"/>
                <a:sym typeface="Poppins Bold"/>
              </a:rPr>
              <a:t>SAFE LINK</a:t>
            </a:r>
          </a:p>
        </p:txBody>
      </p:sp>
      <p:sp>
        <p:nvSpPr>
          <p:cNvPr id="44" name="Rectangle 43">
            <a:extLst>
              <a:ext uri="{FF2B5EF4-FFF2-40B4-BE49-F238E27FC236}">
                <a16:creationId xmlns:a16="http://schemas.microsoft.com/office/drawing/2014/main" id="{7A70A5ED-1BB4-710D-D4A9-602BAF2C13FE}"/>
              </a:ext>
            </a:extLst>
          </p:cNvPr>
          <p:cNvSpPr/>
          <p:nvPr/>
        </p:nvSpPr>
        <p:spPr>
          <a:xfrm>
            <a:off x="1234440" y="21259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5296-E26E-0C53-A26E-EBD6546BDFF2}"/>
              </a:ext>
            </a:extLst>
          </p:cNvPr>
          <p:cNvSpPr txBox="1"/>
          <p:nvPr/>
        </p:nvSpPr>
        <p:spPr>
          <a:xfrm>
            <a:off x="1219200" y="2797136"/>
            <a:ext cx="12725400" cy="4585871"/>
          </a:xfrm>
          <a:prstGeom prst="rect">
            <a:avLst/>
          </a:prstGeom>
          <a:noFill/>
        </p:spPr>
        <p:txBody>
          <a:bodyPr wrap="square" rtlCol="0">
            <a:spAutoFit/>
          </a:bodyPr>
          <a:lstStyle/>
          <a:p>
            <a:r>
              <a:rPr lang="en-US" sz="3600" b="1" dirty="0">
                <a:solidFill>
                  <a:srgbClr val="FFC000"/>
                </a:solidFill>
              </a:rPr>
              <a:t>Bootstrapping</a:t>
            </a:r>
          </a:p>
          <a:p>
            <a:r>
              <a:rPr lang="en-US" sz="3200" b="1" dirty="0">
                <a:solidFill>
                  <a:schemeClr val="bg1"/>
                </a:solidFill>
                <a:effectLst/>
                <a:latin typeface="Times New Roman" panose="02020603050405020304" pitchFamily="18" charset="0"/>
                <a:ea typeface="Times New Roman" panose="02020603050405020304" pitchFamily="18" charset="0"/>
              </a:rPr>
              <a:t>Using personal savings and revenue from early sales to finance the startup, allowing for full control and equity retention.</a:t>
            </a: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4800" b="1" dirty="0">
              <a:solidFill>
                <a:schemeClr val="bg1"/>
              </a:solidFill>
            </a:endParaRPr>
          </a:p>
        </p:txBody>
      </p:sp>
      <p:sp>
        <p:nvSpPr>
          <p:cNvPr id="6" name="TextBox 5">
            <a:extLst>
              <a:ext uri="{FF2B5EF4-FFF2-40B4-BE49-F238E27FC236}">
                <a16:creationId xmlns:a16="http://schemas.microsoft.com/office/drawing/2014/main" id="{D52AEE55-17E5-8182-6615-F53F898D3D9C}"/>
              </a:ext>
            </a:extLst>
          </p:cNvPr>
          <p:cNvSpPr txBox="1"/>
          <p:nvPr/>
        </p:nvSpPr>
        <p:spPr>
          <a:xfrm>
            <a:off x="1234440" y="4914900"/>
            <a:ext cx="13091160" cy="8573886"/>
          </a:xfrm>
          <a:prstGeom prst="rect">
            <a:avLst/>
          </a:prstGeom>
          <a:noFill/>
        </p:spPr>
        <p:txBody>
          <a:bodyPr wrap="square" rtlCol="0">
            <a:spAutoFit/>
          </a:bodyPr>
          <a:lstStyle/>
          <a:p>
            <a:r>
              <a:rPr lang="en-US" sz="3600" b="1" dirty="0">
                <a:solidFill>
                  <a:srgbClr val="FFC000"/>
                </a:solidFill>
              </a:rPr>
              <a:t>Angel Investors</a:t>
            </a:r>
          </a:p>
          <a:p>
            <a:r>
              <a:rPr lang="en-US" sz="32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Securing investment from high-net-worth individuals who provide capital in exchange for equity or convertible debt, often bringing valuable mentorship and connections.</a:t>
            </a: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3600" b="1" dirty="0">
                <a:solidFill>
                  <a:srgbClr val="FFC000"/>
                </a:solidFill>
              </a:rPr>
              <a:t>Bank Loans and Lines Of Credit</a:t>
            </a:r>
          </a:p>
          <a:p>
            <a:pPr marL="0" marR="0">
              <a:lnSpc>
                <a:spcPct val="107000"/>
              </a:lnSpc>
              <a:spcBef>
                <a:spcPts val="0"/>
              </a:spcBef>
              <a:spcAft>
                <a:spcPts val="800"/>
              </a:spcAft>
            </a:pPr>
            <a:r>
              <a:rPr lang="en-US" sz="32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Obtaining funds from financial institutions that need to be repaid with interest, providing capital for operational costs and expansion.</a:t>
            </a:r>
            <a:endPar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solidFill>
                <a:schemeClr val="bg1"/>
              </a:solidFill>
            </a:endParaRPr>
          </a:p>
        </p:txBody>
      </p:sp>
      <p:sp>
        <p:nvSpPr>
          <p:cNvPr id="29" name="Rectangle 28">
            <a:extLst>
              <a:ext uri="{FF2B5EF4-FFF2-40B4-BE49-F238E27FC236}">
                <a16:creationId xmlns:a16="http://schemas.microsoft.com/office/drawing/2014/main" id="{47185441-C7F4-E8F0-8516-710EDB1FAD0B}"/>
              </a:ext>
            </a:extLst>
          </p:cNvPr>
          <p:cNvSpPr/>
          <p:nvPr/>
        </p:nvSpPr>
        <p:spPr>
          <a:xfrm rot="5400000">
            <a:off x="21217967" y="-4324024"/>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30" name="Group 47">
            <a:extLst>
              <a:ext uri="{FF2B5EF4-FFF2-40B4-BE49-F238E27FC236}">
                <a16:creationId xmlns:a16="http://schemas.microsoft.com/office/drawing/2014/main" id="{50D325CB-1A67-6D3E-8C2A-F001C8EBB1FA}"/>
              </a:ext>
            </a:extLst>
          </p:cNvPr>
          <p:cNvGrpSpPr>
            <a:grpSpLocks noChangeAspect="1"/>
          </p:cNvGrpSpPr>
          <p:nvPr/>
        </p:nvGrpSpPr>
        <p:grpSpPr>
          <a:xfrm rot="21571874">
            <a:off x="20887977" y="-7118330"/>
            <a:ext cx="3127859" cy="6189006"/>
            <a:chOff x="0" y="0"/>
            <a:chExt cx="2620010" cy="5184140"/>
          </a:xfrm>
          <a:scene3d>
            <a:camera prst="isometricOffAxis2Left"/>
            <a:lightRig rig="threePt" dir="t"/>
          </a:scene3d>
        </p:grpSpPr>
        <p:sp>
          <p:nvSpPr>
            <p:cNvPr id="31" name="Freeform 48">
              <a:extLst>
                <a:ext uri="{FF2B5EF4-FFF2-40B4-BE49-F238E27FC236}">
                  <a16:creationId xmlns:a16="http://schemas.microsoft.com/office/drawing/2014/main" id="{8978F16D-6460-4072-D2A1-EFE5D81FD1C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2" name="Freeform 49">
              <a:extLst>
                <a:ext uri="{FF2B5EF4-FFF2-40B4-BE49-F238E27FC236}">
                  <a16:creationId xmlns:a16="http://schemas.microsoft.com/office/drawing/2014/main" id="{A2DAB60A-D91A-D8B1-489A-4A4BEEB908BA}"/>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33" name="Freeform 50">
              <a:extLst>
                <a:ext uri="{FF2B5EF4-FFF2-40B4-BE49-F238E27FC236}">
                  <a16:creationId xmlns:a16="http://schemas.microsoft.com/office/drawing/2014/main" id="{1C8B6A41-6B76-F64F-A102-8FA0D346809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4" name="Freeform 51">
              <a:extLst>
                <a:ext uri="{FF2B5EF4-FFF2-40B4-BE49-F238E27FC236}">
                  <a16:creationId xmlns:a16="http://schemas.microsoft.com/office/drawing/2014/main" id="{2B5BB0CE-AE7D-621F-0CFB-BC15812877FA}"/>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5" name="Freeform 52">
              <a:extLst>
                <a:ext uri="{FF2B5EF4-FFF2-40B4-BE49-F238E27FC236}">
                  <a16:creationId xmlns:a16="http://schemas.microsoft.com/office/drawing/2014/main" id="{66EB6EB9-A31D-27F9-4843-FAE8B9F182B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6" name="Freeform 53">
              <a:extLst>
                <a:ext uri="{FF2B5EF4-FFF2-40B4-BE49-F238E27FC236}">
                  <a16:creationId xmlns:a16="http://schemas.microsoft.com/office/drawing/2014/main" id="{896D413D-5B5C-270F-448B-C6E478788CA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7" name="Freeform 54">
              <a:extLst>
                <a:ext uri="{FF2B5EF4-FFF2-40B4-BE49-F238E27FC236}">
                  <a16:creationId xmlns:a16="http://schemas.microsoft.com/office/drawing/2014/main" id="{CD5B6AC9-0605-7E12-5ABD-92A34E9F61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8" name="Freeform 55">
              <a:extLst>
                <a:ext uri="{FF2B5EF4-FFF2-40B4-BE49-F238E27FC236}">
                  <a16:creationId xmlns:a16="http://schemas.microsoft.com/office/drawing/2014/main" id="{DBAB29B0-AB32-5E11-4F5E-80078B2D002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9" name="Freeform 56">
              <a:extLst>
                <a:ext uri="{FF2B5EF4-FFF2-40B4-BE49-F238E27FC236}">
                  <a16:creationId xmlns:a16="http://schemas.microsoft.com/office/drawing/2014/main" id="{A89E335E-C06A-FC71-357A-7B38A8F016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0" name="Rectangle 39">
            <a:extLst>
              <a:ext uri="{FF2B5EF4-FFF2-40B4-BE49-F238E27FC236}">
                <a16:creationId xmlns:a16="http://schemas.microsoft.com/office/drawing/2014/main" id="{AFB45BEB-4E64-BE64-E2A4-33E60F9D1E58}"/>
              </a:ext>
            </a:extLst>
          </p:cNvPr>
          <p:cNvSpPr/>
          <p:nvPr/>
        </p:nvSpPr>
        <p:spPr>
          <a:xfrm rot="5400000">
            <a:off x="21288744" y="-35333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42" name="Group 17">
            <a:extLst>
              <a:ext uri="{FF2B5EF4-FFF2-40B4-BE49-F238E27FC236}">
                <a16:creationId xmlns:a16="http://schemas.microsoft.com/office/drawing/2014/main" id="{DEFC1F56-0B40-088E-891B-6E958089C9A0}"/>
              </a:ext>
            </a:extLst>
          </p:cNvPr>
          <p:cNvGrpSpPr>
            <a:grpSpLocks noChangeAspect="1"/>
          </p:cNvGrpSpPr>
          <p:nvPr/>
        </p:nvGrpSpPr>
        <p:grpSpPr>
          <a:xfrm rot="21571874">
            <a:off x="20528986" y="-6125547"/>
            <a:ext cx="3127859" cy="6189006"/>
            <a:chOff x="0" y="0"/>
            <a:chExt cx="2620010" cy="5184140"/>
          </a:xfrm>
          <a:scene3d>
            <a:camera prst="isometricOffAxis2Left"/>
            <a:lightRig rig="threePt" dir="t"/>
          </a:scene3d>
        </p:grpSpPr>
        <p:sp>
          <p:nvSpPr>
            <p:cNvPr id="45" name="Freeform 18">
              <a:extLst>
                <a:ext uri="{FF2B5EF4-FFF2-40B4-BE49-F238E27FC236}">
                  <a16:creationId xmlns:a16="http://schemas.microsoft.com/office/drawing/2014/main" id="{8ACAF2CD-A533-BF41-2334-BA139C69816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6" name="Freeform 19">
              <a:extLst>
                <a:ext uri="{FF2B5EF4-FFF2-40B4-BE49-F238E27FC236}">
                  <a16:creationId xmlns:a16="http://schemas.microsoft.com/office/drawing/2014/main" id="{6AF92BF5-584A-AB46-7D38-BF5FA3E6735B}"/>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a:p>
          </p:txBody>
        </p:sp>
        <p:sp>
          <p:nvSpPr>
            <p:cNvPr id="47" name="Freeform 20">
              <a:extLst>
                <a:ext uri="{FF2B5EF4-FFF2-40B4-BE49-F238E27FC236}">
                  <a16:creationId xmlns:a16="http://schemas.microsoft.com/office/drawing/2014/main" id="{F5928960-E08C-CCEE-0984-E54FF389A2A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8" name="Freeform 21">
              <a:extLst>
                <a:ext uri="{FF2B5EF4-FFF2-40B4-BE49-F238E27FC236}">
                  <a16:creationId xmlns:a16="http://schemas.microsoft.com/office/drawing/2014/main" id="{B2F38276-A93C-7DD0-5768-B0DA92D850C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9" name="Freeform 22">
              <a:extLst>
                <a:ext uri="{FF2B5EF4-FFF2-40B4-BE49-F238E27FC236}">
                  <a16:creationId xmlns:a16="http://schemas.microsoft.com/office/drawing/2014/main" id="{7D99DFD3-C71F-C4B2-32B8-3CD58C21DAD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0" name="Freeform 23">
              <a:extLst>
                <a:ext uri="{FF2B5EF4-FFF2-40B4-BE49-F238E27FC236}">
                  <a16:creationId xmlns:a16="http://schemas.microsoft.com/office/drawing/2014/main" id="{AF0E37C7-8106-0715-5A2B-E486E83E7B9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1" name="Freeform 24">
              <a:extLst>
                <a:ext uri="{FF2B5EF4-FFF2-40B4-BE49-F238E27FC236}">
                  <a16:creationId xmlns:a16="http://schemas.microsoft.com/office/drawing/2014/main" id="{FADE0DA4-5D82-75DD-0201-C6BCE08CF48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2" name="Freeform 25">
              <a:extLst>
                <a:ext uri="{FF2B5EF4-FFF2-40B4-BE49-F238E27FC236}">
                  <a16:creationId xmlns:a16="http://schemas.microsoft.com/office/drawing/2014/main" id="{45D504F6-9263-31B5-A516-6F185992DCF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3" name="Freeform 26">
              <a:extLst>
                <a:ext uri="{FF2B5EF4-FFF2-40B4-BE49-F238E27FC236}">
                  <a16:creationId xmlns:a16="http://schemas.microsoft.com/office/drawing/2014/main" id="{C98755F1-C5A3-03B6-1C4A-CA74D23BDE9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4" name="Rectangle 53">
            <a:extLst>
              <a:ext uri="{FF2B5EF4-FFF2-40B4-BE49-F238E27FC236}">
                <a16:creationId xmlns:a16="http://schemas.microsoft.com/office/drawing/2014/main" id="{A4E63B28-FA5A-83C4-1E7A-7A5994F1B459}"/>
              </a:ext>
            </a:extLst>
          </p:cNvPr>
          <p:cNvSpPr/>
          <p:nvPr/>
        </p:nvSpPr>
        <p:spPr>
          <a:xfrm rot="5400000">
            <a:off x="20831544" y="-25427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55" name="Group 27">
            <a:extLst>
              <a:ext uri="{FF2B5EF4-FFF2-40B4-BE49-F238E27FC236}">
                <a16:creationId xmlns:a16="http://schemas.microsoft.com/office/drawing/2014/main" id="{7475511F-3E82-48D4-6A8C-06D97165A13C}"/>
              </a:ext>
            </a:extLst>
          </p:cNvPr>
          <p:cNvGrpSpPr>
            <a:grpSpLocks noChangeAspect="1"/>
          </p:cNvGrpSpPr>
          <p:nvPr/>
        </p:nvGrpSpPr>
        <p:grpSpPr>
          <a:xfrm rot="21571874">
            <a:off x="20125977" y="-5153435"/>
            <a:ext cx="3127859" cy="6189006"/>
            <a:chOff x="0" y="0"/>
            <a:chExt cx="2620010" cy="5184140"/>
          </a:xfrm>
          <a:scene3d>
            <a:camera prst="isometricOffAxis2Left"/>
            <a:lightRig rig="threePt" dir="t"/>
          </a:scene3d>
        </p:grpSpPr>
        <p:sp>
          <p:nvSpPr>
            <p:cNvPr id="56" name="Freeform 28">
              <a:extLst>
                <a:ext uri="{FF2B5EF4-FFF2-40B4-BE49-F238E27FC236}">
                  <a16:creationId xmlns:a16="http://schemas.microsoft.com/office/drawing/2014/main" id="{175CAFAB-CAE1-96DD-ACA3-824B55FC962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7" name="Freeform 29">
              <a:extLst>
                <a:ext uri="{FF2B5EF4-FFF2-40B4-BE49-F238E27FC236}">
                  <a16:creationId xmlns:a16="http://schemas.microsoft.com/office/drawing/2014/main" id="{800B54CD-77F5-EA57-1048-E3FC4DFC83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dirty="0"/>
            </a:p>
          </p:txBody>
        </p:sp>
        <p:sp>
          <p:nvSpPr>
            <p:cNvPr id="58" name="Freeform 30">
              <a:extLst>
                <a:ext uri="{FF2B5EF4-FFF2-40B4-BE49-F238E27FC236}">
                  <a16:creationId xmlns:a16="http://schemas.microsoft.com/office/drawing/2014/main" id="{89F5A82E-1182-F372-3513-82599863A1D2}"/>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9" name="Freeform 31">
              <a:extLst>
                <a:ext uri="{FF2B5EF4-FFF2-40B4-BE49-F238E27FC236}">
                  <a16:creationId xmlns:a16="http://schemas.microsoft.com/office/drawing/2014/main" id="{8A1F80DE-9F1D-D689-DF7B-440A3C93CA6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0" name="Freeform 32">
              <a:extLst>
                <a:ext uri="{FF2B5EF4-FFF2-40B4-BE49-F238E27FC236}">
                  <a16:creationId xmlns:a16="http://schemas.microsoft.com/office/drawing/2014/main" id="{73624F34-DBE5-8197-999B-D37F722981A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1" name="Freeform 33">
              <a:extLst>
                <a:ext uri="{FF2B5EF4-FFF2-40B4-BE49-F238E27FC236}">
                  <a16:creationId xmlns:a16="http://schemas.microsoft.com/office/drawing/2014/main" id="{90BDAFCC-CAEA-EFF2-5889-345902B3ADE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2" name="Freeform 34">
              <a:extLst>
                <a:ext uri="{FF2B5EF4-FFF2-40B4-BE49-F238E27FC236}">
                  <a16:creationId xmlns:a16="http://schemas.microsoft.com/office/drawing/2014/main" id="{20432542-78B7-15C7-96E2-226115C3BB5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3" name="Freeform 35">
              <a:extLst>
                <a:ext uri="{FF2B5EF4-FFF2-40B4-BE49-F238E27FC236}">
                  <a16:creationId xmlns:a16="http://schemas.microsoft.com/office/drawing/2014/main" id="{70C96ABA-31F4-95C1-BBB0-BF3A46F9246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4" name="Freeform 36">
              <a:extLst>
                <a:ext uri="{FF2B5EF4-FFF2-40B4-BE49-F238E27FC236}">
                  <a16:creationId xmlns:a16="http://schemas.microsoft.com/office/drawing/2014/main" id="{38A9696D-C8E9-4509-CAE8-D26C0707195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5" name="Rectangle 64">
            <a:extLst>
              <a:ext uri="{FF2B5EF4-FFF2-40B4-BE49-F238E27FC236}">
                <a16:creationId xmlns:a16="http://schemas.microsoft.com/office/drawing/2014/main" id="{F4CB86CB-19B8-53D5-E3B8-67ABC8BA5FDA}"/>
              </a:ext>
            </a:extLst>
          </p:cNvPr>
          <p:cNvSpPr/>
          <p:nvPr/>
        </p:nvSpPr>
        <p:spPr>
          <a:xfrm rot="5400000">
            <a:off x="20374344" y="-166244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66" name="Group 37">
            <a:extLst>
              <a:ext uri="{FF2B5EF4-FFF2-40B4-BE49-F238E27FC236}">
                <a16:creationId xmlns:a16="http://schemas.microsoft.com/office/drawing/2014/main" id="{319A9EDA-EEB9-812B-3B18-9E332D5CC081}"/>
              </a:ext>
            </a:extLst>
          </p:cNvPr>
          <p:cNvGrpSpPr>
            <a:grpSpLocks noChangeAspect="1"/>
          </p:cNvGrpSpPr>
          <p:nvPr/>
        </p:nvGrpSpPr>
        <p:grpSpPr>
          <a:xfrm rot="21571874">
            <a:off x="19614586" y="-4199403"/>
            <a:ext cx="3127859" cy="6189006"/>
            <a:chOff x="0" y="0"/>
            <a:chExt cx="2620010" cy="5184140"/>
          </a:xfrm>
          <a:scene3d>
            <a:camera prst="isometricOffAxis2Left"/>
            <a:lightRig rig="threePt" dir="t"/>
          </a:scene3d>
        </p:grpSpPr>
        <p:sp>
          <p:nvSpPr>
            <p:cNvPr id="67" name="Freeform 38">
              <a:extLst>
                <a:ext uri="{FF2B5EF4-FFF2-40B4-BE49-F238E27FC236}">
                  <a16:creationId xmlns:a16="http://schemas.microsoft.com/office/drawing/2014/main" id="{24CE4206-54F8-A9D6-4E97-3BF6BC8D8B1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8" name="Freeform 39">
              <a:extLst>
                <a:ext uri="{FF2B5EF4-FFF2-40B4-BE49-F238E27FC236}">
                  <a16:creationId xmlns:a16="http://schemas.microsoft.com/office/drawing/2014/main" id="{9F35793B-A362-019C-5BC3-19FA682D50A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6"/>
              <a:srcRect/>
              <a:stretch>
                <a:fillRect/>
              </a:stretch>
            </a:blipFill>
          </p:spPr>
          <p:txBody>
            <a:bodyPr/>
            <a:lstStyle/>
            <a:p>
              <a:endParaRPr lang="en-US"/>
            </a:p>
          </p:txBody>
        </p:sp>
        <p:sp>
          <p:nvSpPr>
            <p:cNvPr id="69" name="Freeform 40">
              <a:extLst>
                <a:ext uri="{FF2B5EF4-FFF2-40B4-BE49-F238E27FC236}">
                  <a16:creationId xmlns:a16="http://schemas.microsoft.com/office/drawing/2014/main" id="{F15CE4EE-244E-3FDE-906D-767B1AEAFE6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0" name="Freeform 41">
              <a:extLst>
                <a:ext uri="{FF2B5EF4-FFF2-40B4-BE49-F238E27FC236}">
                  <a16:creationId xmlns:a16="http://schemas.microsoft.com/office/drawing/2014/main" id="{6D5A7AFA-DFAE-C76A-53AB-C7160806960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1" name="Freeform 42">
              <a:extLst>
                <a:ext uri="{FF2B5EF4-FFF2-40B4-BE49-F238E27FC236}">
                  <a16:creationId xmlns:a16="http://schemas.microsoft.com/office/drawing/2014/main" id="{643CD0E0-3435-98E4-36A4-2CC343A069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2" name="Freeform 43">
              <a:extLst>
                <a:ext uri="{FF2B5EF4-FFF2-40B4-BE49-F238E27FC236}">
                  <a16:creationId xmlns:a16="http://schemas.microsoft.com/office/drawing/2014/main" id="{369C1EB4-DE13-F85E-5BD6-946369EBD3A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3" name="Freeform 44">
              <a:extLst>
                <a:ext uri="{FF2B5EF4-FFF2-40B4-BE49-F238E27FC236}">
                  <a16:creationId xmlns:a16="http://schemas.microsoft.com/office/drawing/2014/main" id="{D3B07586-5DE5-C8B2-197D-AB7E41465ABC}"/>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4" name="Freeform 45">
              <a:extLst>
                <a:ext uri="{FF2B5EF4-FFF2-40B4-BE49-F238E27FC236}">
                  <a16:creationId xmlns:a16="http://schemas.microsoft.com/office/drawing/2014/main" id="{4D44B4DC-C408-9AF4-3EBB-27C17770C2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5" name="Freeform 46">
              <a:extLst>
                <a:ext uri="{FF2B5EF4-FFF2-40B4-BE49-F238E27FC236}">
                  <a16:creationId xmlns:a16="http://schemas.microsoft.com/office/drawing/2014/main" id="{03999C68-6A8D-C20C-1A19-70FBA7B26CC5}"/>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221060148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59273"/>
            <a:ext cx="18288000" cy="10287000"/>
          </a:xfrm>
          <a:prstGeom prst="rect">
            <a:avLst/>
          </a:prstGeom>
          <a:gradFill flip="none" rotWithShape="1">
            <a:gsLst>
              <a:gs pos="22000">
                <a:schemeClr val="tx1"/>
              </a:gs>
              <a:gs pos="96000">
                <a:schemeClr val="bg1">
                  <a:lumMod val="65000"/>
                  <a:alpha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1219200" y="723900"/>
            <a:ext cx="7696200"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Way to Spend Funds In </a:t>
            </a:r>
            <a:r>
              <a:rPr lang="en-US" sz="4560" dirty="0">
                <a:solidFill>
                  <a:srgbClr val="FF0000"/>
                </a:solidFill>
                <a:latin typeface="Poppins Bold"/>
                <a:ea typeface="Poppins Bold"/>
                <a:cs typeface="Poppins Bold"/>
                <a:sym typeface="Poppins Bold"/>
              </a:rPr>
              <a:t>SAFE LINK</a:t>
            </a:r>
          </a:p>
        </p:txBody>
      </p:sp>
      <p:sp>
        <p:nvSpPr>
          <p:cNvPr id="44" name="Rectangle 43">
            <a:extLst>
              <a:ext uri="{FF2B5EF4-FFF2-40B4-BE49-F238E27FC236}">
                <a16:creationId xmlns:a16="http://schemas.microsoft.com/office/drawing/2014/main" id="{7A70A5ED-1BB4-710D-D4A9-602BAF2C13FE}"/>
              </a:ext>
            </a:extLst>
          </p:cNvPr>
          <p:cNvSpPr/>
          <p:nvPr/>
        </p:nvSpPr>
        <p:spPr>
          <a:xfrm>
            <a:off x="1234440" y="21259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5296-E26E-0C53-A26E-EBD6546BDFF2}"/>
              </a:ext>
            </a:extLst>
          </p:cNvPr>
          <p:cNvSpPr txBox="1"/>
          <p:nvPr/>
        </p:nvSpPr>
        <p:spPr>
          <a:xfrm>
            <a:off x="1219200" y="2797136"/>
            <a:ext cx="12725400" cy="4889159"/>
          </a:xfrm>
          <a:prstGeom prst="rect">
            <a:avLst/>
          </a:prstGeom>
          <a:noFill/>
        </p:spPr>
        <p:txBody>
          <a:bodyPr wrap="square" rtlCol="0">
            <a:spAutoFit/>
          </a:bodyPr>
          <a:lstStyle/>
          <a:p>
            <a:r>
              <a:rPr lang="en-US" sz="3600" b="1" dirty="0">
                <a:solidFill>
                  <a:srgbClr val="FFC000"/>
                </a:solidFill>
              </a:rPr>
              <a:t>Product Development</a:t>
            </a:r>
          </a:p>
          <a:p>
            <a:pPr marL="0" marR="0">
              <a:lnSpc>
                <a:spcPct val="107000"/>
              </a:lnSpc>
              <a:spcBef>
                <a:spcPts val="0"/>
              </a:spcBef>
              <a:spcAft>
                <a:spcPts val="800"/>
              </a:spcAft>
            </a:pPr>
            <a:r>
              <a:rPr lang="en-US" sz="3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Invest in technology, software development, and device manufacturing</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4800" b="1" dirty="0">
              <a:solidFill>
                <a:schemeClr val="bg1"/>
              </a:solidFill>
            </a:endParaRPr>
          </a:p>
        </p:txBody>
      </p:sp>
      <p:sp>
        <p:nvSpPr>
          <p:cNvPr id="6" name="TextBox 5">
            <a:extLst>
              <a:ext uri="{FF2B5EF4-FFF2-40B4-BE49-F238E27FC236}">
                <a16:creationId xmlns:a16="http://schemas.microsoft.com/office/drawing/2014/main" id="{D52AEE55-17E5-8182-6615-F53F898D3D9C}"/>
              </a:ext>
            </a:extLst>
          </p:cNvPr>
          <p:cNvSpPr txBox="1"/>
          <p:nvPr/>
        </p:nvSpPr>
        <p:spPr>
          <a:xfrm>
            <a:off x="1234440" y="4914900"/>
            <a:ext cx="13091160" cy="8516434"/>
          </a:xfrm>
          <a:prstGeom prst="rect">
            <a:avLst/>
          </a:prstGeom>
          <a:noFill/>
        </p:spPr>
        <p:txBody>
          <a:bodyPr wrap="square" rtlCol="0">
            <a:spAutoFit/>
          </a:bodyPr>
          <a:lstStyle/>
          <a:p>
            <a:r>
              <a:rPr lang="en-US" sz="3600" b="1" dirty="0">
                <a:solidFill>
                  <a:srgbClr val="FFC000"/>
                </a:solidFill>
              </a:rPr>
              <a:t>Marketing and Sales</a:t>
            </a:r>
          </a:p>
          <a:p>
            <a:pPr marL="0" marR="0">
              <a:lnSpc>
                <a:spcPct val="107000"/>
              </a:lnSpc>
              <a:spcBef>
                <a:spcPts val="0"/>
              </a:spcBef>
              <a:spcAft>
                <a:spcPts val="800"/>
              </a:spcAft>
            </a:pPr>
            <a:r>
              <a:rPr lang="en-US" sz="3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Allocate budget for promoting the app, acquiring users, and building brand awareness.</a:t>
            </a:r>
            <a:endParaRPr lang="en-US" sz="3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3600" b="1" dirty="0">
                <a:solidFill>
                  <a:srgbClr val="FFC000"/>
                </a:solidFill>
              </a:rPr>
              <a:t>Research and Development</a:t>
            </a:r>
          </a:p>
          <a:p>
            <a:pPr marL="0" marR="0">
              <a:lnSpc>
                <a:spcPct val="107000"/>
              </a:lnSpc>
              <a:spcBef>
                <a:spcPts val="0"/>
              </a:spcBef>
              <a:spcAft>
                <a:spcPts val="800"/>
              </a:spcAft>
            </a:pPr>
            <a:r>
              <a:rPr lang="en-US" sz="32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3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Enhance app features and integrate new technologies for continuous improvement.</a:t>
            </a:r>
            <a:endParaRPr lang="en-US" sz="3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solidFill>
                <a:schemeClr val="bg1"/>
              </a:solidFill>
            </a:endParaRPr>
          </a:p>
        </p:txBody>
      </p:sp>
      <p:sp>
        <p:nvSpPr>
          <p:cNvPr id="29" name="Rectangle 28">
            <a:extLst>
              <a:ext uri="{FF2B5EF4-FFF2-40B4-BE49-F238E27FC236}">
                <a16:creationId xmlns:a16="http://schemas.microsoft.com/office/drawing/2014/main" id="{47185441-C7F4-E8F0-8516-710EDB1FAD0B}"/>
              </a:ext>
            </a:extLst>
          </p:cNvPr>
          <p:cNvSpPr/>
          <p:nvPr/>
        </p:nvSpPr>
        <p:spPr>
          <a:xfrm rot="5400000">
            <a:off x="21217967" y="-4324024"/>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30" name="Group 47">
            <a:extLst>
              <a:ext uri="{FF2B5EF4-FFF2-40B4-BE49-F238E27FC236}">
                <a16:creationId xmlns:a16="http://schemas.microsoft.com/office/drawing/2014/main" id="{50D325CB-1A67-6D3E-8C2A-F001C8EBB1FA}"/>
              </a:ext>
            </a:extLst>
          </p:cNvPr>
          <p:cNvGrpSpPr>
            <a:grpSpLocks noChangeAspect="1"/>
          </p:cNvGrpSpPr>
          <p:nvPr/>
        </p:nvGrpSpPr>
        <p:grpSpPr>
          <a:xfrm rot="21571874">
            <a:off x="20887977" y="-7118330"/>
            <a:ext cx="3127859" cy="6189006"/>
            <a:chOff x="0" y="0"/>
            <a:chExt cx="2620010" cy="5184140"/>
          </a:xfrm>
          <a:scene3d>
            <a:camera prst="isometricOffAxis2Left"/>
            <a:lightRig rig="threePt" dir="t"/>
          </a:scene3d>
        </p:grpSpPr>
        <p:sp>
          <p:nvSpPr>
            <p:cNvPr id="31" name="Freeform 48">
              <a:extLst>
                <a:ext uri="{FF2B5EF4-FFF2-40B4-BE49-F238E27FC236}">
                  <a16:creationId xmlns:a16="http://schemas.microsoft.com/office/drawing/2014/main" id="{8978F16D-6460-4072-D2A1-EFE5D81FD1C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2" name="Freeform 49">
              <a:extLst>
                <a:ext uri="{FF2B5EF4-FFF2-40B4-BE49-F238E27FC236}">
                  <a16:creationId xmlns:a16="http://schemas.microsoft.com/office/drawing/2014/main" id="{A2DAB60A-D91A-D8B1-489A-4A4BEEB908BA}"/>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33" name="Freeform 50">
              <a:extLst>
                <a:ext uri="{FF2B5EF4-FFF2-40B4-BE49-F238E27FC236}">
                  <a16:creationId xmlns:a16="http://schemas.microsoft.com/office/drawing/2014/main" id="{1C8B6A41-6B76-F64F-A102-8FA0D346809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4" name="Freeform 51">
              <a:extLst>
                <a:ext uri="{FF2B5EF4-FFF2-40B4-BE49-F238E27FC236}">
                  <a16:creationId xmlns:a16="http://schemas.microsoft.com/office/drawing/2014/main" id="{2B5BB0CE-AE7D-621F-0CFB-BC15812877FA}"/>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5" name="Freeform 52">
              <a:extLst>
                <a:ext uri="{FF2B5EF4-FFF2-40B4-BE49-F238E27FC236}">
                  <a16:creationId xmlns:a16="http://schemas.microsoft.com/office/drawing/2014/main" id="{66EB6EB9-A31D-27F9-4843-FAE8B9F182B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6" name="Freeform 53">
              <a:extLst>
                <a:ext uri="{FF2B5EF4-FFF2-40B4-BE49-F238E27FC236}">
                  <a16:creationId xmlns:a16="http://schemas.microsoft.com/office/drawing/2014/main" id="{896D413D-5B5C-270F-448B-C6E478788CA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7" name="Freeform 54">
              <a:extLst>
                <a:ext uri="{FF2B5EF4-FFF2-40B4-BE49-F238E27FC236}">
                  <a16:creationId xmlns:a16="http://schemas.microsoft.com/office/drawing/2014/main" id="{CD5B6AC9-0605-7E12-5ABD-92A34E9F61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8" name="Freeform 55">
              <a:extLst>
                <a:ext uri="{FF2B5EF4-FFF2-40B4-BE49-F238E27FC236}">
                  <a16:creationId xmlns:a16="http://schemas.microsoft.com/office/drawing/2014/main" id="{DBAB29B0-AB32-5E11-4F5E-80078B2D002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9" name="Freeform 56">
              <a:extLst>
                <a:ext uri="{FF2B5EF4-FFF2-40B4-BE49-F238E27FC236}">
                  <a16:creationId xmlns:a16="http://schemas.microsoft.com/office/drawing/2014/main" id="{A89E335E-C06A-FC71-357A-7B38A8F016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0" name="Rectangle 39">
            <a:extLst>
              <a:ext uri="{FF2B5EF4-FFF2-40B4-BE49-F238E27FC236}">
                <a16:creationId xmlns:a16="http://schemas.microsoft.com/office/drawing/2014/main" id="{AFB45BEB-4E64-BE64-E2A4-33E60F9D1E58}"/>
              </a:ext>
            </a:extLst>
          </p:cNvPr>
          <p:cNvSpPr/>
          <p:nvPr/>
        </p:nvSpPr>
        <p:spPr>
          <a:xfrm rot="5400000">
            <a:off x="21288744" y="-35333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42" name="Group 17">
            <a:extLst>
              <a:ext uri="{FF2B5EF4-FFF2-40B4-BE49-F238E27FC236}">
                <a16:creationId xmlns:a16="http://schemas.microsoft.com/office/drawing/2014/main" id="{DEFC1F56-0B40-088E-891B-6E958089C9A0}"/>
              </a:ext>
            </a:extLst>
          </p:cNvPr>
          <p:cNvGrpSpPr>
            <a:grpSpLocks noChangeAspect="1"/>
          </p:cNvGrpSpPr>
          <p:nvPr/>
        </p:nvGrpSpPr>
        <p:grpSpPr>
          <a:xfrm rot="21571874">
            <a:off x="20528986" y="-6125547"/>
            <a:ext cx="3127859" cy="6189006"/>
            <a:chOff x="0" y="0"/>
            <a:chExt cx="2620010" cy="5184140"/>
          </a:xfrm>
          <a:scene3d>
            <a:camera prst="isometricOffAxis2Left"/>
            <a:lightRig rig="threePt" dir="t"/>
          </a:scene3d>
        </p:grpSpPr>
        <p:sp>
          <p:nvSpPr>
            <p:cNvPr id="45" name="Freeform 18">
              <a:extLst>
                <a:ext uri="{FF2B5EF4-FFF2-40B4-BE49-F238E27FC236}">
                  <a16:creationId xmlns:a16="http://schemas.microsoft.com/office/drawing/2014/main" id="{8ACAF2CD-A533-BF41-2334-BA139C69816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6" name="Freeform 19">
              <a:extLst>
                <a:ext uri="{FF2B5EF4-FFF2-40B4-BE49-F238E27FC236}">
                  <a16:creationId xmlns:a16="http://schemas.microsoft.com/office/drawing/2014/main" id="{6AF92BF5-584A-AB46-7D38-BF5FA3E6735B}"/>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47" name="Freeform 20">
              <a:extLst>
                <a:ext uri="{FF2B5EF4-FFF2-40B4-BE49-F238E27FC236}">
                  <a16:creationId xmlns:a16="http://schemas.microsoft.com/office/drawing/2014/main" id="{F5928960-E08C-CCEE-0984-E54FF389A2A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8" name="Freeform 21">
              <a:extLst>
                <a:ext uri="{FF2B5EF4-FFF2-40B4-BE49-F238E27FC236}">
                  <a16:creationId xmlns:a16="http://schemas.microsoft.com/office/drawing/2014/main" id="{B2F38276-A93C-7DD0-5768-B0DA92D850C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9" name="Freeform 22">
              <a:extLst>
                <a:ext uri="{FF2B5EF4-FFF2-40B4-BE49-F238E27FC236}">
                  <a16:creationId xmlns:a16="http://schemas.microsoft.com/office/drawing/2014/main" id="{7D99DFD3-C71F-C4B2-32B8-3CD58C21DAD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0" name="Freeform 23">
              <a:extLst>
                <a:ext uri="{FF2B5EF4-FFF2-40B4-BE49-F238E27FC236}">
                  <a16:creationId xmlns:a16="http://schemas.microsoft.com/office/drawing/2014/main" id="{AF0E37C7-8106-0715-5A2B-E486E83E7B9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1" name="Freeform 24">
              <a:extLst>
                <a:ext uri="{FF2B5EF4-FFF2-40B4-BE49-F238E27FC236}">
                  <a16:creationId xmlns:a16="http://schemas.microsoft.com/office/drawing/2014/main" id="{FADE0DA4-5D82-75DD-0201-C6BCE08CF48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2" name="Freeform 25">
              <a:extLst>
                <a:ext uri="{FF2B5EF4-FFF2-40B4-BE49-F238E27FC236}">
                  <a16:creationId xmlns:a16="http://schemas.microsoft.com/office/drawing/2014/main" id="{45D504F6-9263-31B5-A516-6F185992DCF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3" name="Freeform 26">
              <a:extLst>
                <a:ext uri="{FF2B5EF4-FFF2-40B4-BE49-F238E27FC236}">
                  <a16:creationId xmlns:a16="http://schemas.microsoft.com/office/drawing/2014/main" id="{C98755F1-C5A3-03B6-1C4A-CA74D23BDE9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4" name="Rectangle 53">
            <a:extLst>
              <a:ext uri="{FF2B5EF4-FFF2-40B4-BE49-F238E27FC236}">
                <a16:creationId xmlns:a16="http://schemas.microsoft.com/office/drawing/2014/main" id="{A4E63B28-FA5A-83C4-1E7A-7A5994F1B459}"/>
              </a:ext>
            </a:extLst>
          </p:cNvPr>
          <p:cNvSpPr/>
          <p:nvPr/>
        </p:nvSpPr>
        <p:spPr>
          <a:xfrm rot="5400000">
            <a:off x="20831544" y="-25427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55" name="Group 27">
            <a:extLst>
              <a:ext uri="{FF2B5EF4-FFF2-40B4-BE49-F238E27FC236}">
                <a16:creationId xmlns:a16="http://schemas.microsoft.com/office/drawing/2014/main" id="{7475511F-3E82-48D4-6A8C-06D97165A13C}"/>
              </a:ext>
            </a:extLst>
          </p:cNvPr>
          <p:cNvGrpSpPr>
            <a:grpSpLocks noChangeAspect="1"/>
          </p:cNvGrpSpPr>
          <p:nvPr/>
        </p:nvGrpSpPr>
        <p:grpSpPr>
          <a:xfrm rot="21571874">
            <a:off x="20125977" y="-5153435"/>
            <a:ext cx="3127859" cy="6189006"/>
            <a:chOff x="0" y="0"/>
            <a:chExt cx="2620010" cy="5184140"/>
          </a:xfrm>
          <a:scene3d>
            <a:camera prst="isometricOffAxis2Left"/>
            <a:lightRig rig="threePt" dir="t"/>
          </a:scene3d>
        </p:grpSpPr>
        <p:sp>
          <p:nvSpPr>
            <p:cNvPr id="56" name="Freeform 28">
              <a:extLst>
                <a:ext uri="{FF2B5EF4-FFF2-40B4-BE49-F238E27FC236}">
                  <a16:creationId xmlns:a16="http://schemas.microsoft.com/office/drawing/2014/main" id="{175CAFAB-CAE1-96DD-ACA3-824B55FC962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7" name="Freeform 29">
              <a:extLst>
                <a:ext uri="{FF2B5EF4-FFF2-40B4-BE49-F238E27FC236}">
                  <a16:creationId xmlns:a16="http://schemas.microsoft.com/office/drawing/2014/main" id="{800B54CD-77F5-EA57-1048-E3FC4DFC83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dirty="0"/>
            </a:p>
          </p:txBody>
        </p:sp>
        <p:sp>
          <p:nvSpPr>
            <p:cNvPr id="58" name="Freeform 30">
              <a:extLst>
                <a:ext uri="{FF2B5EF4-FFF2-40B4-BE49-F238E27FC236}">
                  <a16:creationId xmlns:a16="http://schemas.microsoft.com/office/drawing/2014/main" id="{89F5A82E-1182-F372-3513-82599863A1D2}"/>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9" name="Freeform 31">
              <a:extLst>
                <a:ext uri="{FF2B5EF4-FFF2-40B4-BE49-F238E27FC236}">
                  <a16:creationId xmlns:a16="http://schemas.microsoft.com/office/drawing/2014/main" id="{8A1F80DE-9F1D-D689-DF7B-440A3C93CA6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0" name="Freeform 32">
              <a:extLst>
                <a:ext uri="{FF2B5EF4-FFF2-40B4-BE49-F238E27FC236}">
                  <a16:creationId xmlns:a16="http://schemas.microsoft.com/office/drawing/2014/main" id="{73624F34-DBE5-8197-999B-D37F722981A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1" name="Freeform 33">
              <a:extLst>
                <a:ext uri="{FF2B5EF4-FFF2-40B4-BE49-F238E27FC236}">
                  <a16:creationId xmlns:a16="http://schemas.microsoft.com/office/drawing/2014/main" id="{90BDAFCC-CAEA-EFF2-5889-345902B3ADE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2" name="Freeform 34">
              <a:extLst>
                <a:ext uri="{FF2B5EF4-FFF2-40B4-BE49-F238E27FC236}">
                  <a16:creationId xmlns:a16="http://schemas.microsoft.com/office/drawing/2014/main" id="{20432542-78B7-15C7-96E2-226115C3BB5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3" name="Freeform 35">
              <a:extLst>
                <a:ext uri="{FF2B5EF4-FFF2-40B4-BE49-F238E27FC236}">
                  <a16:creationId xmlns:a16="http://schemas.microsoft.com/office/drawing/2014/main" id="{70C96ABA-31F4-95C1-BBB0-BF3A46F9246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4" name="Freeform 36">
              <a:extLst>
                <a:ext uri="{FF2B5EF4-FFF2-40B4-BE49-F238E27FC236}">
                  <a16:creationId xmlns:a16="http://schemas.microsoft.com/office/drawing/2014/main" id="{38A9696D-C8E9-4509-CAE8-D26C0707195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5" name="Rectangle 64">
            <a:extLst>
              <a:ext uri="{FF2B5EF4-FFF2-40B4-BE49-F238E27FC236}">
                <a16:creationId xmlns:a16="http://schemas.microsoft.com/office/drawing/2014/main" id="{F4CB86CB-19B8-53D5-E3B8-67ABC8BA5FDA}"/>
              </a:ext>
            </a:extLst>
          </p:cNvPr>
          <p:cNvSpPr/>
          <p:nvPr/>
        </p:nvSpPr>
        <p:spPr>
          <a:xfrm rot="5400000">
            <a:off x="20374344" y="-166244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66" name="Group 37">
            <a:extLst>
              <a:ext uri="{FF2B5EF4-FFF2-40B4-BE49-F238E27FC236}">
                <a16:creationId xmlns:a16="http://schemas.microsoft.com/office/drawing/2014/main" id="{319A9EDA-EEB9-812B-3B18-9E332D5CC081}"/>
              </a:ext>
            </a:extLst>
          </p:cNvPr>
          <p:cNvGrpSpPr>
            <a:grpSpLocks noChangeAspect="1"/>
          </p:cNvGrpSpPr>
          <p:nvPr/>
        </p:nvGrpSpPr>
        <p:grpSpPr>
          <a:xfrm rot="21571874">
            <a:off x="19614586" y="-4199403"/>
            <a:ext cx="3127859" cy="6189006"/>
            <a:chOff x="0" y="0"/>
            <a:chExt cx="2620010" cy="5184140"/>
          </a:xfrm>
          <a:scene3d>
            <a:camera prst="isometricOffAxis2Left"/>
            <a:lightRig rig="threePt" dir="t"/>
          </a:scene3d>
        </p:grpSpPr>
        <p:sp>
          <p:nvSpPr>
            <p:cNvPr id="67" name="Freeform 38">
              <a:extLst>
                <a:ext uri="{FF2B5EF4-FFF2-40B4-BE49-F238E27FC236}">
                  <a16:creationId xmlns:a16="http://schemas.microsoft.com/office/drawing/2014/main" id="{24CE4206-54F8-A9D6-4E97-3BF6BC8D8B1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8" name="Freeform 39">
              <a:extLst>
                <a:ext uri="{FF2B5EF4-FFF2-40B4-BE49-F238E27FC236}">
                  <a16:creationId xmlns:a16="http://schemas.microsoft.com/office/drawing/2014/main" id="{9F35793B-A362-019C-5BC3-19FA682D50A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a:p>
          </p:txBody>
        </p:sp>
        <p:sp>
          <p:nvSpPr>
            <p:cNvPr id="69" name="Freeform 40">
              <a:extLst>
                <a:ext uri="{FF2B5EF4-FFF2-40B4-BE49-F238E27FC236}">
                  <a16:creationId xmlns:a16="http://schemas.microsoft.com/office/drawing/2014/main" id="{F15CE4EE-244E-3FDE-906D-767B1AEAFE6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0" name="Freeform 41">
              <a:extLst>
                <a:ext uri="{FF2B5EF4-FFF2-40B4-BE49-F238E27FC236}">
                  <a16:creationId xmlns:a16="http://schemas.microsoft.com/office/drawing/2014/main" id="{6D5A7AFA-DFAE-C76A-53AB-C7160806960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1" name="Freeform 42">
              <a:extLst>
                <a:ext uri="{FF2B5EF4-FFF2-40B4-BE49-F238E27FC236}">
                  <a16:creationId xmlns:a16="http://schemas.microsoft.com/office/drawing/2014/main" id="{643CD0E0-3435-98E4-36A4-2CC343A069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2" name="Freeform 43">
              <a:extLst>
                <a:ext uri="{FF2B5EF4-FFF2-40B4-BE49-F238E27FC236}">
                  <a16:creationId xmlns:a16="http://schemas.microsoft.com/office/drawing/2014/main" id="{369C1EB4-DE13-F85E-5BD6-946369EBD3A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3" name="Freeform 44">
              <a:extLst>
                <a:ext uri="{FF2B5EF4-FFF2-40B4-BE49-F238E27FC236}">
                  <a16:creationId xmlns:a16="http://schemas.microsoft.com/office/drawing/2014/main" id="{D3B07586-5DE5-C8B2-197D-AB7E41465ABC}"/>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4" name="Freeform 45">
              <a:extLst>
                <a:ext uri="{FF2B5EF4-FFF2-40B4-BE49-F238E27FC236}">
                  <a16:creationId xmlns:a16="http://schemas.microsoft.com/office/drawing/2014/main" id="{4D44B4DC-C408-9AF4-3EBB-27C17770C2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5" name="Freeform 46">
              <a:extLst>
                <a:ext uri="{FF2B5EF4-FFF2-40B4-BE49-F238E27FC236}">
                  <a16:creationId xmlns:a16="http://schemas.microsoft.com/office/drawing/2014/main" id="{03999C68-6A8D-C20C-1A19-70FBA7B26CC5}"/>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28376736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6600" b="1" dirty="0">
                <a:solidFill>
                  <a:schemeClr val="bg1"/>
                </a:solidFill>
                <a:latin typeface="Poppins"/>
                <a:ea typeface="Poppins"/>
                <a:cs typeface="Poppins"/>
                <a:sym typeface="Poppins"/>
              </a:rPr>
              <a:t>Legal </a:t>
            </a:r>
            <a:r>
              <a:rPr lang="en-US" sz="16600" b="1" dirty="0">
                <a:solidFill>
                  <a:srgbClr val="FF0000"/>
                </a:solidFill>
                <a:latin typeface="Poppins"/>
                <a:ea typeface="Poppins"/>
                <a:cs typeface="Poppins"/>
                <a:sym typeface="Poppins"/>
              </a:rPr>
              <a:t>Steps</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363983703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Legal Steps</a:t>
            </a:r>
            <a:endParaRPr lang="en-US" sz="4560" dirty="0">
              <a:solidFill>
                <a:srgbClr val="FF0000"/>
              </a:solidFill>
              <a:latin typeface="Poppins Bold"/>
              <a:ea typeface="Poppins Bold"/>
              <a:cs typeface="Poppins Bold"/>
              <a:sym typeface="Poppins Bold"/>
            </a:endParaRP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3600" b="1" kern="100" dirty="0">
                  <a:solidFill>
                    <a:srgbClr val="FFFF00"/>
                  </a:solidFill>
                  <a:latin typeface="Abadi" panose="020B0604020202020204" pitchFamily="34" charset="0"/>
                  <a:ea typeface="Aptos" panose="020B0004020202020204"/>
                  <a:cs typeface="Times New Roman" panose="02020603050405020304" pitchFamily="18" charset="0"/>
                </a:rPr>
                <a:t>Business Registration</a:t>
              </a:r>
              <a:endParaRPr lang="en-US" sz="36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Register SAFE LINK Solutions with the Department of Registrar of Companies in Sri Lanka.</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Obtain necessary business licenses from local authorities.</a:t>
              </a:r>
            </a:p>
            <a:p>
              <a:pPr marR="0" lvl="0">
                <a:lnSpc>
                  <a:spcPct val="107000"/>
                </a:lnSpc>
                <a:spcBef>
                  <a:spcPts val="0"/>
                </a:spcBef>
                <a:spcAft>
                  <a:spcPts val="800"/>
                </a:spcAft>
                <a:buSzPts val="1000"/>
                <a:tabLst>
                  <a:tab pos="457200" algn="l"/>
                </a:tabLst>
              </a:pPr>
              <a:r>
                <a:rPr lang="en-US" sz="3600" b="1" kern="100" dirty="0">
                  <a:solidFill>
                    <a:srgbClr val="FFFF00"/>
                  </a:solidFill>
                  <a:effectLst/>
                  <a:latin typeface="Abadi" panose="020B0604020202020204" pitchFamily="34" charset="0"/>
                  <a:ea typeface="Aptos" panose="020B0004020202020204"/>
                  <a:cs typeface="Times New Roman" panose="02020603050405020304" pitchFamily="18" charset="0"/>
                </a:rPr>
                <a:t> Trademark and Brand Protection</a:t>
              </a:r>
              <a:endParaRPr lang="en-US" sz="36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Register the business name and logo with the National Intellectual Property Office of Sri Lanka.</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Monitor for trademark infringements.</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14797508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1"/>
          <p:cNvSpPr txBox="1"/>
          <p:nvPr/>
        </p:nvSpPr>
        <p:spPr>
          <a:xfrm>
            <a:off x="457200" y="419100"/>
            <a:ext cx="11506200" cy="679673"/>
          </a:xfrm>
          <a:prstGeom prst="rect">
            <a:avLst/>
          </a:prstGeom>
        </p:spPr>
        <p:txBody>
          <a:bodyPr wrap="square" lIns="0" tIns="0" rIns="0" bIns="0" rtlCol="0" anchor="t">
            <a:spAutoFit/>
          </a:bodyPr>
          <a:lstStyle/>
          <a:p>
            <a:pPr algn="l">
              <a:lnSpc>
                <a:spcPts val="5336"/>
              </a:lnSpc>
            </a:pPr>
            <a:r>
              <a:rPr lang="en-US" sz="4560" dirty="0">
                <a:solidFill>
                  <a:schemeClr val="bg1"/>
                </a:solidFill>
                <a:latin typeface="Poppins Bold"/>
                <a:ea typeface="Poppins Bold"/>
                <a:cs typeface="Poppins Bold"/>
                <a:sym typeface="Poppins Bold"/>
              </a:rPr>
              <a:t>Legal Steps</a:t>
            </a:r>
            <a:endParaRPr lang="en-US" sz="4560" dirty="0">
              <a:solidFill>
                <a:srgbClr val="FF0000"/>
              </a:solidFill>
              <a:latin typeface="Poppins Bold"/>
              <a:ea typeface="Poppins Bold"/>
              <a:cs typeface="Poppins Bold"/>
              <a:sym typeface="Poppins Bold"/>
            </a:endParaRP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3124200" y="1336862"/>
            <a:ext cx="12115800" cy="8150038"/>
            <a:chOff x="9505096" y="817631"/>
            <a:chExt cx="5734903" cy="3961535"/>
          </a:xfrm>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nSpc>
                  <a:spcPct val="107000"/>
                </a:lnSpc>
                <a:spcBef>
                  <a:spcPts val="0"/>
                </a:spcBef>
                <a:spcAft>
                  <a:spcPts val="800"/>
                </a:spcAft>
              </a:pPr>
              <a:r>
                <a:rPr lang="en-US" sz="3600" b="1" kern="100" dirty="0">
                  <a:solidFill>
                    <a:srgbClr val="FFFF00"/>
                  </a:solidFill>
                  <a:latin typeface="Abadi" panose="020B0604020202020204" pitchFamily="34" charset="0"/>
                  <a:ea typeface="Aptos" panose="020B0004020202020204"/>
                  <a:cs typeface="Times New Roman" panose="02020603050405020304" pitchFamily="18" charset="0"/>
                </a:rPr>
                <a:t>Patent Application</a:t>
              </a:r>
              <a:endParaRPr lang="en-US" sz="36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File for patents with the National Intellectual Property Office of Sri Lanka to protect the unique technology of the SAFE LINK Beacon.</a:t>
              </a:r>
            </a:p>
            <a:p>
              <a:pPr marR="0" lvl="0">
                <a:lnSpc>
                  <a:spcPct val="107000"/>
                </a:lnSpc>
                <a:spcBef>
                  <a:spcPts val="0"/>
                </a:spcBef>
                <a:spcAft>
                  <a:spcPts val="800"/>
                </a:spcAft>
                <a:buSzPts val="1000"/>
                <a:tabLst>
                  <a:tab pos="457200" algn="l"/>
                </a:tabLst>
              </a:pPr>
              <a:r>
                <a:rPr lang="en-US" sz="3600" b="1" kern="100" dirty="0">
                  <a:solidFill>
                    <a:srgbClr val="FFFF00"/>
                  </a:solidFill>
                  <a:effectLst/>
                  <a:latin typeface="Abadi" panose="020B0604020202020204" pitchFamily="34" charset="0"/>
                  <a:ea typeface="Aptos" panose="020B0004020202020204"/>
                  <a:cs typeface="Times New Roman" panose="02020603050405020304" pitchFamily="18" charset="0"/>
                </a:rPr>
                <a:t> Licensing and Permits</a:t>
              </a:r>
              <a:endParaRPr lang="en-US" sz="36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Obtain necessary licenses from the Telecommunications Regulatory Commission of Sri Lanka for telecommunications and satellite communication.</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200" dirty="0">
                  <a:effectLst/>
                  <a:latin typeface="Calibri" panose="020F0502020204030204" pitchFamily="34" charset="0"/>
                  <a:ea typeface="Calibri" panose="020F0502020204030204" pitchFamily="34" charset="0"/>
                  <a:cs typeface="Times New Roman" panose="02020603050405020304" pitchFamily="18" charset="0"/>
                </a:rPr>
                <a:t>Ensure compliance with all relevant regulations and standards for operating in Sri Lanka.</a:t>
              </a:r>
            </a:p>
            <a:p>
              <a:pPr algn="ctr"/>
              <a:endParaRPr lang="en-US" dirty="0"/>
            </a:p>
          </p:txBody>
        </p:sp>
        <p:sp>
          <p:nvSpPr>
            <p:cNvPr id="34" name="TextBox 33">
              <a:extLst>
                <a:ext uri="{FF2B5EF4-FFF2-40B4-BE49-F238E27FC236}">
                  <a16:creationId xmlns:a16="http://schemas.microsoft.com/office/drawing/2014/main" id="{E1ABE356-08CF-95E4-FF84-CC68AA9ADE74}"/>
                </a:ext>
              </a:extLst>
            </p:cNvPr>
            <p:cNvSpPr txBox="1"/>
            <p:nvPr/>
          </p:nvSpPr>
          <p:spPr>
            <a:xfrm>
              <a:off x="9654085" y="970998"/>
              <a:ext cx="5452074" cy="202276"/>
            </a:xfrm>
            <a:prstGeom prst="rect">
              <a:avLst/>
            </a:prstGeom>
            <a:noFill/>
          </p:spPr>
          <p:txBody>
            <a:bodyPr wrap="square" rtlCol="0">
              <a:spAutoFit/>
            </a:bodyPr>
            <a:lstStyle/>
            <a:p>
              <a:pPr marL="342900" marR="0" lvl="0" indent="-342900">
                <a:lnSpc>
                  <a:spcPct val="115000"/>
                </a:lnSpc>
                <a:spcBef>
                  <a:spcPts val="0"/>
                </a:spcBef>
                <a:spcAft>
                  <a:spcPts val="0"/>
                </a:spcAft>
                <a:buFont typeface="Symbol" panose="05050102010706020507" pitchFamily="18" charset="2"/>
                <a:buChar char=""/>
                <a:tabLst>
                  <a:tab pos="228600" algn="l"/>
                </a:tabLst>
              </a:pPr>
              <a:endParaRPr lang="en-US" sz="2000" dirty="0">
                <a:solidFill>
                  <a:schemeClr val="bg1"/>
                </a:solidFill>
                <a:effectLst/>
                <a:latin typeface="Cambria" panose="02040503050406030204" pitchFamily="18" charset="0"/>
                <a:ea typeface="MS Mincho" panose="02020609040205080304" pitchFamily="49" charset="-128"/>
                <a:cs typeface="Iskoola Pota" panose="020B0502040204020203" pitchFamily="34" charset="0"/>
              </a:endParaRPr>
            </a:p>
          </p:txBody>
        </p:sp>
      </p:grpSp>
    </p:spTree>
    <p:extLst>
      <p:ext uri="{BB962C8B-B14F-4D97-AF65-F5344CB8AC3E}">
        <p14:creationId xmlns:p14="http://schemas.microsoft.com/office/powerpoint/2010/main" val="75428088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3800" b="1" dirty="0">
                <a:solidFill>
                  <a:schemeClr val="bg1"/>
                </a:solidFill>
                <a:latin typeface="Poppins"/>
                <a:ea typeface="Poppins"/>
                <a:cs typeface="Poppins"/>
                <a:sym typeface="Poppins"/>
              </a:rPr>
              <a:t>Establish </a:t>
            </a:r>
            <a:r>
              <a:rPr lang="en-US" sz="13800" b="1" dirty="0">
                <a:solidFill>
                  <a:srgbClr val="FF0000"/>
                </a:solidFill>
                <a:latin typeface="Poppins"/>
                <a:ea typeface="Poppins"/>
                <a:cs typeface="Poppins"/>
                <a:sym typeface="Poppins"/>
              </a:rPr>
              <a:t>Location</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49032865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59274"/>
            <a:ext cx="18288000" cy="11070173"/>
          </a:xfrm>
          <a:prstGeom prst="rect">
            <a:avLst/>
          </a:prstGeom>
          <a:gradFill flip="none" rotWithShape="1">
            <a:gsLst>
              <a:gs pos="22000">
                <a:schemeClr val="tx1"/>
              </a:gs>
              <a:gs pos="96000">
                <a:schemeClr val="bg1">
                  <a:lumMod val="65000"/>
                  <a:alpha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1219200" y="723900"/>
            <a:ext cx="6705600"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Establish a Location in </a:t>
            </a:r>
            <a:r>
              <a:rPr lang="en-US" sz="4560" dirty="0">
                <a:solidFill>
                  <a:srgbClr val="FF0000"/>
                </a:solidFill>
                <a:latin typeface="Poppins Bold"/>
                <a:ea typeface="Poppins Bold"/>
                <a:cs typeface="Poppins Bold"/>
                <a:sym typeface="Poppins Bold"/>
              </a:rPr>
              <a:t>SAFE LINK</a:t>
            </a:r>
          </a:p>
        </p:txBody>
      </p:sp>
      <p:sp>
        <p:nvSpPr>
          <p:cNvPr id="44" name="Rectangle 43">
            <a:extLst>
              <a:ext uri="{FF2B5EF4-FFF2-40B4-BE49-F238E27FC236}">
                <a16:creationId xmlns:a16="http://schemas.microsoft.com/office/drawing/2014/main" id="{7A70A5ED-1BB4-710D-D4A9-602BAF2C13FE}"/>
              </a:ext>
            </a:extLst>
          </p:cNvPr>
          <p:cNvSpPr/>
          <p:nvPr/>
        </p:nvSpPr>
        <p:spPr>
          <a:xfrm>
            <a:off x="1234440" y="21259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5296-E26E-0C53-A26E-EBD6546BDFF2}"/>
              </a:ext>
            </a:extLst>
          </p:cNvPr>
          <p:cNvSpPr txBox="1"/>
          <p:nvPr/>
        </p:nvSpPr>
        <p:spPr>
          <a:xfrm>
            <a:off x="1219200" y="2797136"/>
            <a:ext cx="12725400" cy="2923877"/>
          </a:xfrm>
          <a:prstGeom prst="rect">
            <a:avLst/>
          </a:prstGeom>
          <a:noFill/>
        </p:spPr>
        <p:txBody>
          <a:bodyPr wrap="square" rtlCol="0">
            <a:spAutoFit/>
          </a:bodyPr>
          <a:lstStyle/>
          <a:p>
            <a:pPr algn="ctr"/>
            <a:r>
              <a:rPr lang="en-US" sz="3200" b="1" kern="100" dirty="0">
                <a:solidFill>
                  <a:schemeClr val="bg1"/>
                </a:solidFill>
                <a:effectLst/>
                <a:latin typeface="Abadi" panose="020B0604020202020204" pitchFamily="34" charset="0"/>
                <a:ea typeface="Aptos" panose="020B0004020202020204"/>
                <a:cs typeface="Times New Roman" panose="02020603050405020304" pitchFamily="18" charset="0"/>
              </a:rPr>
              <a:t>We choose a physical location to optimize operations, support growth, and create a productive work environment.</a:t>
            </a:r>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4800" b="1" dirty="0">
              <a:solidFill>
                <a:schemeClr val="bg1"/>
              </a:solidFill>
            </a:endParaRPr>
          </a:p>
        </p:txBody>
      </p:sp>
      <p:sp>
        <p:nvSpPr>
          <p:cNvPr id="6" name="TextBox 5">
            <a:extLst>
              <a:ext uri="{FF2B5EF4-FFF2-40B4-BE49-F238E27FC236}">
                <a16:creationId xmlns:a16="http://schemas.microsoft.com/office/drawing/2014/main" id="{D52AEE55-17E5-8182-6615-F53F898D3D9C}"/>
              </a:ext>
            </a:extLst>
          </p:cNvPr>
          <p:cNvSpPr txBox="1"/>
          <p:nvPr/>
        </p:nvSpPr>
        <p:spPr>
          <a:xfrm>
            <a:off x="1219200" y="4149086"/>
            <a:ext cx="13106400" cy="9781845"/>
          </a:xfrm>
          <a:prstGeom prst="rect">
            <a:avLst/>
          </a:prstGeom>
          <a:noFill/>
        </p:spPr>
        <p:txBody>
          <a:bodyPr wrap="square" rtlCol="0">
            <a:spAutoFit/>
          </a:bodyPr>
          <a:lstStyle/>
          <a:p>
            <a:r>
              <a:rPr lang="en-US" sz="4000" b="1" dirty="0">
                <a:solidFill>
                  <a:srgbClr val="FFC000"/>
                </a:solidFill>
              </a:rPr>
              <a:t>Office Space</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chemeClr val="bg1"/>
                </a:solidFill>
                <a:effectLst/>
                <a:latin typeface="Abadi" panose="020B0604020202020204" pitchFamily="34" charset="0"/>
                <a:ea typeface="Aptos" panose="020B0004020202020204"/>
                <a:cs typeface="Times New Roman" panose="02020603050405020304" pitchFamily="18" charset="0"/>
              </a:rPr>
              <a:t>Location:  Select a tech-friendly city with convenient access for the team.</a:t>
            </a:r>
            <a:endParaRPr lang="en-US" sz="3600" kern="100" dirty="0">
              <a:solidFill>
                <a:schemeClr val="bg1"/>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chemeClr val="bg1"/>
                </a:solidFill>
                <a:effectLst/>
                <a:latin typeface="Abadi" panose="020B0604020202020204" pitchFamily="34" charset="0"/>
                <a:ea typeface="Aptos" panose="020B0004020202020204"/>
                <a:cs typeface="Times New Roman" panose="02020603050405020304" pitchFamily="18" charset="0"/>
              </a:rPr>
              <a:t>Office Setup:  Rent space equipped with high-speed internet, workstations, meeting rooms, and a secure server room.</a:t>
            </a:r>
            <a:endParaRPr lang="en-US" sz="3600" kern="100" dirty="0">
              <a:solidFill>
                <a:schemeClr val="bg1"/>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chemeClr val="bg1"/>
                </a:solidFill>
                <a:effectLst/>
                <a:latin typeface="Abadi" panose="020B0604020202020204" pitchFamily="34" charset="0"/>
                <a:ea typeface="Aptos" panose="020B0004020202020204"/>
                <a:cs typeface="Times New Roman" panose="02020603050405020304" pitchFamily="18" charset="0"/>
              </a:rPr>
              <a:t>Facilities:  Provide amenities such as a break room, ergonomic furniture, and collaboration areas.</a:t>
            </a:r>
            <a:endParaRPr lang="en-US" sz="3600" kern="100" dirty="0">
              <a:solidFill>
                <a:schemeClr val="bg1"/>
              </a:solidFill>
              <a:effectLst/>
              <a:latin typeface="Abadi" panose="020B0604020202020204" pitchFamily="34" charset="0"/>
              <a:ea typeface="Aptos" panose="020B0004020202020204"/>
              <a:cs typeface="Times New Roman" panose="02020603050405020304" pitchFamily="18" charset="0"/>
            </a:endParaRPr>
          </a:p>
          <a:p>
            <a:endPar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solidFill>
                <a:schemeClr val="bg1"/>
              </a:solidFill>
            </a:endParaRPr>
          </a:p>
        </p:txBody>
      </p:sp>
      <p:sp>
        <p:nvSpPr>
          <p:cNvPr id="29" name="Rectangle 28">
            <a:extLst>
              <a:ext uri="{FF2B5EF4-FFF2-40B4-BE49-F238E27FC236}">
                <a16:creationId xmlns:a16="http://schemas.microsoft.com/office/drawing/2014/main" id="{47185441-C7F4-E8F0-8516-710EDB1FAD0B}"/>
              </a:ext>
            </a:extLst>
          </p:cNvPr>
          <p:cNvSpPr/>
          <p:nvPr/>
        </p:nvSpPr>
        <p:spPr>
          <a:xfrm rot="5400000">
            <a:off x="21217967" y="-4324024"/>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30" name="Group 47">
            <a:extLst>
              <a:ext uri="{FF2B5EF4-FFF2-40B4-BE49-F238E27FC236}">
                <a16:creationId xmlns:a16="http://schemas.microsoft.com/office/drawing/2014/main" id="{50D325CB-1A67-6D3E-8C2A-F001C8EBB1FA}"/>
              </a:ext>
            </a:extLst>
          </p:cNvPr>
          <p:cNvGrpSpPr>
            <a:grpSpLocks noChangeAspect="1"/>
          </p:cNvGrpSpPr>
          <p:nvPr/>
        </p:nvGrpSpPr>
        <p:grpSpPr>
          <a:xfrm rot="21571874">
            <a:off x="20887977" y="-7118330"/>
            <a:ext cx="3127859" cy="6189006"/>
            <a:chOff x="0" y="0"/>
            <a:chExt cx="2620010" cy="5184140"/>
          </a:xfrm>
          <a:scene3d>
            <a:camera prst="isometricOffAxis2Left"/>
            <a:lightRig rig="threePt" dir="t"/>
          </a:scene3d>
        </p:grpSpPr>
        <p:sp>
          <p:nvSpPr>
            <p:cNvPr id="31" name="Freeform 48">
              <a:extLst>
                <a:ext uri="{FF2B5EF4-FFF2-40B4-BE49-F238E27FC236}">
                  <a16:creationId xmlns:a16="http://schemas.microsoft.com/office/drawing/2014/main" id="{8978F16D-6460-4072-D2A1-EFE5D81FD1C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2" name="Freeform 49">
              <a:extLst>
                <a:ext uri="{FF2B5EF4-FFF2-40B4-BE49-F238E27FC236}">
                  <a16:creationId xmlns:a16="http://schemas.microsoft.com/office/drawing/2014/main" id="{A2DAB60A-D91A-D8B1-489A-4A4BEEB908BA}"/>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33" name="Freeform 50">
              <a:extLst>
                <a:ext uri="{FF2B5EF4-FFF2-40B4-BE49-F238E27FC236}">
                  <a16:creationId xmlns:a16="http://schemas.microsoft.com/office/drawing/2014/main" id="{1C8B6A41-6B76-F64F-A102-8FA0D346809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4" name="Freeform 51">
              <a:extLst>
                <a:ext uri="{FF2B5EF4-FFF2-40B4-BE49-F238E27FC236}">
                  <a16:creationId xmlns:a16="http://schemas.microsoft.com/office/drawing/2014/main" id="{2B5BB0CE-AE7D-621F-0CFB-BC15812877FA}"/>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5" name="Freeform 52">
              <a:extLst>
                <a:ext uri="{FF2B5EF4-FFF2-40B4-BE49-F238E27FC236}">
                  <a16:creationId xmlns:a16="http://schemas.microsoft.com/office/drawing/2014/main" id="{66EB6EB9-A31D-27F9-4843-FAE8B9F182B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6" name="Freeform 53">
              <a:extLst>
                <a:ext uri="{FF2B5EF4-FFF2-40B4-BE49-F238E27FC236}">
                  <a16:creationId xmlns:a16="http://schemas.microsoft.com/office/drawing/2014/main" id="{896D413D-5B5C-270F-448B-C6E478788CA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7" name="Freeform 54">
              <a:extLst>
                <a:ext uri="{FF2B5EF4-FFF2-40B4-BE49-F238E27FC236}">
                  <a16:creationId xmlns:a16="http://schemas.microsoft.com/office/drawing/2014/main" id="{CD5B6AC9-0605-7E12-5ABD-92A34E9F61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8" name="Freeform 55">
              <a:extLst>
                <a:ext uri="{FF2B5EF4-FFF2-40B4-BE49-F238E27FC236}">
                  <a16:creationId xmlns:a16="http://schemas.microsoft.com/office/drawing/2014/main" id="{DBAB29B0-AB32-5E11-4F5E-80078B2D002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9" name="Freeform 56">
              <a:extLst>
                <a:ext uri="{FF2B5EF4-FFF2-40B4-BE49-F238E27FC236}">
                  <a16:creationId xmlns:a16="http://schemas.microsoft.com/office/drawing/2014/main" id="{A89E335E-C06A-FC71-357A-7B38A8F016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0" name="Rectangle 39">
            <a:extLst>
              <a:ext uri="{FF2B5EF4-FFF2-40B4-BE49-F238E27FC236}">
                <a16:creationId xmlns:a16="http://schemas.microsoft.com/office/drawing/2014/main" id="{AFB45BEB-4E64-BE64-E2A4-33E60F9D1E58}"/>
              </a:ext>
            </a:extLst>
          </p:cNvPr>
          <p:cNvSpPr/>
          <p:nvPr/>
        </p:nvSpPr>
        <p:spPr>
          <a:xfrm rot="5400000">
            <a:off x="21288744" y="-35333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42" name="Group 17">
            <a:extLst>
              <a:ext uri="{FF2B5EF4-FFF2-40B4-BE49-F238E27FC236}">
                <a16:creationId xmlns:a16="http://schemas.microsoft.com/office/drawing/2014/main" id="{DEFC1F56-0B40-088E-891B-6E958089C9A0}"/>
              </a:ext>
            </a:extLst>
          </p:cNvPr>
          <p:cNvGrpSpPr>
            <a:grpSpLocks noChangeAspect="1"/>
          </p:cNvGrpSpPr>
          <p:nvPr/>
        </p:nvGrpSpPr>
        <p:grpSpPr>
          <a:xfrm rot="21571874">
            <a:off x="20528986" y="-6125547"/>
            <a:ext cx="3127859" cy="6189006"/>
            <a:chOff x="0" y="0"/>
            <a:chExt cx="2620010" cy="5184140"/>
          </a:xfrm>
          <a:scene3d>
            <a:camera prst="isometricOffAxis2Left"/>
            <a:lightRig rig="threePt" dir="t"/>
          </a:scene3d>
        </p:grpSpPr>
        <p:sp>
          <p:nvSpPr>
            <p:cNvPr id="45" name="Freeform 18">
              <a:extLst>
                <a:ext uri="{FF2B5EF4-FFF2-40B4-BE49-F238E27FC236}">
                  <a16:creationId xmlns:a16="http://schemas.microsoft.com/office/drawing/2014/main" id="{8ACAF2CD-A533-BF41-2334-BA139C69816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6" name="Freeform 19">
              <a:extLst>
                <a:ext uri="{FF2B5EF4-FFF2-40B4-BE49-F238E27FC236}">
                  <a16:creationId xmlns:a16="http://schemas.microsoft.com/office/drawing/2014/main" id="{6AF92BF5-584A-AB46-7D38-BF5FA3E6735B}"/>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47" name="Freeform 20">
              <a:extLst>
                <a:ext uri="{FF2B5EF4-FFF2-40B4-BE49-F238E27FC236}">
                  <a16:creationId xmlns:a16="http://schemas.microsoft.com/office/drawing/2014/main" id="{F5928960-E08C-CCEE-0984-E54FF389A2A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8" name="Freeform 21">
              <a:extLst>
                <a:ext uri="{FF2B5EF4-FFF2-40B4-BE49-F238E27FC236}">
                  <a16:creationId xmlns:a16="http://schemas.microsoft.com/office/drawing/2014/main" id="{B2F38276-A93C-7DD0-5768-B0DA92D850C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9" name="Freeform 22">
              <a:extLst>
                <a:ext uri="{FF2B5EF4-FFF2-40B4-BE49-F238E27FC236}">
                  <a16:creationId xmlns:a16="http://schemas.microsoft.com/office/drawing/2014/main" id="{7D99DFD3-C71F-C4B2-32B8-3CD58C21DAD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0" name="Freeform 23">
              <a:extLst>
                <a:ext uri="{FF2B5EF4-FFF2-40B4-BE49-F238E27FC236}">
                  <a16:creationId xmlns:a16="http://schemas.microsoft.com/office/drawing/2014/main" id="{AF0E37C7-8106-0715-5A2B-E486E83E7B9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1" name="Freeform 24">
              <a:extLst>
                <a:ext uri="{FF2B5EF4-FFF2-40B4-BE49-F238E27FC236}">
                  <a16:creationId xmlns:a16="http://schemas.microsoft.com/office/drawing/2014/main" id="{FADE0DA4-5D82-75DD-0201-C6BCE08CF48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2" name="Freeform 25">
              <a:extLst>
                <a:ext uri="{FF2B5EF4-FFF2-40B4-BE49-F238E27FC236}">
                  <a16:creationId xmlns:a16="http://schemas.microsoft.com/office/drawing/2014/main" id="{45D504F6-9263-31B5-A516-6F185992DCF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3" name="Freeform 26">
              <a:extLst>
                <a:ext uri="{FF2B5EF4-FFF2-40B4-BE49-F238E27FC236}">
                  <a16:creationId xmlns:a16="http://schemas.microsoft.com/office/drawing/2014/main" id="{C98755F1-C5A3-03B6-1C4A-CA74D23BDE9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4" name="Rectangle 53">
            <a:extLst>
              <a:ext uri="{FF2B5EF4-FFF2-40B4-BE49-F238E27FC236}">
                <a16:creationId xmlns:a16="http://schemas.microsoft.com/office/drawing/2014/main" id="{A4E63B28-FA5A-83C4-1E7A-7A5994F1B459}"/>
              </a:ext>
            </a:extLst>
          </p:cNvPr>
          <p:cNvSpPr/>
          <p:nvPr/>
        </p:nvSpPr>
        <p:spPr>
          <a:xfrm rot="5400000">
            <a:off x="20831544" y="-25427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55" name="Group 27">
            <a:extLst>
              <a:ext uri="{FF2B5EF4-FFF2-40B4-BE49-F238E27FC236}">
                <a16:creationId xmlns:a16="http://schemas.microsoft.com/office/drawing/2014/main" id="{7475511F-3E82-48D4-6A8C-06D97165A13C}"/>
              </a:ext>
            </a:extLst>
          </p:cNvPr>
          <p:cNvGrpSpPr>
            <a:grpSpLocks noChangeAspect="1"/>
          </p:cNvGrpSpPr>
          <p:nvPr/>
        </p:nvGrpSpPr>
        <p:grpSpPr>
          <a:xfrm rot="21571874">
            <a:off x="20125977" y="-5153435"/>
            <a:ext cx="3127859" cy="6189006"/>
            <a:chOff x="0" y="0"/>
            <a:chExt cx="2620010" cy="5184140"/>
          </a:xfrm>
          <a:scene3d>
            <a:camera prst="isometricOffAxis2Left"/>
            <a:lightRig rig="threePt" dir="t"/>
          </a:scene3d>
        </p:grpSpPr>
        <p:sp>
          <p:nvSpPr>
            <p:cNvPr id="56" name="Freeform 28">
              <a:extLst>
                <a:ext uri="{FF2B5EF4-FFF2-40B4-BE49-F238E27FC236}">
                  <a16:creationId xmlns:a16="http://schemas.microsoft.com/office/drawing/2014/main" id="{175CAFAB-CAE1-96DD-ACA3-824B55FC962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7" name="Freeform 29">
              <a:extLst>
                <a:ext uri="{FF2B5EF4-FFF2-40B4-BE49-F238E27FC236}">
                  <a16:creationId xmlns:a16="http://schemas.microsoft.com/office/drawing/2014/main" id="{800B54CD-77F5-EA57-1048-E3FC4DFC83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dirty="0"/>
            </a:p>
          </p:txBody>
        </p:sp>
        <p:sp>
          <p:nvSpPr>
            <p:cNvPr id="58" name="Freeform 30">
              <a:extLst>
                <a:ext uri="{FF2B5EF4-FFF2-40B4-BE49-F238E27FC236}">
                  <a16:creationId xmlns:a16="http://schemas.microsoft.com/office/drawing/2014/main" id="{89F5A82E-1182-F372-3513-82599863A1D2}"/>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9" name="Freeform 31">
              <a:extLst>
                <a:ext uri="{FF2B5EF4-FFF2-40B4-BE49-F238E27FC236}">
                  <a16:creationId xmlns:a16="http://schemas.microsoft.com/office/drawing/2014/main" id="{8A1F80DE-9F1D-D689-DF7B-440A3C93CA6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0" name="Freeform 32">
              <a:extLst>
                <a:ext uri="{FF2B5EF4-FFF2-40B4-BE49-F238E27FC236}">
                  <a16:creationId xmlns:a16="http://schemas.microsoft.com/office/drawing/2014/main" id="{73624F34-DBE5-8197-999B-D37F722981A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1" name="Freeform 33">
              <a:extLst>
                <a:ext uri="{FF2B5EF4-FFF2-40B4-BE49-F238E27FC236}">
                  <a16:creationId xmlns:a16="http://schemas.microsoft.com/office/drawing/2014/main" id="{90BDAFCC-CAEA-EFF2-5889-345902B3ADE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2" name="Freeform 34">
              <a:extLst>
                <a:ext uri="{FF2B5EF4-FFF2-40B4-BE49-F238E27FC236}">
                  <a16:creationId xmlns:a16="http://schemas.microsoft.com/office/drawing/2014/main" id="{20432542-78B7-15C7-96E2-226115C3BB5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3" name="Freeform 35">
              <a:extLst>
                <a:ext uri="{FF2B5EF4-FFF2-40B4-BE49-F238E27FC236}">
                  <a16:creationId xmlns:a16="http://schemas.microsoft.com/office/drawing/2014/main" id="{70C96ABA-31F4-95C1-BBB0-BF3A46F9246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4" name="Freeform 36">
              <a:extLst>
                <a:ext uri="{FF2B5EF4-FFF2-40B4-BE49-F238E27FC236}">
                  <a16:creationId xmlns:a16="http://schemas.microsoft.com/office/drawing/2014/main" id="{38A9696D-C8E9-4509-CAE8-D26C0707195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5" name="Rectangle 64">
            <a:extLst>
              <a:ext uri="{FF2B5EF4-FFF2-40B4-BE49-F238E27FC236}">
                <a16:creationId xmlns:a16="http://schemas.microsoft.com/office/drawing/2014/main" id="{F4CB86CB-19B8-53D5-E3B8-67ABC8BA5FDA}"/>
              </a:ext>
            </a:extLst>
          </p:cNvPr>
          <p:cNvSpPr/>
          <p:nvPr/>
        </p:nvSpPr>
        <p:spPr>
          <a:xfrm rot="5400000">
            <a:off x="20374344" y="-166244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66" name="Group 37">
            <a:extLst>
              <a:ext uri="{FF2B5EF4-FFF2-40B4-BE49-F238E27FC236}">
                <a16:creationId xmlns:a16="http://schemas.microsoft.com/office/drawing/2014/main" id="{319A9EDA-EEB9-812B-3B18-9E332D5CC081}"/>
              </a:ext>
            </a:extLst>
          </p:cNvPr>
          <p:cNvGrpSpPr>
            <a:grpSpLocks noChangeAspect="1"/>
          </p:cNvGrpSpPr>
          <p:nvPr/>
        </p:nvGrpSpPr>
        <p:grpSpPr>
          <a:xfrm rot="21571874">
            <a:off x="19614586" y="-4199403"/>
            <a:ext cx="3127859" cy="6189006"/>
            <a:chOff x="0" y="0"/>
            <a:chExt cx="2620010" cy="5184140"/>
          </a:xfrm>
          <a:scene3d>
            <a:camera prst="isometricOffAxis2Left"/>
            <a:lightRig rig="threePt" dir="t"/>
          </a:scene3d>
        </p:grpSpPr>
        <p:sp>
          <p:nvSpPr>
            <p:cNvPr id="67" name="Freeform 38">
              <a:extLst>
                <a:ext uri="{FF2B5EF4-FFF2-40B4-BE49-F238E27FC236}">
                  <a16:creationId xmlns:a16="http://schemas.microsoft.com/office/drawing/2014/main" id="{24CE4206-54F8-A9D6-4E97-3BF6BC8D8B1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8" name="Freeform 39">
              <a:extLst>
                <a:ext uri="{FF2B5EF4-FFF2-40B4-BE49-F238E27FC236}">
                  <a16:creationId xmlns:a16="http://schemas.microsoft.com/office/drawing/2014/main" id="{9F35793B-A362-019C-5BC3-19FA682D50A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a:p>
          </p:txBody>
        </p:sp>
        <p:sp>
          <p:nvSpPr>
            <p:cNvPr id="69" name="Freeform 40">
              <a:extLst>
                <a:ext uri="{FF2B5EF4-FFF2-40B4-BE49-F238E27FC236}">
                  <a16:creationId xmlns:a16="http://schemas.microsoft.com/office/drawing/2014/main" id="{F15CE4EE-244E-3FDE-906D-767B1AEAFE6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0" name="Freeform 41">
              <a:extLst>
                <a:ext uri="{FF2B5EF4-FFF2-40B4-BE49-F238E27FC236}">
                  <a16:creationId xmlns:a16="http://schemas.microsoft.com/office/drawing/2014/main" id="{6D5A7AFA-DFAE-C76A-53AB-C7160806960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1" name="Freeform 42">
              <a:extLst>
                <a:ext uri="{FF2B5EF4-FFF2-40B4-BE49-F238E27FC236}">
                  <a16:creationId xmlns:a16="http://schemas.microsoft.com/office/drawing/2014/main" id="{643CD0E0-3435-98E4-36A4-2CC343A069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2" name="Freeform 43">
              <a:extLst>
                <a:ext uri="{FF2B5EF4-FFF2-40B4-BE49-F238E27FC236}">
                  <a16:creationId xmlns:a16="http://schemas.microsoft.com/office/drawing/2014/main" id="{369C1EB4-DE13-F85E-5BD6-946369EBD3A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3" name="Freeform 44">
              <a:extLst>
                <a:ext uri="{FF2B5EF4-FFF2-40B4-BE49-F238E27FC236}">
                  <a16:creationId xmlns:a16="http://schemas.microsoft.com/office/drawing/2014/main" id="{D3B07586-5DE5-C8B2-197D-AB7E41465ABC}"/>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4" name="Freeform 45">
              <a:extLst>
                <a:ext uri="{FF2B5EF4-FFF2-40B4-BE49-F238E27FC236}">
                  <a16:creationId xmlns:a16="http://schemas.microsoft.com/office/drawing/2014/main" id="{4D44B4DC-C408-9AF4-3EBB-27C17770C2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5" name="Freeform 46">
              <a:extLst>
                <a:ext uri="{FF2B5EF4-FFF2-40B4-BE49-F238E27FC236}">
                  <a16:creationId xmlns:a16="http://schemas.microsoft.com/office/drawing/2014/main" id="{03999C68-6A8D-C20C-1A19-70FBA7B26CC5}"/>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390703508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59274"/>
            <a:ext cx="18288000" cy="11070173"/>
          </a:xfrm>
          <a:prstGeom prst="rect">
            <a:avLst/>
          </a:prstGeom>
          <a:gradFill flip="none" rotWithShape="1">
            <a:gsLst>
              <a:gs pos="22000">
                <a:schemeClr val="tx1"/>
              </a:gs>
              <a:gs pos="96000">
                <a:schemeClr val="bg1">
                  <a:lumMod val="65000"/>
                  <a:alpha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1219200" y="723900"/>
            <a:ext cx="6705600"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Establish a Location in </a:t>
            </a:r>
            <a:r>
              <a:rPr lang="en-US" sz="4560" dirty="0">
                <a:solidFill>
                  <a:srgbClr val="FF0000"/>
                </a:solidFill>
                <a:latin typeface="Poppins Bold"/>
                <a:ea typeface="Poppins Bold"/>
                <a:cs typeface="Poppins Bold"/>
                <a:sym typeface="Poppins Bold"/>
              </a:rPr>
              <a:t>SAFE LINK</a:t>
            </a:r>
          </a:p>
        </p:txBody>
      </p:sp>
      <p:sp>
        <p:nvSpPr>
          <p:cNvPr id="44" name="Rectangle 43">
            <a:extLst>
              <a:ext uri="{FF2B5EF4-FFF2-40B4-BE49-F238E27FC236}">
                <a16:creationId xmlns:a16="http://schemas.microsoft.com/office/drawing/2014/main" id="{7A70A5ED-1BB4-710D-D4A9-602BAF2C13FE}"/>
              </a:ext>
            </a:extLst>
          </p:cNvPr>
          <p:cNvSpPr/>
          <p:nvPr/>
        </p:nvSpPr>
        <p:spPr>
          <a:xfrm>
            <a:off x="1234440" y="21259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5296-E26E-0C53-A26E-EBD6546BDFF2}"/>
              </a:ext>
            </a:extLst>
          </p:cNvPr>
          <p:cNvSpPr txBox="1"/>
          <p:nvPr/>
        </p:nvSpPr>
        <p:spPr>
          <a:xfrm>
            <a:off x="2536611" y="-2033079"/>
            <a:ext cx="12725400" cy="1938992"/>
          </a:xfrm>
          <a:prstGeom prst="rect">
            <a:avLst/>
          </a:prstGeom>
          <a:noFill/>
        </p:spPr>
        <p:txBody>
          <a:bodyPr wrap="square" rtlCol="0">
            <a:spAutoFit/>
          </a:bodyPr>
          <a:lstStyle/>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4800" b="1" dirty="0">
              <a:solidFill>
                <a:schemeClr val="bg1"/>
              </a:solidFill>
            </a:endParaRPr>
          </a:p>
        </p:txBody>
      </p:sp>
      <p:sp>
        <p:nvSpPr>
          <p:cNvPr id="6" name="TextBox 5">
            <a:extLst>
              <a:ext uri="{FF2B5EF4-FFF2-40B4-BE49-F238E27FC236}">
                <a16:creationId xmlns:a16="http://schemas.microsoft.com/office/drawing/2014/main" id="{D52AEE55-17E5-8182-6615-F53F898D3D9C}"/>
              </a:ext>
            </a:extLst>
          </p:cNvPr>
          <p:cNvSpPr txBox="1"/>
          <p:nvPr/>
        </p:nvSpPr>
        <p:spPr>
          <a:xfrm>
            <a:off x="914400" y="2476500"/>
            <a:ext cx="13411200" cy="8493672"/>
          </a:xfrm>
          <a:prstGeom prst="rect">
            <a:avLst/>
          </a:prstGeom>
          <a:noFill/>
        </p:spPr>
        <p:txBody>
          <a:bodyPr wrap="square" rtlCol="0">
            <a:spAutoFit/>
          </a:bodyPr>
          <a:lstStyle/>
          <a:p>
            <a:r>
              <a:rPr lang="en-US" sz="4000" b="1" dirty="0">
                <a:solidFill>
                  <a:srgbClr val="FFC000"/>
                </a:solidFill>
              </a:rPr>
              <a:t>Manufacturing Facility</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chemeClr val="bg1"/>
                </a:solidFill>
                <a:effectLst/>
                <a:latin typeface="Abadi" panose="020B0604020202020204" pitchFamily="34" charset="0"/>
                <a:ea typeface="Aptos" panose="020B0004020202020204"/>
                <a:cs typeface="Times New Roman" panose="02020603050405020304" pitchFamily="18" charset="0"/>
              </a:rPr>
              <a:t>Production Needs:  Establish a facility for assembling and testing SAFE LINK Beacon devices, considering either in-house or contract manufacturing.</a:t>
            </a:r>
            <a:endParaRPr lang="en-US" sz="3600" kern="100" dirty="0">
              <a:solidFill>
                <a:schemeClr val="bg1"/>
              </a:solidFill>
              <a:effectLst/>
              <a:latin typeface="Abadi" panose="020B0604020202020204" pitchFamily="34" charset="0"/>
              <a:ea typeface="Aptos" panose="020B0004020202020204"/>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3600" b="1" kern="100" dirty="0">
                <a:solidFill>
                  <a:schemeClr val="bg1"/>
                </a:solidFill>
                <a:effectLst/>
                <a:latin typeface="Abadi" panose="020B0604020202020204" pitchFamily="34" charset="0"/>
                <a:ea typeface="Aptos" panose="020B0004020202020204"/>
                <a:cs typeface="Times New Roman" panose="02020603050405020304" pitchFamily="18" charset="0"/>
              </a:rPr>
              <a:t>Scalability:  Choose a location that allows for future expansion and is near suppliers and logistics partners.</a:t>
            </a:r>
            <a:endParaRPr lang="en-US" sz="3600" kern="100" dirty="0">
              <a:solidFill>
                <a:schemeClr val="bg1"/>
              </a:solidFill>
              <a:effectLst/>
              <a:latin typeface="Abadi" panose="020B0604020202020204" pitchFamily="34" charset="0"/>
              <a:ea typeface="Aptos" panose="020B0004020202020204"/>
              <a:cs typeface="Times New Roman" panose="02020603050405020304" pitchFamily="18" charset="0"/>
            </a:endParaRPr>
          </a:p>
          <a:p>
            <a:endParaRPr lang="en-US" sz="32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solidFill>
                <a:schemeClr val="bg1"/>
              </a:solidFill>
            </a:endParaRPr>
          </a:p>
        </p:txBody>
      </p:sp>
      <p:sp>
        <p:nvSpPr>
          <p:cNvPr id="29" name="Rectangle 28">
            <a:extLst>
              <a:ext uri="{FF2B5EF4-FFF2-40B4-BE49-F238E27FC236}">
                <a16:creationId xmlns:a16="http://schemas.microsoft.com/office/drawing/2014/main" id="{47185441-C7F4-E8F0-8516-710EDB1FAD0B}"/>
              </a:ext>
            </a:extLst>
          </p:cNvPr>
          <p:cNvSpPr/>
          <p:nvPr/>
        </p:nvSpPr>
        <p:spPr>
          <a:xfrm rot="5400000">
            <a:off x="21217967" y="-4324024"/>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30" name="Group 47">
            <a:extLst>
              <a:ext uri="{FF2B5EF4-FFF2-40B4-BE49-F238E27FC236}">
                <a16:creationId xmlns:a16="http://schemas.microsoft.com/office/drawing/2014/main" id="{50D325CB-1A67-6D3E-8C2A-F001C8EBB1FA}"/>
              </a:ext>
            </a:extLst>
          </p:cNvPr>
          <p:cNvGrpSpPr>
            <a:grpSpLocks noChangeAspect="1"/>
          </p:cNvGrpSpPr>
          <p:nvPr/>
        </p:nvGrpSpPr>
        <p:grpSpPr>
          <a:xfrm rot="21571874">
            <a:off x="20887977" y="-7118330"/>
            <a:ext cx="3127859" cy="6189006"/>
            <a:chOff x="0" y="0"/>
            <a:chExt cx="2620010" cy="5184140"/>
          </a:xfrm>
          <a:scene3d>
            <a:camera prst="isometricOffAxis2Left"/>
            <a:lightRig rig="threePt" dir="t"/>
          </a:scene3d>
        </p:grpSpPr>
        <p:sp>
          <p:nvSpPr>
            <p:cNvPr id="31" name="Freeform 48">
              <a:extLst>
                <a:ext uri="{FF2B5EF4-FFF2-40B4-BE49-F238E27FC236}">
                  <a16:creationId xmlns:a16="http://schemas.microsoft.com/office/drawing/2014/main" id="{8978F16D-6460-4072-D2A1-EFE5D81FD1C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2" name="Freeform 49">
              <a:extLst>
                <a:ext uri="{FF2B5EF4-FFF2-40B4-BE49-F238E27FC236}">
                  <a16:creationId xmlns:a16="http://schemas.microsoft.com/office/drawing/2014/main" id="{A2DAB60A-D91A-D8B1-489A-4A4BEEB908BA}"/>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33" name="Freeform 50">
              <a:extLst>
                <a:ext uri="{FF2B5EF4-FFF2-40B4-BE49-F238E27FC236}">
                  <a16:creationId xmlns:a16="http://schemas.microsoft.com/office/drawing/2014/main" id="{1C8B6A41-6B76-F64F-A102-8FA0D346809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4" name="Freeform 51">
              <a:extLst>
                <a:ext uri="{FF2B5EF4-FFF2-40B4-BE49-F238E27FC236}">
                  <a16:creationId xmlns:a16="http://schemas.microsoft.com/office/drawing/2014/main" id="{2B5BB0CE-AE7D-621F-0CFB-BC15812877FA}"/>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5" name="Freeform 52">
              <a:extLst>
                <a:ext uri="{FF2B5EF4-FFF2-40B4-BE49-F238E27FC236}">
                  <a16:creationId xmlns:a16="http://schemas.microsoft.com/office/drawing/2014/main" id="{66EB6EB9-A31D-27F9-4843-FAE8B9F182B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6" name="Freeform 53">
              <a:extLst>
                <a:ext uri="{FF2B5EF4-FFF2-40B4-BE49-F238E27FC236}">
                  <a16:creationId xmlns:a16="http://schemas.microsoft.com/office/drawing/2014/main" id="{896D413D-5B5C-270F-448B-C6E478788CA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7" name="Freeform 54">
              <a:extLst>
                <a:ext uri="{FF2B5EF4-FFF2-40B4-BE49-F238E27FC236}">
                  <a16:creationId xmlns:a16="http://schemas.microsoft.com/office/drawing/2014/main" id="{CD5B6AC9-0605-7E12-5ABD-92A34E9F61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8" name="Freeform 55">
              <a:extLst>
                <a:ext uri="{FF2B5EF4-FFF2-40B4-BE49-F238E27FC236}">
                  <a16:creationId xmlns:a16="http://schemas.microsoft.com/office/drawing/2014/main" id="{DBAB29B0-AB32-5E11-4F5E-80078B2D002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9" name="Freeform 56">
              <a:extLst>
                <a:ext uri="{FF2B5EF4-FFF2-40B4-BE49-F238E27FC236}">
                  <a16:creationId xmlns:a16="http://schemas.microsoft.com/office/drawing/2014/main" id="{A89E335E-C06A-FC71-357A-7B38A8F016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0" name="Rectangle 39">
            <a:extLst>
              <a:ext uri="{FF2B5EF4-FFF2-40B4-BE49-F238E27FC236}">
                <a16:creationId xmlns:a16="http://schemas.microsoft.com/office/drawing/2014/main" id="{AFB45BEB-4E64-BE64-E2A4-33E60F9D1E58}"/>
              </a:ext>
            </a:extLst>
          </p:cNvPr>
          <p:cNvSpPr/>
          <p:nvPr/>
        </p:nvSpPr>
        <p:spPr>
          <a:xfrm rot="5400000">
            <a:off x="21288744" y="-35333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42" name="Group 17">
            <a:extLst>
              <a:ext uri="{FF2B5EF4-FFF2-40B4-BE49-F238E27FC236}">
                <a16:creationId xmlns:a16="http://schemas.microsoft.com/office/drawing/2014/main" id="{DEFC1F56-0B40-088E-891B-6E958089C9A0}"/>
              </a:ext>
            </a:extLst>
          </p:cNvPr>
          <p:cNvGrpSpPr>
            <a:grpSpLocks noChangeAspect="1"/>
          </p:cNvGrpSpPr>
          <p:nvPr/>
        </p:nvGrpSpPr>
        <p:grpSpPr>
          <a:xfrm rot="21571874">
            <a:off x="20528986" y="-6125547"/>
            <a:ext cx="3127859" cy="6189006"/>
            <a:chOff x="0" y="0"/>
            <a:chExt cx="2620010" cy="5184140"/>
          </a:xfrm>
          <a:scene3d>
            <a:camera prst="isometricOffAxis2Left"/>
            <a:lightRig rig="threePt" dir="t"/>
          </a:scene3d>
        </p:grpSpPr>
        <p:sp>
          <p:nvSpPr>
            <p:cNvPr id="45" name="Freeform 18">
              <a:extLst>
                <a:ext uri="{FF2B5EF4-FFF2-40B4-BE49-F238E27FC236}">
                  <a16:creationId xmlns:a16="http://schemas.microsoft.com/office/drawing/2014/main" id="{8ACAF2CD-A533-BF41-2334-BA139C69816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6" name="Freeform 19">
              <a:extLst>
                <a:ext uri="{FF2B5EF4-FFF2-40B4-BE49-F238E27FC236}">
                  <a16:creationId xmlns:a16="http://schemas.microsoft.com/office/drawing/2014/main" id="{6AF92BF5-584A-AB46-7D38-BF5FA3E6735B}"/>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47" name="Freeform 20">
              <a:extLst>
                <a:ext uri="{FF2B5EF4-FFF2-40B4-BE49-F238E27FC236}">
                  <a16:creationId xmlns:a16="http://schemas.microsoft.com/office/drawing/2014/main" id="{F5928960-E08C-CCEE-0984-E54FF389A2A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8" name="Freeform 21">
              <a:extLst>
                <a:ext uri="{FF2B5EF4-FFF2-40B4-BE49-F238E27FC236}">
                  <a16:creationId xmlns:a16="http://schemas.microsoft.com/office/drawing/2014/main" id="{B2F38276-A93C-7DD0-5768-B0DA92D850C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9" name="Freeform 22">
              <a:extLst>
                <a:ext uri="{FF2B5EF4-FFF2-40B4-BE49-F238E27FC236}">
                  <a16:creationId xmlns:a16="http://schemas.microsoft.com/office/drawing/2014/main" id="{7D99DFD3-C71F-C4B2-32B8-3CD58C21DAD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0" name="Freeform 23">
              <a:extLst>
                <a:ext uri="{FF2B5EF4-FFF2-40B4-BE49-F238E27FC236}">
                  <a16:creationId xmlns:a16="http://schemas.microsoft.com/office/drawing/2014/main" id="{AF0E37C7-8106-0715-5A2B-E486E83E7B9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1" name="Freeform 24">
              <a:extLst>
                <a:ext uri="{FF2B5EF4-FFF2-40B4-BE49-F238E27FC236}">
                  <a16:creationId xmlns:a16="http://schemas.microsoft.com/office/drawing/2014/main" id="{FADE0DA4-5D82-75DD-0201-C6BCE08CF48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2" name="Freeform 25">
              <a:extLst>
                <a:ext uri="{FF2B5EF4-FFF2-40B4-BE49-F238E27FC236}">
                  <a16:creationId xmlns:a16="http://schemas.microsoft.com/office/drawing/2014/main" id="{45D504F6-9263-31B5-A516-6F185992DCF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3" name="Freeform 26">
              <a:extLst>
                <a:ext uri="{FF2B5EF4-FFF2-40B4-BE49-F238E27FC236}">
                  <a16:creationId xmlns:a16="http://schemas.microsoft.com/office/drawing/2014/main" id="{C98755F1-C5A3-03B6-1C4A-CA74D23BDE9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4" name="Rectangle 53">
            <a:extLst>
              <a:ext uri="{FF2B5EF4-FFF2-40B4-BE49-F238E27FC236}">
                <a16:creationId xmlns:a16="http://schemas.microsoft.com/office/drawing/2014/main" id="{A4E63B28-FA5A-83C4-1E7A-7A5994F1B459}"/>
              </a:ext>
            </a:extLst>
          </p:cNvPr>
          <p:cNvSpPr/>
          <p:nvPr/>
        </p:nvSpPr>
        <p:spPr>
          <a:xfrm rot="5400000">
            <a:off x="20831544" y="-25427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55" name="Group 27">
            <a:extLst>
              <a:ext uri="{FF2B5EF4-FFF2-40B4-BE49-F238E27FC236}">
                <a16:creationId xmlns:a16="http://schemas.microsoft.com/office/drawing/2014/main" id="{7475511F-3E82-48D4-6A8C-06D97165A13C}"/>
              </a:ext>
            </a:extLst>
          </p:cNvPr>
          <p:cNvGrpSpPr>
            <a:grpSpLocks noChangeAspect="1"/>
          </p:cNvGrpSpPr>
          <p:nvPr/>
        </p:nvGrpSpPr>
        <p:grpSpPr>
          <a:xfrm rot="21571874">
            <a:off x="20125977" y="-5153435"/>
            <a:ext cx="3127859" cy="6189006"/>
            <a:chOff x="0" y="0"/>
            <a:chExt cx="2620010" cy="5184140"/>
          </a:xfrm>
          <a:scene3d>
            <a:camera prst="isometricOffAxis2Left"/>
            <a:lightRig rig="threePt" dir="t"/>
          </a:scene3d>
        </p:grpSpPr>
        <p:sp>
          <p:nvSpPr>
            <p:cNvPr id="56" name="Freeform 28">
              <a:extLst>
                <a:ext uri="{FF2B5EF4-FFF2-40B4-BE49-F238E27FC236}">
                  <a16:creationId xmlns:a16="http://schemas.microsoft.com/office/drawing/2014/main" id="{175CAFAB-CAE1-96DD-ACA3-824B55FC962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7" name="Freeform 29">
              <a:extLst>
                <a:ext uri="{FF2B5EF4-FFF2-40B4-BE49-F238E27FC236}">
                  <a16:creationId xmlns:a16="http://schemas.microsoft.com/office/drawing/2014/main" id="{800B54CD-77F5-EA57-1048-E3FC4DFC83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dirty="0"/>
            </a:p>
          </p:txBody>
        </p:sp>
        <p:sp>
          <p:nvSpPr>
            <p:cNvPr id="58" name="Freeform 30">
              <a:extLst>
                <a:ext uri="{FF2B5EF4-FFF2-40B4-BE49-F238E27FC236}">
                  <a16:creationId xmlns:a16="http://schemas.microsoft.com/office/drawing/2014/main" id="{89F5A82E-1182-F372-3513-82599863A1D2}"/>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9" name="Freeform 31">
              <a:extLst>
                <a:ext uri="{FF2B5EF4-FFF2-40B4-BE49-F238E27FC236}">
                  <a16:creationId xmlns:a16="http://schemas.microsoft.com/office/drawing/2014/main" id="{8A1F80DE-9F1D-D689-DF7B-440A3C93CA6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0" name="Freeform 32">
              <a:extLst>
                <a:ext uri="{FF2B5EF4-FFF2-40B4-BE49-F238E27FC236}">
                  <a16:creationId xmlns:a16="http://schemas.microsoft.com/office/drawing/2014/main" id="{73624F34-DBE5-8197-999B-D37F722981A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1" name="Freeform 33">
              <a:extLst>
                <a:ext uri="{FF2B5EF4-FFF2-40B4-BE49-F238E27FC236}">
                  <a16:creationId xmlns:a16="http://schemas.microsoft.com/office/drawing/2014/main" id="{90BDAFCC-CAEA-EFF2-5889-345902B3ADE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2" name="Freeform 34">
              <a:extLst>
                <a:ext uri="{FF2B5EF4-FFF2-40B4-BE49-F238E27FC236}">
                  <a16:creationId xmlns:a16="http://schemas.microsoft.com/office/drawing/2014/main" id="{20432542-78B7-15C7-96E2-226115C3BB5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3" name="Freeform 35">
              <a:extLst>
                <a:ext uri="{FF2B5EF4-FFF2-40B4-BE49-F238E27FC236}">
                  <a16:creationId xmlns:a16="http://schemas.microsoft.com/office/drawing/2014/main" id="{70C96ABA-31F4-95C1-BBB0-BF3A46F9246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4" name="Freeform 36">
              <a:extLst>
                <a:ext uri="{FF2B5EF4-FFF2-40B4-BE49-F238E27FC236}">
                  <a16:creationId xmlns:a16="http://schemas.microsoft.com/office/drawing/2014/main" id="{38A9696D-C8E9-4509-CAE8-D26C0707195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5" name="Rectangle 64">
            <a:extLst>
              <a:ext uri="{FF2B5EF4-FFF2-40B4-BE49-F238E27FC236}">
                <a16:creationId xmlns:a16="http://schemas.microsoft.com/office/drawing/2014/main" id="{F4CB86CB-19B8-53D5-E3B8-67ABC8BA5FDA}"/>
              </a:ext>
            </a:extLst>
          </p:cNvPr>
          <p:cNvSpPr/>
          <p:nvPr/>
        </p:nvSpPr>
        <p:spPr>
          <a:xfrm rot="5400000">
            <a:off x="20374344" y="-166244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66" name="Group 37">
            <a:extLst>
              <a:ext uri="{FF2B5EF4-FFF2-40B4-BE49-F238E27FC236}">
                <a16:creationId xmlns:a16="http://schemas.microsoft.com/office/drawing/2014/main" id="{319A9EDA-EEB9-812B-3B18-9E332D5CC081}"/>
              </a:ext>
            </a:extLst>
          </p:cNvPr>
          <p:cNvGrpSpPr>
            <a:grpSpLocks noChangeAspect="1"/>
          </p:cNvGrpSpPr>
          <p:nvPr/>
        </p:nvGrpSpPr>
        <p:grpSpPr>
          <a:xfrm rot="21571874">
            <a:off x="19614586" y="-4199403"/>
            <a:ext cx="3127859" cy="6189006"/>
            <a:chOff x="0" y="0"/>
            <a:chExt cx="2620010" cy="5184140"/>
          </a:xfrm>
          <a:scene3d>
            <a:camera prst="isometricOffAxis2Left"/>
            <a:lightRig rig="threePt" dir="t"/>
          </a:scene3d>
        </p:grpSpPr>
        <p:sp>
          <p:nvSpPr>
            <p:cNvPr id="67" name="Freeform 38">
              <a:extLst>
                <a:ext uri="{FF2B5EF4-FFF2-40B4-BE49-F238E27FC236}">
                  <a16:creationId xmlns:a16="http://schemas.microsoft.com/office/drawing/2014/main" id="{24CE4206-54F8-A9D6-4E97-3BF6BC8D8B1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8" name="Freeform 39">
              <a:extLst>
                <a:ext uri="{FF2B5EF4-FFF2-40B4-BE49-F238E27FC236}">
                  <a16:creationId xmlns:a16="http://schemas.microsoft.com/office/drawing/2014/main" id="{9F35793B-A362-019C-5BC3-19FA682D50A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a:p>
          </p:txBody>
        </p:sp>
        <p:sp>
          <p:nvSpPr>
            <p:cNvPr id="69" name="Freeform 40">
              <a:extLst>
                <a:ext uri="{FF2B5EF4-FFF2-40B4-BE49-F238E27FC236}">
                  <a16:creationId xmlns:a16="http://schemas.microsoft.com/office/drawing/2014/main" id="{F15CE4EE-244E-3FDE-906D-767B1AEAFE6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0" name="Freeform 41">
              <a:extLst>
                <a:ext uri="{FF2B5EF4-FFF2-40B4-BE49-F238E27FC236}">
                  <a16:creationId xmlns:a16="http://schemas.microsoft.com/office/drawing/2014/main" id="{6D5A7AFA-DFAE-C76A-53AB-C7160806960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1" name="Freeform 42">
              <a:extLst>
                <a:ext uri="{FF2B5EF4-FFF2-40B4-BE49-F238E27FC236}">
                  <a16:creationId xmlns:a16="http://schemas.microsoft.com/office/drawing/2014/main" id="{643CD0E0-3435-98E4-36A4-2CC343A069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2" name="Freeform 43">
              <a:extLst>
                <a:ext uri="{FF2B5EF4-FFF2-40B4-BE49-F238E27FC236}">
                  <a16:creationId xmlns:a16="http://schemas.microsoft.com/office/drawing/2014/main" id="{369C1EB4-DE13-F85E-5BD6-946369EBD3A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3" name="Freeform 44">
              <a:extLst>
                <a:ext uri="{FF2B5EF4-FFF2-40B4-BE49-F238E27FC236}">
                  <a16:creationId xmlns:a16="http://schemas.microsoft.com/office/drawing/2014/main" id="{D3B07586-5DE5-C8B2-197D-AB7E41465ABC}"/>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4" name="Freeform 45">
              <a:extLst>
                <a:ext uri="{FF2B5EF4-FFF2-40B4-BE49-F238E27FC236}">
                  <a16:creationId xmlns:a16="http://schemas.microsoft.com/office/drawing/2014/main" id="{4D44B4DC-C408-9AF4-3EBB-27C17770C2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5" name="Freeform 46">
              <a:extLst>
                <a:ext uri="{FF2B5EF4-FFF2-40B4-BE49-F238E27FC236}">
                  <a16:creationId xmlns:a16="http://schemas.microsoft.com/office/drawing/2014/main" id="{03999C68-6A8D-C20C-1A19-70FBA7B26CC5}"/>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90616353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3800" b="1" dirty="0">
                <a:solidFill>
                  <a:schemeClr val="bg1"/>
                </a:solidFill>
                <a:latin typeface="Poppins"/>
                <a:ea typeface="Poppins"/>
                <a:cs typeface="Poppins"/>
                <a:sym typeface="Poppins"/>
              </a:rPr>
              <a:t>Marketing </a:t>
            </a:r>
            <a:r>
              <a:rPr lang="en-US" sz="13800" b="1" dirty="0">
                <a:solidFill>
                  <a:srgbClr val="FF0000"/>
                </a:solidFill>
                <a:latin typeface="Poppins"/>
                <a:ea typeface="Poppins"/>
                <a:cs typeface="Poppins"/>
                <a:sym typeface="Poppins"/>
              </a:rPr>
              <a:t>Plan</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3099650545"/>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59274"/>
            <a:ext cx="18288000" cy="11070173"/>
          </a:xfrm>
          <a:prstGeom prst="rect">
            <a:avLst/>
          </a:prstGeom>
          <a:gradFill flip="none" rotWithShape="1">
            <a:gsLst>
              <a:gs pos="22000">
                <a:schemeClr val="tx1"/>
              </a:gs>
              <a:gs pos="96000">
                <a:schemeClr val="bg1">
                  <a:lumMod val="65000"/>
                  <a:alpha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1219200" y="723900"/>
            <a:ext cx="6705600"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Marketing Plan in </a:t>
            </a:r>
            <a:r>
              <a:rPr lang="en-US" sz="4560" dirty="0">
                <a:solidFill>
                  <a:srgbClr val="FF0000"/>
                </a:solidFill>
                <a:latin typeface="Poppins Bold"/>
                <a:ea typeface="Poppins Bold"/>
                <a:cs typeface="Poppins Bold"/>
                <a:sym typeface="Poppins Bold"/>
              </a:rPr>
              <a:t>SAFE LINK</a:t>
            </a:r>
          </a:p>
        </p:txBody>
      </p:sp>
      <p:sp>
        <p:nvSpPr>
          <p:cNvPr id="44" name="Rectangle 43">
            <a:extLst>
              <a:ext uri="{FF2B5EF4-FFF2-40B4-BE49-F238E27FC236}">
                <a16:creationId xmlns:a16="http://schemas.microsoft.com/office/drawing/2014/main" id="{7A70A5ED-1BB4-710D-D4A9-602BAF2C13FE}"/>
              </a:ext>
            </a:extLst>
          </p:cNvPr>
          <p:cNvSpPr/>
          <p:nvPr/>
        </p:nvSpPr>
        <p:spPr>
          <a:xfrm>
            <a:off x="1234440" y="21259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5296-E26E-0C53-A26E-EBD6546BDFF2}"/>
              </a:ext>
            </a:extLst>
          </p:cNvPr>
          <p:cNvSpPr txBox="1"/>
          <p:nvPr/>
        </p:nvSpPr>
        <p:spPr>
          <a:xfrm>
            <a:off x="1219200" y="2797136"/>
            <a:ext cx="12725400" cy="1938992"/>
          </a:xfrm>
          <a:prstGeom prst="rect">
            <a:avLst/>
          </a:prstGeom>
          <a:noFill/>
        </p:spPr>
        <p:txBody>
          <a:bodyPr wrap="square" rtlCol="0">
            <a:spAutoFit/>
          </a:bodyPr>
          <a:lstStyle/>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4800" b="1" dirty="0">
              <a:solidFill>
                <a:schemeClr val="bg1"/>
              </a:solidFill>
            </a:endParaRPr>
          </a:p>
        </p:txBody>
      </p:sp>
      <p:sp>
        <p:nvSpPr>
          <p:cNvPr id="6" name="TextBox 5">
            <a:extLst>
              <a:ext uri="{FF2B5EF4-FFF2-40B4-BE49-F238E27FC236}">
                <a16:creationId xmlns:a16="http://schemas.microsoft.com/office/drawing/2014/main" id="{D52AEE55-17E5-8182-6615-F53F898D3D9C}"/>
              </a:ext>
            </a:extLst>
          </p:cNvPr>
          <p:cNvSpPr txBox="1"/>
          <p:nvPr/>
        </p:nvSpPr>
        <p:spPr>
          <a:xfrm>
            <a:off x="1447800" y="2552700"/>
            <a:ext cx="12877800" cy="12520351"/>
          </a:xfrm>
          <a:prstGeom prst="rect">
            <a:avLst/>
          </a:prstGeom>
          <a:noFill/>
        </p:spPr>
        <p:txBody>
          <a:bodyPr wrap="square" rtlCol="0">
            <a:spAutoFit/>
          </a:bodyPr>
          <a:lstStyle/>
          <a:p>
            <a:r>
              <a:rPr lang="en-US" sz="4800" b="1" dirty="0">
                <a:solidFill>
                  <a:srgbClr val="FFC000"/>
                </a:solidFill>
              </a:rPr>
              <a:t>Digital Marketing</a:t>
            </a:r>
          </a:p>
          <a:p>
            <a:pPr marL="0" marR="0">
              <a:lnSpc>
                <a:spcPct val="115000"/>
              </a:lnSpc>
              <a:spcBef>
                <a:spcPts val="0"/>
              </a:spcBef>
              <a:spcAft>
                <a:spcPts val="1000"/>
              </a:spcAft>
            </a:pPr>
            <a:r>
              <a:rPr lang="en-US" sz="3200" b="1"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rPr>
              <a:t>Social Media Marketing:</a:t>
            </a:r>
            <a:endParaRPr lang="en-US" sz="3200"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32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 Focus on Facebook, Instagram, LinkedIn, and Twitter to reach diverse customer segments.</a:t>
            </a: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32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 Share engaging content, including safety tips, user testimonials, product demonstrations, and behind-the-scenes looks at development.</a:t>
            </a:r>
          </a:p>
          <a:p>
            <a:pPr marL="0" marR="0">
              <a:lnSpc>
                <a:spcPct val="115000"/>
              </a:lnSpc>
              <a:spcBef>
                <a:spcPts val="0"/>
              </a:spcBef>
              <a:spcAft>
                <a:spcPts val="1000"/>
              </a:spcAft>
            </a:pPr>
            <a:r>
              <a:rPr lang="en-US" sz="3200" b="1"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rPr>
              <a:t>Content Marketing:</a:t>
            </a:r>
            <a:endParaRPr lang="en-US" sz="3200"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32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Regularly publish informative and educational blog posts on safety, emergency preparedness, and how SAFE LINK enhances personal security.</a:t>
            </a: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32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Create tutorial videos, product demos, and user testimonials to share on YouTube and social media platforms.</a:t>
            </a: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solidFill>
                <a:schemeClr val="bg1"/>
              </a:solidFill>
            </a:endParaRPr>
          </a:p>
        </p:txBody>
      </p:sp>
      <p:sp>
        <p:nvSpPr>
          <p:cNvPr id="29" name="Rectangle 28">
            <a:extLst>
              <a:ext uri="{FF2B5EF4-FFF2-40B4-BE49-F238E27FC236}">
                <a16:creationId xmlns:a16="http://schemas.microsoft.com/office/drawing/2014/main" id="{47185441-C7F4-E8F0-8516-710EDB1FAD0B}"/>
              </a:ext>
            </a:extLst>
          </p:cNvPr>
          <p:cNvSpPr/>
          <p:nvPr/>
        </p:nvSpPr>
        <p:spPr>
          <a:xfrm rot="5400000">
            <a:off x="21217967" y="-4324024"/>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30" name="Group 47">
            <a:extLst>
              <a:ext uri="{FF2B5EF4-FFF2-40B4-BE49-F238E27FC236}">
                <a16:creationId xmlns:a16="http://schemas.microsoft.com/office/drawing/2014/main" id="{50D325CB-1A67-6D3E-8C2A-F001C8EBB1FA}"/>
              </a:ext>
            </a:extLst>
          </p:cNvPr>
          <p:cNvGrpSpPr>
            <a:grpSpLocks noChangeAspect="1"/>
          </p:cNvGrpSpPr>
          <p:nvPr/>
        </p:nvGrpSpPr>
        <p:grpSpPr>
          <a:xfrm rot="21571874">
            <a:off x="20887977" y="-7118330"/>
            <a:ext cx="3127859" cy="6189006"/>
            <a:chOff x="0" y="0"/>
            <a:chExt cx="2620010" cy="5184140"/>
          </a:xfrm>
          <a:scene3d>
            <a:camera prst="isometricOffAxis2Left"/>
            <a:lightRig rig="threePt" dir="t"/>
          </a:scene3d>
        </p:grpSpPr>
        <p:sp>
          <p:nvSpPr>
            <p:cNvPr id="31" name="Freeform 48">
              <a:extLst>
                <a:ext uri="{FF2B5EF4-FFF2-40B4-BE49-F238E27FC236}">
                  <a16:creationId xmlns:a16="http://schemas.microsoft.com/office/drawing/2014/main" id="{8978F16D-6460-4072-D2A1-EFE5D81FD1C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2" name="Freeform 49">
              <a:extLst>
                <a:ext uri="{FF2B5EF4-FFF2-40B4-BE49-F238E27FC236}">
                  <a16:creationId xmlns:a16="http://schemas.microsoft.com/office/drawing/2014/main" id="{A2DAB60A-D91A-D8B1-489A-4A4BEEB908BA}"/>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33" name="Freeform 50">
              <a:extLst>
                <a:ext uri="{FF2B5EF4-FFF2-40B4-BE49-F238E27FC236}">
                  <a16:creationId xmlns:a16="http://schemas.microsoft.com/office/drawing/2014/main" id="{1C8B6A41-6B76-F64F-A102-8FA0D346809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4" name="Freeform 51">
              <a:extLst>
                <a:ext uri="{FF2B5EF4-FFF2-40B4-BE49-F238E27FC236}">
                  <a16:creationId xmlns:a16="http://schemas.microsoft.com/office/drawing/2014/main" id="{2B5BB0CE-AE7D-621F-0CFB-BC15812877FA}"/>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5" name="Freeform 52">
              <a:extLst>
                <a:ext uri="{FF2B5EF4-FFF2-40B4-BE49-F238E27FC236}">
                  <a16:creationId xmlns:a16="http://schemas.microsoft.com/office/drawing/2014/main" id="{66EB6EB9-A31D-27F9-4843-FAE8B9F182B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6" name="Freeform 53">
              <a:extLst>
                <a:ext uri="{FF2B5EF4-FFF2-40B4-BE49-F238E27FC236}">
                  <a16:creationId xmlns:a16="http://schemas.microsoft.com/office/drawing/2014/main" id="{896D413D-5B5C-270F-448B-C6E478788CA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7" name="Freeform 54">
              <a:extLst>
                <a:ext uri="{FF2B5EF4-FFF2-40B4-BE49-F238E27FC236}">
                  <a16:creationId xmlns:a16="http://schemas.microsoft.com/office/drawing/2014/main" id="{CD5B6AC9-0605-7E12-5ABD-92A34E9F61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8" name="Freeform 55">
              <a:extLst>
                <a:ext uri="{FF2B5EF4-FFF2-40B4-BE49-F238E27FC236}">
                  <a16:creationId xmlns:a16="http://schemas.microsoft.com/office/drawing/2014/main" id="{DBAB29B0-AB32-5E11-4F5E-80078B2D002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9" name="Freeform 56">
              <a:extLst>
                <a:ext uri="{FF2B5EF4-FFF2-40B4-BE49-F238E27FC236}">
                  <a16:creationId xmlns:a16="http://schemas.microsoft.com/office/drawing/2014/main" id="{A89E335E-C06A-FC71-357A-7B38A8F016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0" name="Rectangle 39">
            <a:extLst>
              <a:ext uri="{FF2B5EF4-FFF2-40B4-BE49-F238E27FC236}">
                <a16:creationId xmlns:a16="http://schemas.microsoft.com/office/drawing/2014/main" id="{AFB45BEB-4E64-BE64-E2A4-33E60F9D1E58}"/>
              </a:ext>
            </a:extLst>
          </p:cNvPr>
          <p:cNvSpPr/>
          <p:nvPr/>
        </p:nvSpPr>
        <p:spPr>
          <a:xfrm rot="5400000">
            <a:off x="21288744" y="-35333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42" name="Group 17">
            <a:extLst>
              <a:ext uri="{FF2B5EF4-FFF2-40B4-BE49-F238E27FC236}">
                <a16:creationId xmlns:a16="http://schemas.microsoft.com/office/drawing/2014/main" id="{DEFC1F56-0B40-088E-891B-6E958089C9A0}"/>
              </a:ext>
            </a:extLst>
          </p:cNvPr>
          <p:cNvGrpSpPr>
            <a:grpSpLocks noChangeAspect="1"/>
          </p:cNvGrpSpPr>
          <p:nvPr/>
        </p:nvGrpSpPr>
        <p:grpSpPr>
          <a:xfrm rot="21571874">
            <a:off x="20528986" y="-6125547"/>
            <a:ext cx="3127859" cy="6189006"/>
            <a:chOff x="0" y="0"/>
            <a:chExt cx="2620010" cy="5184140"/>
          </a:xfrm>
          <a:scene3d>
            <a:camera prst="isometricOffAxis2Left"/>
            <a:lightRig rig="threePt" dir="t"/>
          </a:scene3d>
        </p:grpSpPr>
        <p:sp>
          <p:nvSpPr>
            <p:cNvPr id="45" name="Freeform 18">
              <a:extLst>
                <a:ext uri="{FF2B5EF4-FFF2-40B4-BE49-F238E27FC236}">
                  <a16:creationId xmlns:a16="http://schemas.microsoft.com/office/drawing/2014/main" id="{8ACAF2CD-A533-BF41-2334-BA139C69816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6" name="Freeform 19">
              <a:extLst>
                <a:ext uri="{FF2B5EF4-FFF2-40B4-BE49-F238E27FC236}">
                  <a16:creationId xmlns:a16="http://schemas.microsoft.com/office/drawing/2014/main" id="{6AF92BF5-584A-AB46-7D38-BF5FA3E6735B}"/>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47" name="Freeform 20">
              <a:extLst>
                <a:ext uri="{FF2B5EF4-FFF2-40B4-BE49-F238E27FC236}">
                  <a16:creationId xmlns:a16="http://schemas.microsoft.com/office/drawing/2014/main" id="{F5928960-E08C-CCEE-0984-E54FF389A2A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8" name="Freeform 21">
              <a:extLst>
                <a:ext uri="{FF2B5EF4-FFF2-40B4-BE49-F238E27FC236}">
                  <a16:creationId xmlns:a16="http://schemas.microsoft.com/office/drawing/2014/main" id="{B2F38276-A93C-7DD0-5768-B0DA92D850C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9" name="Freeform 22">
              <a:extLst>
                <a:ext uri="{FF2B5EF4-FFF2-40B4-BE49-F238E27FC236}">
                  <a16:creationId xmlns:a16="http://schemas.microsoft.com/office/drawing/2014/main" id="{7D99DFD3-C71F-C4B2-32B8-3CD58C21DAD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0" name="Freeform 23">
              <a:extLst>
                <a:ext uri="{FF2B5EF4-FFF2-40B4-BE49-F238E27FC236}">
                  <a16:creationId xmlns:a16="http://schemas.microsoft.com/office/drawing/2014/main" id="{AF0E37C7-8106-0715-5A2B-E486E83E7B9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1" name="Freeform 24">
              <a:extLst>
                <a:ext uri="{FF2B5EF4-FFF2-40B4-BE49-F238E27FC236}">
                  <a16:creationId xmlns:a16="http://schemas.microsoft.com/office/drawing/2014/main" id="{FADE0DA4-5D82-75DD-0201-C6BCE08CF48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2" name="Freeform 25">
              <a:extLst>
                <a:ext uri="{FF2B5EF4-FFF2-40B4-BE49-F238E27FC236}">
                  <a16:creationId xmlns:a16="http://schemas.microsoft.com/office/drawing/2014/main" id="{45D504F6-9263-31B5-A516-6F185992DCF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3" name="Freeform 26">
              <a:extLst>
                <a:ext uri="{FF2B5EF4-FFF2-40B4-BE49-F238E27FC236}">
                  <a16:creationId xmlns:a16="http://schemas.microsoft.com/office/drawing/2014/main" id="{C98755F1-C5A3-03B6-1C4A-CA74D23BDE9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4" name="Rectangle 53">
            <a:extLst>
              <a:ext uri="{FF2B5EF4-FFF2-40B4-BE49-F238E27FC236}">
                <a16:creationId xmlns:a16="http://schemas.microsoft.com/office/drawing/2014/main" id="{A4E63B28-FA5A-83C4-1E7A-7A5994F1B459}"/>
              </a:ext>
            </a:extLst>
          </p:cNvPr>
          <p:cNvSpPr/>
          <p:nvPr/>
        </p:nvSpPr>
        <p:spPr>
          <a:xfrm rot="5400000">
            <a:off x="20831544" y="-25427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55" name="Group 27">
            <a:extLst>
              <a:ext uri="{FF2B5EF4-FFF2-40B4-BE49-F238E27FC236}">
                <a16:creationId xmlns:a16="http://schemas.microsoft.com/office/drawing/2014/main" id="{7475511F-3E82-48D4-6A8C-06D97165A13C}"/>
              </a:ext>
            </a:extLst>
          </p:cNvPr>
          <p:cNvGrpSpPr>
            <a:grpSpLocks noChangeAspect="1"/>
          </p:cNvGrpSpPr>
          <p:nvPr/>
        </p:nvGrpSpPr>
        <p:grpSpPr>
          <a:xfrm rot="21571874">
            <a:off x="20125977" y="-5153435"/>
            <a:ext cx="3127859" cy="6189006"/>
            <a:chOff x="0" y="0"/>
            <a:chExt cx="2620010" cy="5184140"/>
          </a:xfrm>
          <a:scene3d>
            <a:camera prst="isometricOffAxis2Left"/>
            <a:lightRig rig="threePt" dir="t"/>
          </a:scene3d>
        </p:grpSpPr>
        <p:sp>
          <p:nvSpPr>
            <p:cNvPr id="56" name="Freeform 28">
              <a:extLst>
                <a:ext uri="{FF2B5EF4-FFF2-40B4-BE49-F238E27FC236}">
                  <a16:creationId xmlns:a16="http://schemas.microsoft.com/office/drawing/2014/main" id="{175CAFAB-CAE1-96DD-ACA3-824B55FC962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7" name="Freeform 29">
              <a:extLst>
                <a:ext uri="{FF2B5EF4-FFF2-40B4-BE49-F238E27FC236}">
                  <a16:creationId xmlns:a16="http://schemas.microsoft.com/office/drawing/2014/main" id="{800B54CD-77F5-EA57-1048-E3FC4DFC83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dirty="0"/>
            </a:p>
          </p:txBody>
        </p:sp>
        <p:sp>
          <p:nvSpPr>
            <p:cNvPr id="58" name="Freeform 30">
              <a:extLst>
                <a:ext uri="{FF2B5EF4-FFF2-40B4-BE49-F238E27FC236}">
                  <a16:creationId xmlns:a16="http://schemas.microsoft.com/office/drawing/2014/main" id="{89F5A82E-1182-F372-3513-82599863A1D2}"/>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9" name="Freeform 31">
              <a:extLst>
                <a:ext uri="{FF2B5EF4-FFF2-40B4-BE49-F238E27FC236}">
                  <a16:creationId xmlns:a16="http://schemas.microsoft.com/office/drawing/2014/main" id="{8A1F80DE-9F1D-D689-DF7B-440A3C93CA6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0" name="Freeform 32">
              <a:extLst>
                <a:ext uri="{FF2B5EF4-FFF2-40B4-BE49-F238E27FC236}">
                  <a16:creationId xmlns:a16="http://schemas.microsoft.com/office/drawing/2014/main" id="{73624F34-DBE5-8197-999B-D37F722981A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1" name="Freeform 33">
              <a:extLst>
                <a:ext uri="{FF2B5EF4-FFF2-40B4-BE49-F238E27FC236}">
                  <a16:creationId xmlns:a16="http://schemas.microsoft.com/office/drawing/2014/main" id="{90BDAFCC-CAEA-EFF2-5889-345902B3ADE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2" name="Freeform 34">
              <a:extLst>
                <a:ext uri="{FF2B5EF4-FFF2-40B4-BE49-F238E27FC236}">
                  <a16:creationId xmlns:a16="http://schemas.microsoft.com/office/drawing/2014/main" id="{20432542-78B7-15C7-96E2-226115C3BB5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3" name="Freeform 35">
              <a:extLst>
                <a:ext uri="{FF2B5EF4-FFF2-40B4-BE49-F238E27FC236}">
                  <a16:creationId xmlns:a16="http://schemas.microsoft.com/office/drawing/2014/main" id="{70C96ABA-31F4-95C1-BBB0-BF3A46F9246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4" name="Freeform 36">
              <a:extLst>
                <a:ext uri="{FF2B5EF4-FFF2-40B4-BE49-F238E27FC236}">
                  <a16:creationId xmlns:a16="http://schemas.microsoft.com/office/drawing/2014/main" id="{38A9696D-C8E9-4509-CAE8-D26C0707195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5" name="Rectangle 64">
            <a:extLst>
              <a:ext uri="{FF2B5EF4-FFF2-40B4-BE49-F238E27FC236}">
                <a16:creationId xmlns:a16="http://schemas.microsoft.com/office/drawing/2014/main" id="{F4CB86CB-19B8-53D5-E3B8-67ABC8BA5FDA}"/>
              </a:ext>
            </a:extLst>
          </p:cNvPr>
          <p:cNvSpPr/>
          <p:nvPr/>
        </p:nvSpPr>
        <p:spPr>
          <a:xfrm rot="5400000">
            <a:off x="20374344" y="-166244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66" name="Group 37">
            <a:extLst>
              <a:ext uri="{FF2B5EF4-FFF2-40B4-BE49-F238E27FC236}">
                <a16:creationId xmlns:a16="http://schemas.microsoft.com/office/drawing/2014/main" id="{319A9EDA-EEB9-812B-3B18-9E332D5CC081}"/>
              </a:ext>
            </a:extLst>
          </p:cNvPr>
          <p:cNvGrpSpPr>
            <a:grpSpLocks noChangeAspect="1"/>
          </p:cNvGrpSpPr>
          <p:nvPr/>
        </p:nvGrpSpPr>
        <p:grpSpPr>
          <a:xfrm rot="21571874">
            <a:off x="19614586" y="-4199403"/>
            <a:ext cx="3127859" cy="6189006"/>
            <a:chOff x="0" y="0"/>
            <a:chExt cx="2620010" cy="5184140"/>
          </a:xfrm>
          <a:scene3d>
            <a:camera prst="isometricOffAxis2Left"/>
            <a:lightRig rig="threePt" dir="t"/>
          </a:scene3d>
        </p:grpSpPr>
        <p:sp>
          <p:nvSpPr>
            <p:cNvPr id="67" name="Freeform 38">
              <a:extLst>
                <a:ext uri="{FF2B5EF4-FFF2-40B4-BE49-F238E27FC236}">
                  <a16:creationId xmlns:a16="http://schemas.microsoft.com/office/drawing/2014/main" id="{24CE4206-54F8-A9D6-4E97-3BF6BC8D8B1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8" name="Freeform 39">
              <a:extLst>
                <a:ext uri="{FF2B5EF4-FFF2-40B4-BE49-F238E27FC236}">
                  <a16:creationId xmlns:a16="http://schemas.microsoft.com/office/drawing/2014/main" id="{9F35793B-A362-019C-5BC3-19FA682D50A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a:p>
          </p:txBody>
        </p:sp>
        <p:sp>
          <p:nvSpPr>
            <p:cNvPr id="69" name="Freeform 40">
              <a:extLst>
                <a:ext uri="{FF2B5EF4-FFF2-40B4-BE49-F238E27FC236}">
                  <a16:creationId xmlns:a16="http://schemas.microsoft.com/office/drawing/2014/main" id="{F15CE4EE-244E-3FDE-906D-767B1AEAFE6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0" name="Freeform 41">
              <a:extLst>
                <a:ext uri="{FF2B5EF4-FFF2-40B4-BE49-F238E27FC236}">
                  <a16:creationId xmlns:a16="http://schemas.microsoft.com/office/drawing/2014/main" id="{6D5A7AFA-DFAE-C76A-53AB-C7160806960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1" name="Freeform 42">
              <a:extLst>
                <a:ext uri="{FF2B5EF4-FFF2-40B4-BE49-F238E27FC236}">
                  <a16:creationId xmlns:a16="http://schemas.microsoft.com/office/drawing/2014/main" id="{643CD0E0-3435-98E4-36A4-2CC343A069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2" name="Freeform 43">
              <a:extLst>
                <a:ext uri="{FF2B5EF4-FFF2-40B4-BE49-F238E27FC236}">
                  <a16:creationId xmlns:a16="http://schemas.microsoft.com/office/drawing/2014/main" id="{369C1EB4-DE13-F85E-5BD6-946369EBD3A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3" name="Freeform 44">
              <a:extLst>
                <a:ext uri="{FF2B5EF4-FFF2-40B4-BE49-F238E27FC236}">
                  <a16:creationId xmlns:a16="http://schemas.microsoft.com/office/drawing/2014/main" id="{D3B07586-5DE5-C8B2-197D-AB7E41465ABC}"/>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4" name="Freeform 45">
              <a:extLst>
                <a:ext uri="{FF2B5EF4-FFF2-40B4-BE49-F238E27FC236}">
                  <a16:creationId xmlns:a16="http://schemas.microsoft.com/office/drawing/2014/main" id="{4D44B4DC-C408-9AF4-3EBB-27C17770C2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5" name="Freeform 46">
              <a:extLst>
                <a:ext uri="{FF2B5EF4-FFF2-40B4-BE49-F238E27FC236}">
                  <a16:creationId xmlns:a16="http://schemas.microsoft.com/office/drawing/2014/main" id="{03999C68-6A8D-C20C-1A19-70FBA7B26CC5}"/>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367381856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0" y="-59274"/>
            <a:ext cx="18288000" cy="11070173"/>
          </a:xfrm>
          <a:prstGeom prst="rect">
            <a:avLst/>
          </a:prstGeom>
          <a:gradFill flip="none" rotWithShape="1">
            <a:gsLst>
              <a:gs pos="22000">
                <a:schemeClr val="tx1"/>
              </a:gs>
              <a:gs pos="96000">
                <a:schemeClr val="bg1">
                  <a:lumMod val="65000"/>
                  <a:alpha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1219200" y="723900"/>
            <a:ext cx="6705600" cy="1359346"/>
          </a:xfrm>
          <a:prstGeom prst="rect">
            <a:avLst/>
          </a:prstGeom>
        </p:spPr>
        <p:txBody>
          <a:bodyPr wrap="square" lIns="0" tIns="0" rIns="0" bIns="0" rtlCol="0" anchor="t">
            <a:spAutoFit/>
          </a:bodyPr>
          <a:lstStyle/>
          <a:p>
            <a:pPr algn="l">
              <a:lnSpc>
                <a:spcPts val="5336"/>
              </a:lnSpc>
            </a:pPr>
            <a:r>
              <a:rPr lang="en-US" sz="4560" dirty="0">
                <a:solidFill>
                  <a:srgbClr val="FFFFFF"/>
                </a:solidFill>
                <a:latin typeface="Poppins Bold"/>
                <a:ea typeface="Poppins Bold"/>
                <a:cs typeface="Poppins Bold"/>
                <a:sym typeface="Poppins Bold"/>
              </a:rPr>
              <a:t>Marketing Plan in </a:t>
            </a:r>
            <a:r>
              <a:rPr lang="en-US" sz="4560" dirty="0">
                <a:solidFill>
                  <a:srgbClr val="FF0000"/>
                </a:solidFill>
                <a:latin typeface="Poppins Bold"/>
                <a:ea typeface="Poppins Bold"/>
                <a:cs typeface="Poppins Bold"/>
                <a:sym typeface="Poppins Bold"/>
              </a:rPr>
              <a:t>SAFE LINK</a:t>
            </a:r>
          </a:p>
        </p:txBody>
      </p:sp>
      <p:sp>
        <p:nvSpPr>
          <p:cNvPr id="44" name="Rectangle 43">
            <a:extLst>
              <a:ext uri="{FF2B5EF4-FFF2-40B4-BE49-F238E27FC236}">
                <a16:creationId xmlns:a16="http://schemas.microsoft.com/office/drawing/2014/main" id="{7A70A5ED-1BB4-710D-D4A9-602BAF2C13FE}"/>
              </a:ext>
            </a:extLst>
          </p:cNvPr>
          <p:cNvSpPr/>
          <p:nvPr/>
        </p:nvSpPr>
        <p:spPr>
          <a:xfrm>
            <a:off x="1234440" y="2125981"/>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3C5296-E26E-0C53-A26E-EBD6546BDFF2}"/>
              </a:ext>
            </a:extLst>
          </p:cNvPr>
          <p:cNvSpPr txBox="1"/>
          <p:nvPr/>
        </p:nvSpPr>
        <p:spPr>
          <a:xfrm>
            <a:off x="1219200" y="2797136"/>
            <a:ext cx="12725400" cy="1938992"/>
          </a:xfrm>
          <a:prstGeom prst="rect">
            <a:avLst/>
          </a:prstGeom>
          <a:noFill/>
        </p:spPr>
        <p:txBody>
          <a:bodyPr wrap="square" rtlCol="0">
            <a:spAutoFit/>
          </a:bodyPr>
          <a:lstStyle/>
          <a:p>
            <a:endParaRPr lang="en-US" sz="3600" b="1" dirty="0">
              <a:solidFill>
                <a:schemeClr val="bg1"/>
              </a:solidFill>
              <a:latin typeface="Times New Roman" panose="02020603050405020304" pitchFamily="18" charset="0"/>
            </a:endParaRPr>
          </a:p>
          <a:p>
            <a:endParaRPr lang="en-US" sz="3600" b="1" dirty="0">
              <a:solidFill>
                <a:schemeClr val="bg1"/>
              </a:solidFill>
              <a:latin typeface="Times New Roman" panose="02020603050405020304" pitchFamily="18" charset="0"/>
            </a:endParaRPr>
          </a:p>
          <a:p>
            <a:endParaRPr lang="en-US" sz="4800" b="1" dirty="0">
              <a:solidFill>
                <a:schemeClr val="bg1"/>
              </a:solidFill>
            </a:endParaRPr>
          </a:p>
        </p:txBody>
      </p:sp>
      <p:sp>
        <p:nvSpPr>
          <p:cNvPr id="6" name="TextBox 5">
            <a:extLst>
              <a:ext uri="{FF2B5EF4-FFF2-40B4-BE49-F238E27FC236}">
                <a16:creationId xmlns:a16="http://schemas.microsoft.com/office/drawing/2014/main" id="{D52AEE55-17E5-8182-6615-F53F898D3D9C}"/>
              </a:ext>
            </a:extLst>
          </p:cNvPr>
          <p:cNvSpPr txBox="1"/>
          <p:nvPr/>
        </p:nvSpPr>
        <p:spPr>
          <a:xfrm>
            <a:off x="1447800" y="2552700"/>
            <a:ext cx="12877800" cy="11374396"/>
          </a:xfrm>
          <a:prstGeom prst="rect">
            <a:avLst/>
          </a:prstGeom>
          <a:noFill/>
        </p:spPr>
        <p:txBody>
          <a:bodyPr wrap="square" rtlCol="0">
            <a:spAutoFit/>
          </a:bodyPr>
          <a:lstStyle/>
          <a:p>
            <a:r>
              <a:rPr lang="en-US" sz="4800" b="1" dirty="0">
                <a:solidFill>
                  <a:srgbClr val="FFC000"/>
                </a:solidFill>
              </a:rPr>
              <a:t>Traditional Marketing</a:t>
            </a:r>
          </a:p>
          <a:p>
            <a:pPr marL="0" marR="0">
              <a:lnSpc>
                <a:spcPct val="115000"/>
              </a:lnSpc>
              <a:spcBef>
                <a:spcPts val="0"/>
              </a:spcBef>
              <a:spcAft>
                <a:spcPts val="1000"/>
              </a:spcAft>
            </a:pPr>
            <a:r>
              <a:rPr lang="en-US" sz="2400" b="1"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rPr>
              <a:t>Print Media</a:t>
            </a:r>
            <a:endParaRPr lang="en-US" sz="2400"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0"/>
              </a:spcAft>
              <a:buFont typeface="Symbol" panose="05050102010706020507" pitchFamily="18" charset="2"/>
              <a:buChar char=""/>
            </a:pPr>
            <a:r>
              <a:rPr lang="en-US" sz="2400" b="1"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Magazines and Newspapers</a:t>
            </a:r>
            <a:r>
              <a:rPr lang="en-US" sz="24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 Advertise in popular publications focused on automotive, travel, and outdoor adventure.</a:t>
            </a:r>
          </a:p>
          <a:p>
            <a:pPr marL="342900" marR="0" lvl="0" indent="-342900">
              <a:lnSpc>
                <a:spcPct val="115000"/>
              </a:lnSpc>
              <a:spcBef>
                <a:spcPts val="0"/>
              </a:spcBef>
              <a:spcAft>
                <a:spcPts val="1000"/>
              </a:spcAft>
              <a:buFont typeface="Symbol" panose="05050102010706020507" pitchFamily="18" charset="2"/>
              <a:buChar char=""/>
            </a:pPr>
            <a:r>
              <a:rPr lang="en-US" sz="2400" b="1"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Brochures and Flyers: </a:t>
            </a:r>
            <a:r>
              <a:rPr lang="en-US" sz="24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Distribute at automotive shops, outdoor gear stores, and travel agencies</a:t>
            </a:r>
          </a:p>
          <a:p>
            <a:pPr marL="0" marR="0">
              <a:lnSpc>
                <a:spcPct val="115000"/>
              </a:lnSpc>
              <a:spcBef>
                <a:spcPts val="0"/>
              </a:spcBef>
              <a:spcAft>
                <a:spcPts val="1000"/>
              </a:spcAft>
            </a:pPr>
            <a:r>
              <a:rPr lang="en-US" sz="2400" b="1"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rPr>
              <a:t>Events and Trade Shows</a:t>
            </a:r>
            <a:endParaRPr lang="en-US" sz="2400"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2400" b="1"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Community Events:</a:t>
            </a:r>
            <a:r>
              <a:rPr lang="en-US" sz="24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 Participate in local events and safety fairs to demonstrate the product and engage with the community.</a:t>
            </a:r>
          </a:p>
          <a:p>
            <a:pPr marL="0" marR="0">
              <a:lnSpc>
                <a:spcPct val="115000"/>
              </a:lnSpc>
              <a:spcBef>
                <a:spcPts val="0"/>
              </a:spcBef>
              <a:spcAft>
                <a:spcPts val="1000"/>
              </a:spcAft>
            </a:pPr>
            <a:r>
              <a:rPr lang="en-US" sz="2400" b="1"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rPr>
              <a:t> Partnerships and Collaborations</a:t>
            </a:r>
            <a:endParaRPr lang="en-US" sz="2400" dirty="0">
              <a:solidFill>
                <a:srgbClr val="FF0000"/>
              </a:solidFill>
              <a:effectLst/>
              <a:latin typeface="Abadi"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2400" b="1"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Insurance Companies:</a:t>
            </a:r>
            <a:r>
              <a:rPr lang="en-US" sz="24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 Partner with insurance companies to offer SAFE LINK as part of their safety and emergency response packages.</a:t>
            </a: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2400" b="1"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Automotive Manufacturers:</a:t>
            </a:r>
            <a:r>
              <a:rPr lang="en-US" sz="2400" dirty="0">
                <a:solidFill>
                  <a:schemeClr val="bg1"/>
                </a:solidFill>
                <a:effectLst/>
                <a:latin typeface="Abadi" panose="020B0604020202020204" pitchFamily="34" charset="0"/>
                <a:ea typeface="Times New Roman" panose="02020603050405020304" pitchFamily="18" charset="0"/>
                <a:cs typeface="Times New Roman" panose="02020603050405020304" pitchFamily="18" charset="0"/>
              </a:rPr>
              <a:t> Collaborate with car manufacturers to integrate SAFE LINK as an optional safety feature in their vehicles</a:t>
            </a:r>
            <a:r>
              <a:rPr lang="en-US" dirty="0">
                <a:solidFill>
                  <a:schemeClr val="bg1"/>
                </a:solidFill>
                <a:latin typeface="Abadi" panose="020B0604020202020204" pitchFamily="34" charset="0"/>
                <a:ea typeface="Times New Roman" panose="02020603050405020304" pitchFamily="18" charset="0"/>
                <a:cs typeface="Times New Roman" panose="02020603050405020304" pitchFamily="18" charset="0"/>
              </a:rPr>
              <a:t>.</a:t>
            </a:r>
            <a:endParaRPr lang="en-US" sz="1800" dirty="0">
              <a:effectLst/>
              <a:latin typeface="Abadi" panose="020B0604020202020204" pitchFamily="34" charset="0"/>
              <a:ea typeface="Times New Roman" panose="02020603050405020304" pitchFamily="18"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endParaRPr lang="en-US" sz="40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4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dirty="0">
              <a:solidFill>
                <a:schemeClr val="bg1"/>
              </a:solidFill>
            </a:endParaRPr>
          </a:p>
        </p:txBody>
      </p:sp>
      <p:sp>
        <p:nvSpPr>
          <p:cNvPr id="29" name="Rectangle 28">
            <a:extLst>
              <a:ext uri="{FF2B5EF4-FFF2-40B4-BE49-F238E27FC236}">
                <a16:creationId xmlns:a16="http://schemas.microsoft.com/office/drawing/2014/main" id="{47185441-C7F4-E8F0-8516-710EDB1FAD0B}"/>
              </a:ext>
            </a:extLst>
          </p:cNvPr>
          <p:cNvSpPr/>
          <p:nvPr/>
        </p:nvSpPr>
        <p:spPr>
          <a:xfrm rot="5400000">
            <a:off x="21217967" y="-4324024"/>
            <a:ext cx="3833296"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Medical Emergencies</a:t>
            </a:r>
          </a:p>
        </p:txBody>
      </p:sp>
      <p:grpSp>
        <p:nvGrpSpPr>
          <p:cNvPr id="30" name="Group 47">
            <a:extLst>
              <a:ext uri="{FF2B5EF4-FFF2-40B4-BE49-F238E27FC236}">
                <a16:creationId xmlns:a16="http://schemas.microsoft.com/office/drawing/2014/main" id="{50D325CB-1A67-6D3E-8C2A-F001C8EBB1FA}"/>
              </a:ext>
            </a:extLst>
          </p:cNvPr>
          <p:cNvGrpSpPr>
            <a:grpSpLocks noChangeAspect="1"/>
          </p:cNvGrpSpPr>
          <p:nvPr/>
        </p:nvGrpSpPr>
        <p:grpSpPr>
          <a:xfrm rot="21571874">
            <a:off x="20887977" y="-7118330"/>
            <a:ext cx="3127859" cy="6189006"/>
            <a:chOff x="0" y="0"/>
            <a:chExt cx="2620010" cy="5184140"/>
          </a:xfrm>
          <a:scene3d>
            <a:camera prst="isometricOffAxis2Left"/>
            <a:lightRig rig="threePt" dir="t"/>
          </a:scene3d>
        </p:grpSpPr>
        <p:sp>
          <p:nvSpPr>
            <p:cNvPr id="31" name="Freeform 48">
              <a:extLst>
                <a:ext uri="{FF2B5EF4-FFF2-40B4-BE49-F238E27FC236}">
                  <a16:creationId xmlns:a16="http://schemas.microsoft.com/office/drawing/2014/main" id="{8978F16D-6460-4072-D2A1-EFE5D81FD1C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32" name="Freeform 49">
              <a:extLst>
                <a:ext uri="{FF2B5EF4-FFF2-40B4-BE49-F238E27FC236}">
                  <a16:creationId xmlns:a16="http://schemas.microsoft.com/office/drawing/2014/main" id="{A2DAB60A-D91A-D8B1-489A-4A4BEEB908BA}"/>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2"/>
              <a:srcRect/>
              <a:stretch>
                <a:fillRect/>
              </a:stretch>
            </a:blipFill>
          </p:spPr>
          <p:txBody>
            <a:bodyPr/>
            <a:lstStyle/>
            <a:p>
              <a:endParaRPr lang="en-US"/>
            </a:p>
          </p:txBody>
        </p:sp>
        <p:sp>
          <p:nvSpPr>
            <p:cNvPr id="33" name="Freeform 50">
              <a:extLst>
                <a:ext uri="{FF2B5EF4-FFF2-40B4-BE49-F238E27FC236}">
                  <a16:creationId xmlns:a16="http://schemas.microsoft.com/office/drawing/2014/main" id="{1C8B6A41-6B76-F64F-A102-8FA0D346809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34" name="Freeform 51">
              <a:extLst>
                <a:ext uri="{FF2B5EF4-FFF2-40B4-BE49-F238E27FC236}">
                  <a16:creationId xmlns:a16="http://schemas.microsoft.com/office/drawing/2014/main" id="{2B5BB0CE-AE7D-621F-0CFB-BC15812877FA}"/>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35" name="Freeform 52">
              <a:extLst>
                <a:ext uri="{FF2B5EF4-FFF2-40B4-BE49-F238E27FC236}">
                  <a16:creationId xmlns:a16="http://schemas.microsoft.com/office/drawing/2014/main" id="{66EB6EB9-A31D-27F9-4843-FAE8B9F182B5}"/>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36" name="Freeform 53">
              <a:extLst>
                <a:ext uri="{FF2B5EF4-FFF2-40B4-BE49-F238E27FC236}">
                  <a16:creationId xmlns:a16="http://schemas.microsoft.com/office/drawing/2014/main" id="{896D413D-5B5C-270F-448B-C6E478788CA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37" name="Freeform 54">
              <a:extLst>
                <a:ext uri="{FF2B5EF4-FFF2-40B4-BE49-F238E27FC236}">
                  <a16:creationId xmlns:a16="http://schemas.microsoft.com/office/drawing/2014/main" id="{CD5B6AC9-0605-7E12-5ABD-92A34E9F61E0}"/>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38" name="Freeform 55">
              <a:extLst>
                <a:ext uri="{FF2B5EF4-FFF2-40B4-BE49-F238E27FC236}">
                  <a16:creationId xmlns:a16="http://schemas.microsoft.com/office/drawing/2014/main" id="{DBAB29B0-AB32-5E11-4F5E-80078B2D002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39" name="Freeform 56">
              <a:extLst>
                <a:ext uri="{FF2B5EF4-FFF2-40B4-BE49-F238E27FC236}">
                  <a16:creationId xmlns:a16="http://schemas.microsoft.com/office/drawing/2014/main" id="{A89E335E-C06A-FC71-357A-7B38A8F0161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40" name="Rectangle 39">
            <a:extLst>
              <a:ext uri="{FF2B5EF4-FFF2-40B4-BE49-F238E27FC236}">
                <a16:creationId xmlns:a16="http://schemas.microsoft.com/office/drawing/2014/main" id="{AFB45BEB-4E64-BE64-E2A4-33E60F9D1E58}"/>
              </a:ext>
            </a:extLst>
          </p:cNvPr>
          <p:cNvSpPr/>
          <p:nvPr/>
        </p:nvSpPr>
        <p:spPr>
          <a:xfrm rot="5400000">
            <a:off x="21288744" y="-35333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Home Page</a:t>
            </a:r>
          </a:p>
        </p:txBody>
      </p:sp>
      <p:grpSp>
        <p:nvGrpSpPr>
          <p:cNvPr id="42" name="Group 17">
            <a:extLst>
              <a:ext uri="{FF2B5EF4-FFF2-40B4-BE49-F238E27FC236}">
                <a16:creationId xmlns:a16="http://schemas.microsoft.com/office/drawing/2014/main" id="{DEFC1F56-0B40-088E-891B-6E958089C9A0}"/>
              </a:ext>
            </a:extLst>
          </p:cNvPr>
          <p:cNvGrpSpPr>
            <a:grpSpLocks noChangeAspect="1"/>
          </p:cNvGrpSpPr>
          <p:nvPr/>
        </p:nvGrpSpPr>
        <p:grpSpPr>
          <a:xfrm rot="21571874">
            <a:off x="20528986" y="-6125547"/>
            <a:ext cx="3127859" cy="6189006"/>
            <a:chOff x="0" y="0"/>
            <a:chExt cx="2620010" cy="5184140"/>
          </a:xfrm>
          <a:scene3d>
            <a:camera prst="isometricOffAxis2Left"/>
            <a:lightRig rig="threePt" dir="t"/>
          </a:scene3d>
        </p:grpSpPr>
        <p:sp>
          <p:nvSpPr>
            <p:cNvPr id="45" name="Freeform 18">
              <a:extLst>
                <a:ext uri="{FF2B5EF4-FFF2-40B4-BE49-F238E27FC236}">
                  <a16:creationId xmlns:a16="http://schemas.microsoft.com/office/drawing/2014/main" id="{8ACAF2CD-A533-BF41-2334-BA139C69816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46" name="Freeform 19">
              <a:extLst>
                <a:ext uri="{FF2B5EF4-FFF2-40B4-BE49-F238E27FC236}">
                  <a16:creationId xmlns:a16="http://schemas.microsoft.com/office/drawing/2014/main" id="{6AF92BF5-584A-AB46-7D38-BF5FA3E6735B}"/>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3"/>
              <a:srcRect/>
              <a:stretch>
                <a:fillRect/>
              </a:stretch>
            </a:blipFill>
          </p:spPr>
          <p:txBody>
            <a:bodyPr/>
            <a:lstStyle/>
            <a:p>
              <a:endParaRPr lang="en-US"/>
            </a:p>
          </p:txBody>
        </p:sp>
        <p:sp>
          <p:nvSpPr>
            <p:cNvPr id="47" name="Freeform 20">
              <a:extLst>
                <a:ext uri="{FF2B5EF4-FFF2-40B4-BE49-F238E27FC236}">
                  <a16:creationId xmlns:a16="http://schemas.microsoft.com/office/drawing/2014/main" id="{F5928960-E08C-CCEE-0984-E54FF389A2AD}"/>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48" name="Freeform 21">
              <a:extLst>
                <a:ext uri="{FF2B5EF4-FFF2-40B4-BE49-F238E27FC236}">
                  <a16:creationId xmlns:a16="http://schemas.microsoft.com/office/drawing/2014/main" id="{B2F38276-A93C-7DD0-5768-B0DA92D850CC}"/>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49" name="Freeform 22">
              <a:extLst>
                <a:ext uri="{FF2B5EF4-FFF2-40B4-BE49-F238E27FC236}">
                  <a16:creationId xmlns:a16="http://schemas.microsoft.com/office/drawing/2014/main" id="{7D99DFD3-C71F-C4B2-32B8-3CD58C21DAD7}"/>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50" name="Freeform 23">
              <a:extLst>
                <a:ext uri="{FF2B5EF4-FFF2-40B4-BE49-F238E27FC236}">
                  <a16:creationId xmlns:a16="http://schemas.microsoft.com/office/drawing/2014/main" id="{AF0E37C7-8106-0715-5A2B-E486E83E7B91}"/>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51" name="Freeform 24">
              <a:extLst>
                <a:ext uri="{FF2B5EF4-FFF2-40B4-BE49-F238E27FC236}">
                  <a16:creationId xmlns:a16="http://schemas.microsoft.com/office/drawing/2014/main" id="{FADE0DA4-5D82-75DD-0201-C6BCE08CF48B}"/>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52" name="Freeform 25">
              <a:extLst>
                <a:ext uri="{FF2B5EF4-FFF2-40B4-BE49-F238E27FC236}">
                  <a16:creationId xmlns:a16="http://schemas.microsoft.com/office/drawing/2014/main" id="{45D504F6-9263-31B5-A516-6F185992DCF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53" name="Freeform 26">
              <a:extLst>
                <a:ext uri="{FF2B5EF4-FFF2-40B4-BE49-F238E27FC236}">
                  <a16:creationId xmlns:a16="http://schemas.microsoft.com/office/drawing/2014/main" id="{C98755F1-C5A3-03B6-1C4A-CA74D23BDE98}"/>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54" name="Rectangle 53">
            <a:extLst>
              <a:ext uri="{FF2B5EF4-FFF2-40B4-BE49-F238E27FC236}">
                <a16:creationId xmlns:a16="http://schemas.microsoft.com/office/drawing/2014/main" id="{A4E63B28-FA5A-83C4-1E7A-7A5994F1B459}"/>
              </a:ext>
            </a:extLst>
          </p:cNvPr>
          <p:cNvSpPr/>
          <p:nvPr/>
        </p:nvSpPr>
        <p:spPr>
          <a:xfrm rot="5400000">
            <a:off x="20831544" y="-2542705"/>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Sign Up Page</a:t>
            </a:r>
          </a:p>
        </p:txBody>
      </p:sp>
      <p:grpSp>
        <p:nvGrpSpPr>
          <p:cNvPr id="55" name="Group 27">
            <a:extLst>
              <a:ext uri="{FF2B5EF4-FFF2-40B4-BE49-F238E27FC236}">
                <a16:creationId xmlns:a16="http://schemas.microsoft.com/office/drawing/2014/main" id="{7475511F-3E82-48D4-6A8C-06D97165A13C}"/>
              </a:ext>
            </a:extLst>
          </p:cNvPr>
          <p:cNvGrpSpPr>
            <a:grpSpLocks noChangeAspect="1"/>
          </p:cNvGrpSpPr>
          <p:nvPr/>
        </p:nvGrpSpPr>
        <p:grpSpPr>
          <a:xfrm rot="21571874">
            <a:off x="20125977" y="-5153435"/>
            <a:ext cx="3127859" cy="6189006"/>
            <a:chOff x="0" y="0"/>
            <a:chExt cx="2620010" cy="5184140"/>
          </a:xfrm>
          <a:scene3d>
            <a:camera prst="isometricOffAxis2Left"/>
            <a:lightRig rig="threePt" dir="t"/>
          </a:scene3d>
        </p:grpSpPr>
        <p:sp>
          <p:nvSpPr>
            <p:cNvPr id="56" name="Freeform 28">
              <a:extLst>
                <a:ext uri="{FF2B5EF4-FFF2-40B4-BE49-F238E27FC236}">
                  <a16:creationId xmlns:a16="http://schemas.microsoft.com/office/drawing/2014/main" id="{175CAFAB-CAE1-96DD-ACA3-824B55FC962D}"/>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57" name="Freeform 29">
              <a:extLst>
                <a:ext uri="{FF2B5EF4-FFF2-40B4-BE49-F238E27FC236}">
                  <a16:creationId xmlns:a16="http://schemas.microsoft.com/office/drawing/2014/main" id="{800B54CD-77F5-EA57-1048-E3FC4DFC832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4"/>
              <a:srcRect/>
              <a:stretch>
                <a:fillRect/>
              </a:stretch>
            </a:blipFill>
          </p:spPr>
          <p:txBody>
            <a:bodyPr/>
            <a:lstStyle/>
            <a:p>
              <a:endParaRPr lang="en-US" dirty="0"/>
            </a:p>
          </p:txBody>
        </p:sp>
        <p:sp>
          <p:nvSpPr>
            <p:cNvPr id="58" name="Freeform 30">
              <a:extLst>
                <a:ext uri="{FF2B5EF4-FFF2-40B4-BE49-F238E27FC236}">
                  <a16:creationId xmlns:a16="http://schemas.microsoft.com/office/drawing/2014/main" id="{89F5A82E-1182-F372-3513-82599863A1D2}"/>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59" name="Freeform 31">
              <a:extLst>
                <a:ext uri="{FF2B5EF4-FFF2-40B4-BE49-F238E27FC236}">
                  <a16:creationId xmlns:a16="http://schemas.microsoft.com/office/drawing/2014/main" id="{8A1F80DE-9F1D-D689-DF7B-440A3C93CA66}"/>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60" name="Freeform 32">
              <a:extLst>
                <a:ext uri="{FF2B5EF4-FFF2-40B4-BE49-F238E27FC236}">
                  <a16:creationId xmlns:a16="http://schemas.microsoft.com/office/drawing/2014/main" id="{73624F34-DBE5-8197-999B-D37F722981A3}"/>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61" name="Freeform 33">
              <a:extLst>
                <a:ext uri="{FF2B5EF4-FFF2-40B4-BE49-F238E27FC236}">
                  <a16:creationId xmlns:a16="http://schemas.microsoft.com/office/drawing/2014/main" id="{90BDAFCC-CAEA-EFF2-5889-345902B3ADEC}"/>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62" name="Freeform 34">
              <a:extLst>
                <a:ext uri="{FF2B5EF4-FFF2-40B4-BE49-F238E27FC236}">
                  <a16:creationId xmlns:a16="http://schemas.microsoft.com/office/drawing/2014/main" id="{20432542-78B7-15C7-96E2-226115C3BB53}"/>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63" name="Freeform 35">
              <a:extLst>
                <a:ext uri="{FF2B5EF4-FFF2-40B4-BE49-F238E27FC236}">
                  <a16:creationId xmlns:a16="http://schemas.microsoft.com/office/drawing/2014/main" id="{70C96ABA-31F4-95C1-BBB0-BF3A46F9246B}"/>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64" name="Freeform 36">
              <a:extLst>
                <a:ext uri="{FF2B5EF4-FFF2-40B4-BE49-F238E27FC236}">
                  <a16:creationId xmlns:a16="http://schemas.microsoft.com/office/drawing/2014/main" id="{38A9696D-C8E9-4509-CAE8-D26C0707195C}"/>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
        <p:nvSpPr>
          <p:cNvPr id="65" name="Rectangle 64">
            <a:extLst>
              <a:ext uri="{FF2B5EF4-FFF2-40B4-BE49-F238E27FC236}">
                <a16:creationId xmlns:a16="http://schemas.microsoft.com/office/drawing/2014/main" id="{F4CB86CB-19B8-53D5-E3B8-67ABC8BA5FDA}"/>
              </a:ext>
            </a:extLst>
          </p:cNvPr>
          <p:cNvSpPr/>
          <p:nvPr/>
        </p:nvSpPr>
        <p:spPr>
          <a:xfrm rot="5400000">
            <a:off x="20374344" y="-1662449"/>
            <a:ext cx="2624943" cy="5814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badi" panose="020B0604020202020204" pitchFamily="34" charset="0"/>
              </a:rPr>
              <a:t>Login Page</a:t>
            </a:r>
          </a:p>
        </p:txBody>
      </p:sp>
      <p:grpSp>
        <p:nvGrpSpPr>
          <p:cNvPr id="66" name="Group 37">
            <a:extLst>
              <a:ext uri="{FF2B5EF4-FFF2-40B4-BE49-F238E27FC236}">
                <a16:creationId xmlns:a16="http://schemas.microsoft.com/office/drawing/2014/main" id="{319A9EDA-EEB9-812B-3B18-9E332D5CC081}"/>
              </a:ext>
            </a:extLst>
          </p:cNvPr>
          <p:cNvGrpSpPr>
            <a:grpSpLocks noChangeAspect="1"/>
          </p:cNvGrpSpPr>
          <p:nvPr/>
        </p:nvGrpSpPr>
        <p:grpSpPr>
          <a:xfrm rot="21571874">
            <a:off x="19614586" y="-4199403"/>
            <a:ext cx="3127859" cy="6189006"/>
            <a:chOff x="0" y="0"/>
            <a:chExt cx="2620010" cy="5184140"/>
          </a:xfrm>
          <a:scene3d>
            <a:camera prst="isometricOffAxis2Left"/>
            <a:lightRig rig="threePt" dir="t"/>
          </a:scene3d>
        </p:grpSpPr>
        <p:sp>
          <p:nvSpPr>
            <p:cNvPr id="67" name="Freeform 38">
              <a:extLst>
                <a:ext uri="{FF2B5EF4-FFF2-40B4-BE49-F238E27FC236}">
                  <a16:creationId xmlns:a16="http://schemas.microsoft.com/office/drawing/2014/main" id="{24CE4206-54F8-A9D6-4E97-3BF6BC8D8B1E}"/>
                </a:ext>
              </a:extLst>
            </p:cNvPr>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txBody>
            <a:bodyPr/>
            <a:lstStyle/>
            <a:p>
              <a:endParaRPr lang="en-US"/>
            </a:p>
          </p:txBody>
        </p:sp>
        <p:sp>
          <p:nvSpPr>
            <p:cNvPr id="68" name="Freeform 39">
              <a:extLst>
                <a:ext uri="{FF2B5EF4-FFF2-40B4-BE49-F238E27FC236}">
                  <a16:creationId xmlns:a16="http://schemas.microsoft.com/office/drawing/2014/main" id="{9F35793B-A362-019C-5BC3-19FA682D50A6}"/>
                </a:ext>
              </a:extLst>
            </p:cNvPr>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dpi="0" rotWithShape="1">
              <a:blip r:embed="rId5"/>
              <a:srcRect/>
              <a:stretch>
                <a:fillRect/>
              </a:stretch>
            </a:blipFill>
          </p:spPr>
          <p:txBody>
            <a:bodyPr/>
            <a:lstStyle/>
            <a:p>
              <a:endParaRPr lang="en-US"/>
            </a:p>
          </p:txBody>
        </p:sp>
        <p:sp>
          <p:nvSpPr>
            <p:cNvPr id="69" name="Freeform 40">
              <a:extLst>
                <a:ext uri="{FF2B5EF4-FFF2-40B4-BE49-F238E27FC236}">
                  <a16:creationId xmlns:a16="http://schemas.microsoft.com/office/drawing/2014/main" id="{F15CE4EE-244E-3FDE-906D-767B1AEAFE6B}"/>
                </a:ext>
              </a:extLst>
            </p:cNvPr>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606060"/>
            </a:solidFill>
          </p:spPr>
          <p:txBody>
            <a:bodyPr/>
            <a:lstStyle/>
            <a:p>
              <a:endParaRPr lang="en-US"/>
            </a:p>
          </p:txBody>
        </p:sp>
        <p:sp>
          <p:nvSpPr>
            <p:cNvPr id="70" name="Freeform 41">
              <a:extLst>
                <a:ext uri="{FF2B5EF4-FFF2-40B4-BE49-F238E27FC236}">
                  <a16:creationId xmlns:a16="http://schemas.microsoft.com/office/drawing/2014/main" id="{6D5A7AFA-DFAE-C76A-53AB-C71608069608}"/>
                </a:ext>
              </a:extLst>
            </p:cNvPr>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606060"/>
            </a:solidFill>
          </p:spPr>
          <p:txBody>
            <a:bodyPr/>
            <a:lstStyle/>
            <a:p>
              <a:endParaRPr lang="en-US"/>
            </a:p>
          </p:txBody>
        </p:sp>
        <p:sp>
          <p:nvSpPr>
            <p:cNvPr id="71" name="Freeform 42">
              <a:extLst>
                <a:ext uri="{FF2B5EF4-FFF2-40B4-BE49-F238E27FC236}">
                  <a16:creationId xmlns:a16="http://schemas.microsoft.com/office/drawing/2014/main" id="{643CD0E0-3435-98E4-36A4-2CC343A069CD}"/>
                </a:ext>
              </a:extLst>
            </p:cNvPr>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B8B8B8"/>
            </a:solidFill>
          </p:spPr>
          <p:txBody>
            <a:bodyPr/>
            <a:lstStyle/>
            <a:p>
              <a:endParaRPr lang="en-US"/>
            </a:p>
          </p:txBody>
        </p:sp>
        <p:sp>
          <p:nvSpPr>
            <p:cNvPr id="72" name="Freeform 43">
              <a:extLst>
                <a:ext uri="{FF2B5EF4-FFF2-40B4-BE49-F238E27FC236}">
                  <a16:creationId xmlns:a16="http://schemas.microsoft.com/office/drawing/2014/main" id="{369C1EB4-DE13-F85E-5BD6-946369EBD3AD}"/>
                </a:ext>
              </a:extLst>
            </p:cNvPr>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B8B8B8"/>
            </a:solidFill>
          </p:spPr>
          <p:txBody>
            <a:bodyPr/>
            <a:lstStyle/>
            <a:p>
              <a:endParaRPr lang="en-US"/>
            </a:p>
          </p:txBody>
        </p:sp>
        <p:sp>
          <p:nvSpPr>
            <p:cNvPr id="73" name="Freeform 44">
              <a:extLst>
                <a:ext uri="{FF2B5EF4-FFF2-40B4-BE49-F238E27FC236}">
                  <a16:creationId xmlns:a16="http://schemas.microsoft.com/office/drawing/2014/main" id="{D3B07586-5DE5-C8B2-197D-AB7E41465ABC}"/>
                </a:ext>
              </a:extLst>
            </p:cNvPr>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B8B8B8"/>
            </a:solidFill>
          </p:spPr>
          <p:txBody>
            <a:bodyPr/>
            <a:lstStyle/>
            <a:p>
              <a:endParaRPr lang="en-US"/>
            </a:p>
          </p:txBody>
        </p:sp>
        <p:sp>
          <p:nvSpPr>
            <p:cNvPr id="74" name="Freeform 45">
              <a:extLst>
                <a:ext uri="{FF2B5EF4-FFF2-40B4-BE49-F238E27FC236}">
                  <a16:creationId xmlns:a16="http://schemas.microsoft.com/office/drawing/2014/main" id="{4D44B4DC-C408-9AF4-3EBB-27C17770C26F}"/>
                </a:ext>
              </a:extLst>
            </p:cNvPr>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B8B8B8"/>
            </a:solidFill>
          </p:spPr>
          <p:txBody>
            <a:bodyPr/>
            <a:lstStyle/>
            <a:p>
              <a:endParaRPr lang="en-US"/>
            </a:p>
          </p:txBody>
        </p:sp>
        <p:sp>
          <p:nvSpPr>
            <p:cNvPr id="75" name="Freeform 46">
              <a:extLst>
                <a:ext uri="{FF2B5EF4-FFF2-40B4-BE49-F238E27FC236}">
                  <a16:creationId xmlns:a16="http://schemas.microsoft.com/office/drawing/2014/main" id="{03999C68-6A8D-C20C-1A19-70FBA7B26CC5}"/>
                </a:ext>
              </a:extLst>
            </p:cNvPr>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E9E9E9"/>
            </a:solidFill>
          </p:spPr>
          <p:txBody>
            <a:bodyPr/>
            <a:lstStyle/>
            <a:p>
              <a:endParaRPr lang="en-US"/>
            </a:p>
          </p:txBody>
        </p:sp>
      </p:grpSp>
    </p:spTree>
    <p:extLst>
      <p:ext uri="{BB962C8B-B14F-4D97-AF65-F5344CB8AC3E}">
        <p14:creationId xmlns:p14="http://schemas.microsoft.com/office/powerpoint/2010/main" val="42202467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3C09B8-BED4-410C-B882-25E71CEBE772}"/>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ts val="20711"/>
              </a:lnSpc>
              <a:spcBef>
                <a:spcPct val="0"/>
              </a:spcBef>
            </a:pPr>
            <a:r>
              <a:rPr lang="en-US" sz="13800" b="1" dirty="0">
                <a:solidFill>
                  <a:schemeClr val="bg1"/>
                </a:solidFill>
                <a:latin typeface="Poppins"/>
                <a:ea typeface="Poppins"/>
                <a:cs typeface="Poppins"/>
                <a:sym typeface="Poppins"/>
              </a:rPr>
              <a:t>Customer </a:t>
            </a:r>
            <a:r>
              <a:rPr lang="en-US" sz="13800" b="1" dirty="0">
                <a:solidFill>
                  <a:srgbClr val="FF0000"/>
                </a:solidFill>
                <a:latin typeface="Poppins"/>
                <a:ea typeface="Poppins"/>
                <a:cs typeface="Poppins"/>
                <a:sym typeface="Poppins"/>
              </a:rPr>
              <a:t>Base</a:t>
            </a:r>
          </a:p>
          <a:p>
            <a:pPr algn="ctr">
              <a:lnSpc>
                <a:spcPts val="20711"/>
              </a:lnSpc>
              <a:spcBef>
                <a:spcPct val="0"/>
              </a:spcBef>
            </a:pPr>
            <a:endParaRPr lang="en-US" sz="9600" b="1" dirty="0">
              <a:solidFill>
                <a:srgbClr val="C00000"/>
              </a:solidFill>
              <a:latin typeface="Poppins"/>
              <a:ea typeface="Poppins"/>
              <a:cs typeface="Poppins"/>
              <a:sym typeface="Poppins"/>
            </a:endParaRPr>
          </a:p>
        </p:txBody>
      </p:sp>
    </p:spTree>
    <p:extLst>
      <p:ext uri="{BB962C8B-B14F-4D97-AF65-F5344CB8AC3E}">
        <p14:creationId xmlns:p14="http://schemas.microsoft.com/office/powerpoint/2010/main" val="2545130780"/>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690F8DFF-6B37-4E1D-DA48-CACC3A154298}"/>
              </a:ext>
            </a:extLst>
          </p:cNvPr>
          <p:cNvSpPr/>
          <p:nvPr/>
        </p:nvSpPr>
        <p:spPr>
          <a:xfrm>
            <a:off x="20208" y="-9525"/>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1"/>
          <p:cNvSpPr txBox="1"/>
          <p:nvPr/>
        </p:nvSpPr>
        <p:spPr>
          <a:xfrm>
            <a:off x="457200" y="419100"/>
            <a:ext cx="6635684" cy="679673"/>
          </a:xfrm>
          <a:prstGeom prst="rect">
            <a:avLst/>
          </a:prstGeom>
        </p:spPr>
        <p:txBody>
          <a:bodyPr wrap="square" lIns="0" tIns="0" rIns="0" bIns="0" rtlCol="0" anchor="t">
            <a:spAutoFit/>
          </a:bodyPr>
          <a:lstStyle/>
          <a:p>
            <a:pPr algn="l">
              <a:lnSpc>
                <a:spcPts val="5336"/>
              </a:lnSpc>
            </a:pPr>
            <a:r>
              <a:rPr lang="en-US" sz="4560" dirty="0">
                <a:solidFill>
                  <a:srgbClr val="FF0000"/>
                </a:solidFill>
                <a:latin typeface="Poppins Bold"/>
                <a:ea typeface="Poppins Bold"/>
                <a:cs typeface="Poppins Bold"/>
                <a:sym typeface="Poppins Bold"/>
              </a:rPr>
              <a:t>Customer </a:t>
            </a:r>
            <a:r>
              <a:rPr lang="en-US" sz="4560" dirty="0">
                <a:solidFill>
                  <a:schemeClr val="bg1"/>
                </a:solidFill>
                <a:latin typeface="Poppins Bold"/>
                <a:ea typeface="Poppins Bold"/>
                <a:cs typeface="Poppins Bold"/>
                <a:sym typeface="Poppins Bold"/>
              </a:rPr>
              <a:t>Base</a:t>
            </a:r>
          </a:p>
        </p:txBody>
      </p:sp>
      <p:sp>
        <p:nvSpPr>
          <p:cNvPr id="44" name="Rectangle 43">
            <a:extLst>
              <a:ext uri="{FF2B5EF4-FFF2-40B4-BE49-F238E27FC236}">
                <a16:creationId xmlns:a16="http://schemas.microsoft.com/office/drawing/2014/main" id="{7A70A5ED-1BB4-710D-D4A9-602BAF2C13FE}"/>
              </a:ext>
            </a:extLst>
          </p:cNvPr>
          <p:cNvSpPr/>
          <p:nvPr/>
        </p:nvSpPr>
        <p:spPr>
          <a:xfrm>
            <a:off x="472440" y="1053523"/>
            <a:ext cx="1019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olar panel with a cord&#10;&#10;Description automatically generated">
            <a:extLst>
              <a:ext uri="{FF2B5EF4-FFF2-40B4-BE49-F238E27FC236}">
                <a16:creationId xmlns:a16="http://schemas.microsoft.com/office/drawing/2014/main" id="{A197B2A9-88C5-4255-325D-E38352804893}"/>
              </a:ext>
            </a:extLst>
          </p:cNvPr>
          <p:cNvPicPr>
            <a:picLocks noChangeAspect="1"/>
          </p:cNvPicPr>
          <p:nvPr/>
        </p:nvPicPr>
        <p:blipFill rotWithShape="1">
          <a:blip r:embed="rId2">
            <a:extLst>
              <a:ext uri="{28A0092B-C50C-407E-A947-70E740481C1C}">
                <a14:useLocalDpi xmlns:a14="http://schemas.microsoft.com/office/drawing/2010/main" val="0"/>
              </a:ext>
            </a:extLst>
          </a:blip>
          <a:srcRect l="21537" t="22087" r="16803" b="22895"/>
          <a:stretch/>
        </p:blipFill>
        <p:spPr>
          <a:xfrm>
            <a:off x="2438400" y="-6078830"/>
            <a:ext cx="6172200" cy="5507330"/>
          </a:xfrm>
          <a:prstGeom prst="rect">
            <a:avLst/>
          </a:prstGeom>
        </p:spPr>
      </p:pic>
      <p:sp>
        <p:nvSpPr>
          <p:cNvPr id="6" name="Rectangle 5">
            <a:extLst>
              <a:ext uri="{FF2B5EF4-FFF2-40B4-BE49-F238E27FC236}">
                <a16:creationId xmlns:a16="http://schemas.microsoft.com/office/drawing/2014/main" id="{4AA1A212-AEA9-4DA7-31BD-B4E2AFA414FD}"/>
              </a:ext>
            </a:extLst>
          </p:cNvPr>
          <p:cNvSpPr/>
          <p:nvPr/>
        </p:nvSpPr>
        <p:spPr>
          <a:xfrm>
            <a:off x="9105900" y="10853556"/>
            <a:ext cx="171450" cy="1605144"/>
          </a:xfrm>
          <a:prstGeom prst="rect">
            <a:avLst/>
          </a:prstGeom>
          <a:solidFill>
            <a:srgbClr val="76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93CB5643-0401-CC3F-F40B-0F5CB572F498}"/>
              </a:ext>
            </a:extLst>
          </p:cNvPr>
          <p:cNvGrpSpPr/>
          <p:nvPr/>
        </p:nvGrpSpPr>
        <p:grpSpPr>
          <a:xfrm>
            <a:off x="1981200" y="1336862"/>
            <a:ext cx="14554200" cy="7849158"/>
            <a:chOff x="9505096" y="817631"/>
            <a:chExt cx="5734903" cy="4081414"/>
          </a:xfrm>
          <a:solidFill>
            <a:srgbClr val="760000"/>
          </a:solidFill>
        </p:grpSpPr>
        <p:sp>
          <p:nvSpPr>
            <p:cNvPr id="33" name="Rectangle 32">
              <a:extLst>
                <a:ext uri="{FF2B5EF4-FFF2-40B4-BE49-F238E27FC236}">
                  <a16:creationId xmlns:a16="http://schemas.microsoft.com/office/drawing/2014/main" id="{A5818B74-1F32-A6C3-ACDE-69BCAA4B3B2A}"/>
                </a:ext>
              </a:extLst>
            </p:cNvPr>
            <p:cNvSpPr/>
            <p:nvPr/>
          </p:nvSpPr>
          <p:spPr>
            <a:xfrm>
              <a:off x="9505096" y="817631"/>
              <a:ext cx="5734903" cy="396153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E1ABE356-08CF-95E4-FF84-CC68AA9ADE74}"/>
                </a:ext>
              </a:extLst>
            </p:cNvPr>
            <p:cNvSpPr txBox="1"/>
            <p:nvPr/>
          </p:nvSpPr>
          <p:spPr>
            <a:xfrm>
              <a:off x="9685250" y="1075270"/>
              <a:ext cx="5306246" cy="3823775"/>
            </a:xfrm>
            <a:prstGeom prst="rect">
              <a:avLst/>
            </a:prstGeom>
            <a:grpFill/>
          </p:spPr>
          <p:txBody>
            <a:bodyPr wrap="square" rtlCol="0">
              <a:spAutoFit/>
            </a:bodyPr>
            <a:lstStyle/>
            <a:p>
              <a:pPr marL="0" marR="0">
                <a:lnSpc>
                  <a:spcPct val="107000"/>
                </a:lnSpc>
                <a:spcBef>
                  <a:spcPts val="0"/>
                </a:spcBef>
                <a:spcAft>
                  <a:spcPts val="800"/>
                </a:spcAft>
              </a:pPr>
              <a:r>
                <a:rPr lang="en-US" sz="2000" kern="100" dirty="0">
                  <a:solidFill>
                    <a:srgbClr val="FFFF00"/>
                  </a:solidFill>
                  <a:effectLst/>
                  <a:latin typeface="Abadi" panose="020B0604020202020204" pitchFamily="34" charset="0"/>
                  <a:ea typeface="Aptos" panose="020B0004020202020204"/>
                  <a:cs typeface="Times New Roman" panose="02020603050405020304" pitchFamily="18" charset="0"/>
                </a:rPr>
                <a:t> </a:t>
              </a:r>
              <a:r>
                <a:rPr lang="en-US" sz="2000" b="1" kern="100" dirty="0">
                  <a:solidFill>
                    <a:srgbClr val="FFFF00"/>
                  </a:solidFill>
                  <a:effectLst/>
                  <a:latin typeface="Abadi" panose="020B0604020202020204" pitchFamily="34" charset="0"/>
                  <a:ea typeface="Aptos" panose="020B0004020202020204"/>
                  <a:cs typeface="Times New Roman" panose="02020603050405020304" pitchFamily="18" charset="0"/>
                </a:rPr>
                <a:t>Individuals and Families</a:t>
              </a:r>
              <a:endParaRPr lang="en-US" sz="2000" b="1" kern="100" dirty="0">
                <a:solidFill>
                  <a:srgbClr val="FFFF00"/>
                </a:solidFill>
                <a:latin typeface="Abadi" panose="020B0604020202020204" pitchFamily="34" charset="0"/>
                <a:ea typeface="Aptos" panose="020B0004020202020204"/>
                <a:cs typeface="Times New Roman" panose="02020603050405020304" pitchFamily="18" charset="0"/>
              </a:endParaRPr>
            </a:p>
            <a:p>
              <a:pPr>
                <a:lnSpc>
                  <a:spcPct val="107000"/>
                </a:lnSpc>
                <a:spcAft>
                  <a:spcPts val="800"/>
                </a:spcAft>
              </a:pPr>
              <a:r>
                <a:rPr lang="en-US" sz="2000" kern="100" dirty="0">
                  <a:solidFill>
                    <a:schemeClr val="bg1"/>
                  </a:solidFill>
                  <a:effectLst/>
                  <a:latin typeface="Abadi" panose="020B0604020202020204" pitchFamily="34" charset="0"/>
                  <a:ea typeface="Aptos" panose="020B0004020202020204"/>
                  <a:cs typeface="Times New Roman" panose="02020603050405020304" pitchFamily="18" charset="0"/>
                </a:rPr>
                <a:t>Adults and caregivers who need a reliable way to ensure safety and quick access to emergency services for themselves and their families.</a:t>
              </a:r>
              <a:r>
                <a:rPr lang="en-US" sz="2000" kern="100" dirty="0">
                  <a:effectLst/>
                  <a:latin typeface="Abadi" panose="020B0604020202020204" pitchFamily="34" charset="0"/>
                  <a:ea typeface="Aptos" panose="020B0004020202020204"/>
                  <a:cs typeface="Times New Roman" panose="02020603050405020304" pitchFamily="18" charset="0"/>
                </a:rPr>
                <a:t>.</a:t>
              </a:r>
            </a:p>
            <a:p>
              <a:pPr>
                <a:lnSpc>
                  <a:spcPct val="107000"/>
                </a:lnSpc>
                <a:spcAft>
                  <a:spcPts val="800"/>
                </a:spcAft>
              </a:pPr>
              <a:endParaRPr lang="en-US" sz="2000" kern="100" dirty="0">
                <a:latin typeface="Abadi" panose="020B0604020202020204" pitchFamily="34" charset="0"/>
                <a:ea typeface="Aptos" panose="020B0004020202020204"/>
                <a:cs typeface="Times New Roman" panose="02020603050405020304" pitchFamily="18" charset="0"/>
              </a:endParaRPr>
            </a:p>
            <a:p>
              <a:pPr>
                <a:lnSpc>
                  <a:spcPct val="107000"/>
                </a:lnSpc>
                <a:spcAft>
                  <a:spcPts val="800"/>
                </a:spcAft>
              </a:pPr>
              <a:r>
                <a:rPr lang="en-US" sz="2000" b="1" kern="100" dirty="0">
                  <a:solidFill>
                    <a:srgbClr val="FFFF00"/>
                  </a:solidFill>
                  <a:effectLst/>
                  <a:latin typeface="Abadi" panose="020B0604020202020204" pitchFamily="34" charset="0"/>
                  <a:ea typeface="Aptos" panose="020B0004020202020204"/>
                  <a:cs typeface="Times New Roman" panose="02020603050405020304" pitchFamily="18" charset="0"/>
                </a:rPr>
                <a:t>Vehicle Owners</a:t>
              </a:r>
            </a:p>
            <a:p>
              <a:pPr>
                <a:lnSpc>
                  <a:spcPct val="107000"/>
                </a:lnSpc>
                <a:spcAft>
                  <a:spcPts val="800"/>
                </a:spcAft>
              </a:pPr>
              <a:r>
                <a:rPr lang="en-US" sz="2000" kern="100" dirty="0">
                  <a:solidFill>
                    <a:schemeClr val="bg1"/>
                  </a:solidFill>
                  <a:effectLst/>
                  <a:latin typeface="Abadi" panose="020B0604020202020204" pitchFamily="34" charset="0"/>
                  <a:ea typeface="Aptos" panose="020B0004020202020204"/>
                  <a:cs typeface="Times New Roman" panose="02020603050405020304" pitchFamily="18" charset="0"/>
                </a:rPr>
                <a:t>Car owners seeking enhanced safety features, automatic accident detection, and immediate assistance for breakdowns or accidents.</a:t>
              </a:r>
            </a:p>
            <a:p>
              <a:pPr>
                <a:lnSpc>
                  <a:spcPct val="107000"/>
                </a:lnSpc>
                <a:spcAft>
                  <a:spcPts val="800"/>
                </a:spcAft>
              </a:pPr>
              <a:endParaRPr lang="en-US" sz="2000" kern="100" dirty="0">
                <a:solidFill>
                  <a:srgbClr val="FFFF00"/>
                </a:solidFill>
                <a:latin typeface="Abadi" panose="020B0604020202020204" pitchFamily="34" charset="0"/>
                <a:ea typeface="Aptos" panose="020B0004020202020204"/>
                <a:cs typeface="Times New Roman" panose="02020603050405020304" pitchFamily="18" charset="0"/>
              </a:endParaRPr>
            </a:p>
            <a:p>
              <a:pPr>
                <a:lnSpc>
                  <a:spcPct val="107000"/>
                </a:lnSpc>
                <a:spcAft>
                  <a:spcPts val="800"/>
                </a:spcAft>
              </a:pPr>
              <a:r>
                <a:rPr lang="en-US" sz="2000" b="1" kern="100" dirty="0">
                  <a:solidFill>
                    <a:srgbClr val="FFFF00"/>
                  </a:solidFill>
                  <a:effectLst/>
                  <a:latin typeface="Abadi" panose="020B0604020202020204" pitchFamily="34" charset="0"/>
                  <a:ea typeface="Aptos" panose="020B0004020202020204"/>
                  <a:cs typeface="Times New Roman" panose="02020603050405020304" pitchFamily="18" charset="0"/>
                </a:rPr>
                <a:t>Outdoor Seekers</a:t>
              </a:r>
            </a:p>
            <a:p>
              <a:pPr>
                <a:lnSpc>
                  <a:spcPct val="107000"/>
                </a:lnSpc>
                <a:spcAft>
                  <a:spcPts val="800"/>
                </a:spcAft>
              </a:pPr>
              <a:r>
                <a:rPr lang="en-US" sz="2000" dirty="0">
                  <a:solidFill>
                    <a:schemeClr val="bg1"/>
                  </a:solidFill>
                  <a:effectLst/>
                  <a:latin typeface="Abadi" panose="020B0604020202020204" pitchFamily="34" charset="0"/>
                  <a:ea typeface="Aptos" panose="020B0004020202020204"/>
                  <a:cs typeface="Times New Roman" panose="02020603050405020304" pitchFamily="18" charset="0"/>
                </a:rPr>
                <a:t>Hikers and adventurers requiring dependable communication and emergency access while exploring remote or off-grid locations</a:t>
              </a:r>
            </a:p>
            <a:p>
              <a:pPr>
                <a:lnSpc>
                  <a:spcPct val="107000"/>
                </a:lnSpc>
                <a:spcAft>
                  <a:spcPts val="800"/>
                </a:spcAft>
              </a:pPr>
              <a:endParaRPr lang="en-US" sz="2000" b="1" kern="100" dirty="0">
                <a:solidFill>
                  <a:schemeClr val="bg1"/>
                </a:solidFill>
                <a:latin typeface="Abadi" panose="020B0604020202020204" pitchFamily="34" charset="0"/>
                <a:ea typeface="Aptos" panose="020B0004020202020204"/>
                <a:cs typeface="Times New Roman" panose="02020603050405020304" pitchFamily="18" charset="0"/>
              </a:endParaRPr>
            </a:p>
            <a:p>
              <a:pPr>
                <a:lnSpc>
                  <a:spcPct val="107000"/>
                </a:lnSpc>
                <a:spcAft>
                  <a:spcPts val="800"/>
                </a:spcAft>
              </a:pPr>
              <a:r>
                <a:rPr lang="en-US" sz="2000" kern="100" dirty="0">
                  <a:solidFill>
                    <a:srgbClr val="FFFF00"/>
                  </a:solidFill>
                  <a:effectLst/>
                  <a:latin typeface="Abadi" panose="020B0604020202020204" pitchFamily="34" charset="0"/>
                  <a:ea typeface="Aptos" panose="020B0004020202020204"/>
                  <a:cs typeface="Times New Roman" panose="02020603050405020304" pitchFamily="18" charset="0"/>
                </a:rPr>
                <a:t> </a:t>
              </a:r>
              <a:r>
                <a:rPr lang="en-US" sz="2000" b="1" kern="100" dirty="0">
                  <a:solidFill>
                    <a:srgbClr val="FFFF00"/>
                  </a:solidFill>
                  <a:effectLst/>
                  <a:latin typeface="Abadi" panose="020B0604020202020204" pitchFamily="34" charset="0"/>
                  <a:ea typeface="Aptos" panose="020B0004020202020204"/>
                  <a:cs typeface="Times New Roman" panose="02020603050405020304" pitchFamily="18" charset="0"/>
                </a:rPr>
                <a:t>Travelers</a:t>
              </a:r>
            </a:p>
            <a:p>
              <a:pPr>
                <a:lnSpc>
                  <a:spcPct val="107000"/>
                </a:lnSpc>
                <a:spcAft>
                  <a:spcPts val="800"/>
                </a:spcAft>
              </a:pPr>
              <a:r>
                <a:rPr lang="en-US" sz="2000" kern="100" dirty="0">
                  <a:solidFill>
                    <a:schemeClr val="bg1"/>
                  </a:solidFill>
                  <a:effectLst/>
                  <a:latin typeface="Abadi" panose="020B0604020202020204" pitchFamily="34" charset="0"/>
                  <a:ea typeface="Aptos" panose="020B0004020202020204"/>
                  <a:cs typeface="Times New Roman" panose="02020603050405020304" pitchFamily="18" charset="0"/>
                </a:rPr>
                <a:t> Frequent travelers and tourists needing a secure communication solution and emergency support in unfamiliar or low-coverage areas.</a:t>
              </a:r>
            </a:p>
            <a:p>
              <a:pPr>
                <a:lnSpc>
                  <a:spcPct val="107000"/>
                </a:lnSpc>
                <a:spcAft>
                  <a:spcPts val="800"/>
                </a:spcAft>
              </a:pPr>
              <a:endParaRPr lang="en-US" sz="2800" kern="100" dirty="0">
                <a:solidFill>
                  <a:srgbClr val="FFFF00"/>
                </a:solidFill>
                <a:effectLst/>
                <a:latin typeface="Abadi" panose="020B0604020202020204" pitchFamily="34" charset="0"/>
                <a:ea typeface="Aptos" panose="020B0004020202020204"/>
                <a:cs typeface="Times New Roman" panose="02020603050405020304" pitchFamily="18" charset="0"/>
              </a:endParaRPr>
            </a:p>
            <a:p>
              <a:pPr>
                <a:lnSpc>
                  <a:spcPct val="107000"/>
                </a:lnSpc>
                <a:spcAft>
                  <a:spcPts val="800"/>
                </a:spcAft>
              </a:pPr>
              <a:endParaRPr lang="en-US" sz="4000" b="1" kern="100" dirty="0">
                <a:solidFill>
                  <a:schemeClr val="bg1"/>
                </a:solidFill>
                <a:effectLst/>
                <a:latin typeface="Abadi" panose="020B0604020202020204" pitchFamily="34" charset="0"/>
                <a:ea typeface="Aptos" panose="020B0004020202020204"/>
                <a:cs typeface="Times New Roman" panose="02020603050405020304" pitchFamily="18" charset="0"/>
              </a:endParaRPr>
            </a:p>
          </p:txBody>
        </p:sp>
      </p:grpSp>
    </p:spTree>
    <p:extLst>
      <p:ext uri="{BB962C8B-B14F-4D97-AF65-F5344CB8AC3E}">
        <p14:creationId xmlns:p14="http://schemas.microsoft.com/office/powerpoint/2010/main" val="342951406"/>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A6820724-F89D-A6A6-5947-E11099456A11}"/>
              </a:ext>
            </a:extLst>
          </p:cNvPr>
          <p:cNvSpPr/>
          <p:nvPr/>
        </p:nvSpPr>
        <p:spPr>
          <a:xfrm>
            <a:off x="0" y="0"/>
            <a:ext cx="18288000" cy="10287000"/>
          </a:xfrm>
          <a:prstGeom prst="rect">
            <a:avLst/>
          </a:prstGeom>
          <a:gradFill flip="none" rotWithShape="1">
            <a:gsLst>
              <a:gs pos="0">
                <a:schemeClr val="tx1"/>
              </a:gs>
              <a:gs pos="96000">
                <a:srgbClr val="760000"/>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E8693C69-825B-827F-956D-01DBA44090D1}"/>
              </a:ext>
            </a:extLst>
          </p:cNvPr>
          <p:cNvGrpSpPr/>
          <p:nvPr/>
        </p:nvGrpSpPr>
        <p:grpSpPr>
          <a:xfrm>
            <a:off x="4315356" y="3882417"/>
            <a:ext cx="9657287" cy="2522165"/>
            <a:chOff x="-71543" y="3238939"/>
            <a:chExt cx="9657287" cy="2522165"/>
          </a:xfrm>
        </p:grpSpPr>
        <p:sp>
          <p:nvSpPr>
            <p:cNvPr id="47" name="TextBox 47"/>
            <p:cNvSpPr txBox="1"/>
            <p:nvPr/>
          </p:nvSpPr>
          <p:spPr>
            <a:xfrm>
              <a:off x="-71543" y="3238939"/>
              <a:ext cx="9657287" cy="2522165"/>
            </a:xfrm>
            <a:prstGeom prst="rect">
              <a:avLst/>
            </a:prstGeom>
          </p:spPr>
          <p:txBody>
            <a:bodyPr wrap="square" lIns="0" tIns="0" rIns="0" bIns="0" rtlCol="0" anchor="t">
              <a:spAutoFit/>
            </a:bodyPr>
            <a:lstStyle/>
            <a:p>
              <a:pPr algn="ctr">
                <a:lnSpc>
                  <a:spcPts val="20711"/>
                </a:lnSpc>
                <a:spcBef>
                  <a:spcPct val="0"/>
                </a:spcBef>
              </a:pPr>
              <a:r>
                <a:rPr lang="en-US" sz="14794" b="1" dirty="0">
                  <a:solidFill>
                    <a:schemeClr val="bg1"/>
                  </a:solidFill>
                  <a:latin typeface="Poppins"/>
                  <a:ea typeface="Poppins"/>
                  <a:cs typeface="Poppins"/>
                  <a:sym typeface="Poppins"/>
                </a:rPr>
                <a:t>Safe Link</a:t>
              </a:r>
            </a:p>
          </p:txBody>
        </p:sp>
        <p:sp>
          <p:nvSpPr>
            <p:cNvPr id="53" name="TextBox 52">
              <a:extLst>
                <a:ext uri="{FF2B5EF4-FFF2-40B4-BE49-F238E27FC236}">
                  <a16:creationId xmlns:a16="http://schemas.microsoft.com/office/drawing/2014/main" id="{5D868E0A-15DF-6A66-A75E-1E0F6A10FC1A}"/>
                </a:ext>
              </a:extLst>
            </p:cNvPr>
            <p:cNvSpPr txBox="1"/>
            <p:nvPr/>
          </p:nvSpPr>
          <p:spPr>
            <a:xfrm>
              <a:off x="253750" y="5249893"/>
              <a:ext cx="9194784" cy="461665"/>
            </a:xfrm>
            <a:prstGeom prst="rect">
              <a:avLst/>
            </a:prstGeom>
            <a:noFill/>
          </p:spPr>
          <p:txBody>
            <a:bodyPr wrap="square" rtlCol="0">
              <a:spAutoFit/>
            </a:bodyPr>
            <a:lstStyle/>
            <a:p>
              <a:pPr algn="ctr"/>
              <a:r>
                <a:rPr lang="en-US" sz="2400" b="1" spc="800" dirty="0">
                  <a:solidFill>
                    <a:schemeClr val="bg1">
                      <a:lumMod val="65000"/>
                    </a:schemeClr>
                  </a:solidFill>
                  <a:latin typeface="Arial Rounded MT Bold" panose="020F0704030504030204" pitchFamily="34" charset="0"/>
                </a:rPr>
                <a:t>TAKE STEPS TO PREVENT FALLBACK</a:t>
              </a:r>
            </a:p>
          </p:txBody>
        </p:sp>
      </p:grpSp>
      <p:sp>
        <p:nvSpPr>
          <p:cNvPr id="2" name="Rectangle 1">
            <a:extLst>
              <a:ext uri="{FF2B5EF4-FFF2-40B4-BE49-F238E27FC236}">
                <a16:creationId xmlns:a16="http://schemas.microsoft.com/office/drawing/2014/main" id="{F94F6508-E7A8-3176-D155-A5803DB4D1C4}"/>
              </a:ext>
            </a:extLst>
          </p:cNvPr>
          <p:cNvSpPr/>
          <p:nvPr/>
        </p:nvSpPr>
        <p:spPr>
          <a:xfrm>
            <a:off x="0" y="0"/>
            <a:ext cx="18288000" cy="10287000"/>
          </a:xfrm>
          <a:prstGeom prst="rect">
            <a:avLst/>
          </a:prstGeom>
          <a:gradFill>
            <a:gsLst>
              <a:gs pos="0">
                <a:srgbClr val="760000">
                  <a:alpha val="65000"/>
                </a:srgbClr>
              </a:gs>
              <a:gs pos="100000">
                <a:schemeClr val="tx1"/>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80">
            <a:extLst>
              <a:ext uri="{FF2B5EF4-FFF2-40B4-BE49-F238E27FC236}">
                <a16:creationId xmlns:a16="http://schemas.microsoft.com/office/drawing/2014/main" id="{2651CEF1-E92F-7098-D9CA-6A7C0180D838}"/>
              </a:ext>
            </a:extLst>
          </p:cNvPr>
          <p:cNvSpPr txBox="1"/>
          <p:nvPr/>
        </p:nvSpPr>
        <p:spPr>
          <a:xfrm>
            <a:off x="6703630" y="4976995"/>
            <a:ext cx="4880738" cy="859210"/>
          </a:xfrm>
          <a:prstGeom prst="rect">
            <a:avLst/>
          </a:prstGeom>
        </p:spPr>
        <p:txBody>
          <a:bodyPr lIns="0" tIns="0" rIns="0" bIns="0" rtlCol="0" anchor="t">
            <a:spAutoFit/>
          </a:bodyPr>
          <a:lstStyle/>
          <a:p>
            <a:pPr algn="ctr">
              <a:lnSpc>
                <a:spcPts val="6714"/>
              </a:lnSpc>
            </a:pPr>
            <a:r>
              <a:rPr lang="en-US" sz="5738" dirty="0">
                <a:solidFill>
                  <a:srgbClr val="FFFFFF"/>
                </a:solidFill>
                <a:latin typeface="Poppins Bold"/>
                <a:ea typeface="Poppins Bold"/>
                <a:cs typeface="Poppins Bold"/>
                <a:sym typeface="Poppins Bold"/>
              </a:rPr>
              <a:t>Thank You</a:t>
            </a:r>
          </a:p>
        </p:txBody>
      </p:sp>
      <p:sp>
        <p:nvSpPr>
          <p:cNvPr id="4" name="TextBox 3">
            <a:extLst>
              <a:ext uri="{FF2B5EF4-FFF2-40B4-BE49-F238E27FC236}">
                <a16:creationId xmlns:a16="http://schemas.microsoft.com/office/drawing/2014/main" id="{00E18508-2B29-4FD1-9DD8-8AAFF253B1BB}"/>
              </a:ext>
            </a:extLst>
          </p:cNvPr>
          <p:cNvSpPr txBox="1"/>
          <p:nvPr/>
        </p:nvSpPr>
        <p:spPr>
          <a:xfrm>
            <a:off x="15011400" y="8420100"/>
            <a:ext cx="5181600" cy="1569660"/>
          </a:xfrm>
          <a:prstGeom prst="rect">
            <a:avLst/>
          </a:prstGeom>
          <a:noFill/>
        </p:spPr>
        <p:txBody>
          <a:bodyPr wrap="square" rtlCol="0">
            <a:spAutoFit/>
          </a:bodyPr>
          <a:lstStyle/>
          <a:p>
            <a:r>
              <a:rPr lang="en-US" sz="2400" b="1" dirty="0">
                <a:solidFill>
                  <a:srgbClr val="FFC000"/>
                </a:solidFill>
                <a:latin typeface="Abadi" panose="020B0604020202020204" pitchFamily="34" charset="0"/>
              </a:rPr>
              <a:t>COHNDIS241F-023</a:t>
            </a:r>
          </a:p>
          <a:p>
            <a:r>
              <a:rPr lang="en-US" sz="2400" b="1" dirty="0">
                <a:solidFill>
                  <a:srgbClr val="FFC000"/>
                </a:solidFill>
                <a:latin typeface="Abadi" panose="020B0604020202020204" pitchFamily="34" charset="0"/>
              </a:rPr>
              <a:t>COHNDIS241F-025</a:t>
            </a:r>
          </a:p>
          <a:p>
            <a:r>
              <a:rPr lang="en-US" sz="2400" b="1" dirty="0">
                <a:solidFill>
                  <a:srgbClr val="FFC000"/>
                </a:solidFill>
                <a:latin typeface="Abadi" panose="020B0604020202020204" pitchFamily="34" charset="0"/>
              </a:rPr>
              <a:t>COHNDIS241F-026</a:t>
            </a:r>
          </a:p>
          <a:p>
            <a:r>
              <a:rPr lang="en-US" sz="2400" b="1" dirty="0">
                <a:solidFill>
                  <a:srgbClr val="FFC000"/>
                </a:solidFill>
                <a:latin typeface="Abadi" panose="020B0604020202020204" pitchFamily="34" charset="0"/>
              </a:rPr>
              <a:t>COHNDIS241F-027</a:t>
            </a:r>
          </a:p>
        </p:txBody>
      </p:sp>
      <p:sp>
        <p:nvSpPr>
          <p:cNvPr id="6" name="TextBox 5">
            <a:extLst>
              <a:ext uri="{FF2B5EF4-FFF2-40B4-BE49-F238E27FC236}">
                <a16:creationId xmlns:a16="http://schemas.microsoft.com/office/drawing/2014/main" id="{8DC10A29-F8F9-CDCE-36AF-BFCED4F447DA}"/>
              </a:ext>
            </a:extLst>
          </p:cNvPr>
          <p:cNvSpPr txBox="1"/>
          <p:nvPr/>
        </p:nvSpPr>
        <p:spPr>
          <a:xfrm>
            <a:off x="15011400" y="8039100"/>
            <a:ext cx="2819400" cy="400110"/>
          </a:xfrm>
          <a:prstGeom prst="rect">
            <a:avLst/>
          </a:prstGeom>
          <a:noFill/>
        </p:spPr>
        <p:txBody>
          <a:bodyPr wrap="square" rtlCol="0">
            <a:spAutoFit/>
          </a:bodyPr>
          <a:lstStyle/>
          <a:p>
            <a:r>
              <a:rPr lang="en-US" sz="2000" b="1" dirty="0">
                <a:solidFill>
                  <a:schemeClr val="bg1"/>
                </a:solidFill>
              </a:rPr>
              <a:t>Presented By :</a:t>
            </a:r>
          </a:p>
        </p:txBody>
      </p:sp>
    </p:spTree>
    <p:extLst>
      <p:ext uri="{BB962C8B-B14F-4D97-AF65-F5344CB8AC3E}">
        <p14:creationId xmlns:p14="http://schemas.microsoft.com/office/powerpoint/2010/main" val="3921982477"/>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764</TotalTime>
  <Words>1498</Words>
  <Application>Microsoft Office PowerPoint</Application>
  <PresentationFormat>Custom</PresentationFormat>
  <Paragraphs>266</Paragraphs>
  <Slides>34</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Cambria</vt:lpstr>
      <vt:lpstr>Wingdings</vt:lpstr>
      <vt:lpstr>Arial Rounded MT Bold</vt:lpstr>
      <vt:lpstr>Courier New</vt:lpstr>
      <vt:lpstr>Calibri</vt:lpstr>
      <vt:lpstr>Aptos Black</vt:lpstr>
      <vt:lpstr>Poppins Bold</vt:lpstr>
      <vt:lpstr>Poppins</vt:lpstr>
      <vt:lpstr>Symbol</vt:lpstr>
      <vt:lpstr>Abadi</vt:lpstr>
      <vt:lpstr>Open Sans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Pink Gradient Mobile Application Presentation</dc:title>
  <dc:creator>Dilan Danushka</dc:creator>
  <cp:lastModifiedBy>Dilan Danushka</cp:lastModifiedBy>
  <cp:revision>47</cp:revision>
  <dcterms:created xsi:type="dcterms:W3CDTF">2006-08-16T00:00:00Z</dcterms:created>
  <dcterms:modified xsi:type="dcterms:W3CDTF">2024-07-24T04:17:34Z</dcterms:modified>
  <dc:identifier>DAGJ6ZuXwEI</dc:identifier>
</cp:coreProperties>
</file>